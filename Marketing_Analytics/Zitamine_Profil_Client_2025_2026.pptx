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Oval 1"/>
          <p:cNvSpPr/>
          <p:nvPr/>
        </p:nvSpPr>
        <p:spPr>
          <a:xfrm>
            <a:off x="7772400" y="914400"/>
            <a:ext cx="4572000" cy="4572000"/>
          </a:xfrm>
          <a:prstGeom prst="ellipse">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9144000" cy="365760"/>
          </a:xfrm>
          <a:prstGeom prst="rect">
            <a:avLst/>
          </a:prstGeom>
          <a:noFill/>
        </p:spPr>
        <p:txBody>
          <a:bodyPr wrap="square">
            <a:spAutoFit/>
          </a:bodyPr>
          <a:lstStyle/>
          <a:p>
            <a:pPr algn="l">
              <a:defRPr sz="1100" b="1">
                <a:solidFill>
                  <a:srgbClr val="6366F1"/>
                </a:solidFill>
                <a:latin typeface="Calibri"/>
              </a:defRPr>
            </a:pPr>
            <a:r>
              <a:t>DATE DIN CHESTIONARUL ZITAMINE · BAZA DE DATE</a:t>
            </a:r>
          </a:p>
        </p:txBody>
      </p:sp>
      <p:sp>
        <p:nvSpPr>
          <p:cNvPr id="4" name="TextBox 3"/>
          <p:cNvSpPr txBox="1"/>
          <p:nvPr/>
        </p:nvSpPr>
        <p:spPr>
          <a:xfrm>
            <a:off x="914400" y="1371600"/>
            <a:ext cx="9144000" cy="822960"/>
          </a:xfrm>
          <a:prstGeom prst="rect">
            <a:avLst/>
          </a:prstGeom>
          <a:noFill/>
        </p:spPr>
        <p:txBody>
          <a:bodyPr wrap="square">
            <a:spAutoFit/>
          </a:bodyPr>
          <a:lstStyle/>
          <a:p>
            <a:pPr algn="l">
              <a:defRPr sz="4200" b="1">
                <a:solidFill>
                  <a:srgbClr val="F0F2F8"/>
                </a:solidFill>
                <a:latin typeface="Calibri"/>
              </a:defRPr>
            </a:pPr>
            <a:r>
              <a:t>Profilul Clientului Zitamine</a:t>
            </a:r>
          </a:p>
        </p:txBody>
      </p:sp>
      <p:sp>
        <p:nvSpPr>
          <p:cNvPr id="5" name="TextBox 4"/>
          <p:cNvSpPr txBox="1"/>
          <p:nvPr/>
        </p:nvSpPr>
        <p:spPr>
          <a:xfrm>
            <a:off x="914400" y="2377440"/>
            <a:ext cx="7315200" cy="457200"/>
          </a:xfrm>
          <a:prstGeom prst="rect">
            <a:avLst/>
          </a:prstGeom>
          <a:noFill/>
        </p:spPr>
        <p:txBody>
          <a:bodyPr wrap="square">
            <a:spAutoFit/>
          </a:bodyPr>
          <a:lstStyle/>
          <a:p>
            <a:pPr algn="l">
              <a:defRPr sz="1600" b="0">
                <a:solidFill>
                  <a:srgbClr val="8B95B0"/>
                </a:solidFill>
                <a:latin typeface="Calibri"/>
              </a:defRPr>
            </a:pPr>
            <a:r>
              <a:t>Analiza completărilor de chestionar — Ianuarie 2025 → Aprilie 2026</a:t>
            </a:r>
          </a:p>
        </p:txBody>
      </p:sp>
      <p:sp>
        <p:nvSpPr>
          <p:cNvPr id="6" name="Rounded Rectangle 5"/>
          <p:cNvSpPr/>
          <p:nvPr/>
        </p:nvSpPr>
        <p:spPr>
          <a:xfrm>
            <a:off x="914400" y="3474720"/>
            <a:ext cx="1920240" cy="14630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3611880"/>
            <a:ext cx="1645920" cy="274320"/>
          </a:xfrm>
          <a:prstGeom prst="rect">
            <a:avLst/>
          </a:prstGeom>
          <a:noFill/>
        </p:spPr>
        <p:txBody>
          <a:bodyPr wrap="square">
            <a:spAutoFit/>
          </a:bodyPr>
          <a:lstStyle/>
          <a:p>
            <a:pPr algn="l">
              <a:defRPr sz="1000" b="1">
                <a:solidFill>
                  <a:srgbClr val="8B95B0"/>
                </a:solidFill>
                <a:latin typeface="Calibri"/>
              </a:defRPr>
            </a:pPr>
            <a:r>
              <a:t>Chestionare</a:t>
            </a:r>
          </a:p>
        </p:txBody>
      </p:sp>
      <p:sp>
        <p:nvSpPr>
          <p:cNvPr id="8" name="TextBox 7"/>
          <p:cNvSpPr txBox="1"/>
          <p:nvPr/>
        </p:nvSpPr>
        <p:spPr>
          <a:xfrm>
            <a:off x="1051560" y="3931920"/>
            <a:ext cx="1645920" cy="457200"/>
          </a:xfrm>
          <a:prstGeom prst="rect">
            <a:avLst/>
          </a:prstGeom>
          <a:noFill/>
        </p:spPr>
        <p:txBody>
          <a:bodyPr wrap="square">
            <a:spAutoFit/>
          </a:bodyPr>
          <a:lstStyle/>
          <a:p>
            <a:pPr algn="l">
              <a:defRPr sz="2400" b="1">
                <a:solidFill>
                  <a:srgbClr val="F0F2F8"/>
                </a:solidFill>
                <a:latin typeface="Calibri"/>
              </a:defRPr>
            </a:pPr>
            <a:r>
              <a:t>40,739</a:t>
            </a:r>
          </a:p>
        </p:txBody>
      </p:sp>
      <p:sp>
        <p:nvSpPr>
          <p:cNvPr id="9" name="TextBox 8"/>
          <p:cNvSpPr txBox="1"/>
          <p:nvPr/>
        </p:nvSpPr>
        <p:spPr>
          <a:xfrm>
            <a:off x="1051560" y="4434840"/>
            <a:ext cx="1645920" cy="274320"/>
          </a:xfrm>
          <a:prstGeom prst="rect">
            <a:avLst/>
          </a:prstGeom>
          <a:noFill/>
        </p:spPr>
        <p:txBody>
          <a:bodyPr wrap="square">
            <a:spAutoFit/>
          </a:bodyPr>
          <a:lstStyle/>
          <a:p>
            <a:pPr algn="l">
              <a:defRPr sz="900" b="0">
                <a:solidFill>
                  <a:srgbClr val="5A6380"/>
                </a:solidFill>
                <a:latin typeface="Calibri"/>
              </a:defRPr>
            </a:pPr>
            <a:r>
              <a:t>26,753 completate (66%)</a:t>
            </a:r>
          </a:p>
        </p:txBody>
      </p:sp>
      <p:sp>
        <p:nvSpPr>
          <p:cNvPr id="10" name="Rounded Rectangle 9"/>
          <p:cNvSpPr/>
          <p:nvPr/>
        </p:nvSpPr>
        <p:spPr>
          <a:xfrm>
            <a:off x="3017520" y="3474720"/>
            <a:ext cx="1920240" cy="14630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54679" y="3611880"/>
            <a:ext cx="1645920" cy="274320"/>
          </a:xfrm>
          <a:prstGeom prst="rect">
            <a:avLst/>
          </a:prstGeom>
          <a:noFill/>
        </p:spPr>
        <p:txBody>
          <a:bodyPr wrap="square">
            <a:spAutoFit/>
          </a:bodyPr>
          <a:lstStyle/>
          <a:p>
            <a:pPr algn="l">
              <a:defRPr sz="1000" b="1">
                <a:solidFill>
                  <a:srgbClr val="8B95B0"/>
                </a:solidFill>
                <a:latin typeface="Calibri"/>
              </a:defRPr>
            </a:pPr>
            <a:r>
              <a:t>Femei</a:t>
            </a:r>
          </a:p>
        </p:txBody>
      </p:sp>
      <p:sp>
        <p:nvSpPr>
          <p:cNvPr id="12" name="TextBox 11"/>
          <p:cNvSpPr txBox="1"/>
          <p:nvPr/>
        </p:nvSpPr>
        <p:spPr>
          <a:xfrm>
            <a:off x="3154679" y="3931920"/>
            <a:ext cx="1645920" cy="457200"/>
          </a:xfrm>
          <a:prstGeom prst="rect">
            <a:avLst/>
          </a:prstGeom>
          <a:noFill/>
        </p:spPr>
        <p:txBody>
          <a:bodyPr wrap="square">
            <a:spAutoFit/>
          </a:bodyPr>
          <a:lstStyle/>
          <a:p>
            <a:pPr algn="l">
              <a:defRPr sz="2400" b="1">
                <a:solidFill>
                  <a:srgbClr val="EC4899"/>
                </a:solidFill>
                <a:latin typeface="Calibri"/>
              </a:defRPr>
            </a:pPr>
            <a:r>
              <a:t>75%</a:t>
            </a:r>
          </a:p>
        </p:txBody>
      </p:sp>
      <p:sp>
        <p:nvSpPr>
          <p:cNvPr id="13" name="TextBox 12"/>
          <p:cNvSpPr txBox="1"/>
          <p:nvPr/>
        </p:nvSpPr>
        <p:spPr>
          <a:xfrm>
            <a:off x="3154679" y="4434840"/>
            <a:ext cx="1645920" cy="274320"/>
          </a:xfrm>
          <a:prstGeom prst="rect">
            <a:avLst/>
          </a:prstGeom>
          <a:noFill/>
        </p:spPr>
        <p:txBody>
          <a:bodyPr wrap="square">
            <a:spAutoFit/>
          </a:bodyPr>
          <a:lstStyle/>
          <a:p>
            <a:pPr algn="l">
              <a:defRPr sz="900" b="0">
                <a:solidFill>
                  <a:srgbClr val="5A6380"/>
                </a:solidFill>
                <a:latin typeface="Calibri"/>
              </a:defRPr>
            </a:pPr>
            <a:r>
              <a:t>16,609 F · 5,551 M</a:t>
            </a:r>
          </a:p>
        </p:txBody>
      </p:sp>
      <p:sp>
        <p:nvSpPr>
          <p:cNvPr id="14" name="Rounded Rectangle 13"/>
          <p:cNvSpPr/>
          <p:nvPr/>
        </p:nvSpPr>
        <p:spPr>
          <a:xfrm>
            <a:off x="5120640" y="3474720"/>
            <a:ext cx="1920240" cy="14630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57800" y="3611880"/>
            <a:ext cx="1645920" cy="274320"/>
          </a:xfrm>
          <a:prstGeom prst="rect">
            <a:avLst/>
          </a:prstGeom>
          <a:noFill/>
        </p:spPr>
        <p:txBody>
          <a:bodyPr wrap="square">
            <a:spAutoFit/>
          </a:bodyPr>
          <a:lstStyle/>
          <a:p>
            <a:pPr algn="l">
              <a:defRPr sz="1000" b="1">
                <a:solidFill>
                  <a:srgbClr val="8B95B0"/>
                </a:solidFill>
                <a:latin typeface="Calibri"/>
              </a:defRPr>
            </a:pPr>
            <a:r>
              <a:t>Vârstă #1</a:t>
            </a:r>
          </a:p>
        </p:txBody>
      </p:sp>
      <p:sp>
        <p:nvSpPr>
          <p:cNvPr id="16" name="TextBox 15"/>
          <p:cNvSpPr txBox="1"/>
          <p:nvPr/>
        </p:nvSpPr>
        <p:spPr>
          <a:xfrm>
            <a:off x="5257800" y="3931920"/>
            <a:ext cx="1645920" cy="457200"/>
          </a:xfrm>
          <a:prstGeom prst="rect">
            <a:avLst/>
          </a:prstGeom>
          <a:noFill/>
        </p:spPr>
        <p:txBody>
          <a:bodyPr wrap="square">
            <a:spAutoFit/>
          </a:bodyPr>
          <a:lstStyle/>
          <a:p>
            <a:pPr algn="l">
              <a:defRPr sz="2400" b="1">
                <a:solidFill>
                  <a:srgbClr val="F0F2F8"/>
                </a:solidFill>
                <a:latin typeface="Calibri"/>
              </a:defRPr>
            </a:pPr>
            <a:r>
              <a:t>25-39</a:t>
            </a:r>
          </a:p>
        </p:txBody>
      </p:sp>
      <p:sp>
        <p:nvSpPr>
          <p:cNvPr id="17" name="TextBox 16"/>
          <p:cNvSpPr txBox="1"/>
          <p:nvPr/>
        </p:nvSpPr>
        <p:spPr>
          <a:xfrm>
            <a:off x="5257800" y="4434840"/>
            <a:ext cx="1645920" cy="274320"/>
          </a:xfrm>
          <a:prstGeom prst="rect">
            <a:avLst/>
          </a:prstGeom>
          <a:noFill/>
        </p:spPr>
        <p:txBody>
          <a:bodyPr wrap="square">
            <a:spAutoFit/>
          </a:bodyPr>
          <a:lstStyle/>
          <a:p>
            <a:pPr algn="l">
              <a:defRPr sz="900" b="0">
                <a:solidFill>
                  <a:srgbClr val="5A6380"/>
                </a:solidFill>
                <a:latin typeface="Calibri"/>
              </a:defRPr>
            </a:pPr>
            <a:r>
              <a:t>48% din respondenți</a:t>
            </a:r>
          </a:p>
        </p:txBody>
      </p:sp>
      <p:sp>
        <p:nvSpPr>
          <p:cNvPr id="18" name="Rounded Rectangle 17"/>
          <p:cNvSpPr/>
          <p:nvPr/>
        </p:nvSpPr>
        <p:spPr>
          <a:xfrm>
            <a:off x="7223759" y="3474720"/>
            <a:ext cx="1920240" cy="14630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60919" y="3611880"/>
            <a:ext cx="1645920" cy="274320"/>
          </a:xfrm>
          <a:prstGeom prst="rect">
            <a:avLst/>
          </a:prstGeom>
          <a:noFill/>
        </p:spPr>
        <p:txBody>
          <a:bodyPr wrap="square">
            <a:spAutoFit/>
          </a:bodyPr>
          <a:lstStyle/>
          <a:p>
            <a:pPr algn="l">
              <a:defRPr sz="1000" b="1">
                <a:solidFill>
                  <a:srgbClr val="8B95B0"/>
                </a:solidFill>
                <a:latin typeface="Calibri"/>
              </a:defRPr>
            </a:pPr>
            <a:r>
              <a:t>Sursa #1</a:t>
            </a:r>
          </a:p>
        </p:txBody>
      </p:sp>
      <p:sp>
        <p:nvSpPr>
          <p:cNvPr id="20" name="TextBox 19"/>
          <p:cNvSpPr txBox="1"/>
          <p:nvPr/>
        </p:nvSpPr>
        <p:spPr>
          <a:xfrm>
            <a:off x="7360919" y="3931920"/>
            <a:ext cx="1645920" cy="457200"/>
          </a:xfrm>
          <a:prstGeom prst="rect">
            <a:avLst/>
          </a:prstGeom>
          <a:noFill/>
        </p:spPr>
        <p:txBody>
          <a:bodyPr wrap="square">
            <a:spAutoFit/>
          </a:bodyPr>
          <a:lstStyle/>
          <a:p>
            <a:pPr algn="l">
              <a:defRPr sz="2400" b="1">
                <a:solidFill>
                  <a:srgbClr val="8B5CF6"/>
                </a:solidFill>
                <a:latin typeface="Calibri"/>
              </a:defRPr>
            </a:pPr>
            <a:r>
              <a:t>Instagram</a:t>
            </a:r>
          </a:p>
        </p:txBody>
      </p:sp>
      <p:sp>
        <p:nvSpPr>
          <p:cNvPr id="21" name="TextBox 20"/>
          <p:cNvSpPr txBox="1"/>
          <p:nvPr/>
        </p:nvSpPr>
        <p:spPr>
          <a:xfrm>
            <a:off x="7360919" y="4434840"/>
            <a:ext cx="1645920" cy="274320"/>
          </a:xfrm>
          <a:prstGeom prst="rect">
            <a:avLst/>
          </a:prstGeom>
          <a:noFill/>
        </p:spPr>
        <p:txBody>
          <a:bodyPr wrap="square">
            <a:spAutoFit/>
          </a:bodyPr>
          <a:lstStyle/>
          <a:p>
            <a:pPr algn="l">
              <a:defRPr sz="900" b="0">
                <a:solidFill>
                  <a:srgbClr val="5A6380"/>
                </a:solidFill>
                <a:latin typeface="Calibri"/>
              </a:defRPr>
            </a:pPr>
            <a:r>
              <a:t>26% din clienți</a:t>
            </a:r>
          </a:p>
        </p:txBody>
      </p:sp>
      <p:sp>
        <p:nvSpPr>
          <p:cNvPr id="22" name="Rounded Rectangle 21"/>
          <p:cNvSpPr/>
          <p:nvPr/>
        </p:nvSpPr>
        <p:spPr>
          <a:xfrm>
            <a:off x="9326880" y="3474720"/>
            <a:ext cx="1920240" cy="14630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64040" y="3611880"/>
            <a:ext cx="1645920" cy="274320"/>
          </a:xfrm>
          <a:prstGeom prst="rect">
            <a:avLst/>
          </a:prstGeom>
          <a:noFill/>
        </p:spPr>
        <p:txBody>
          <a:bodyPr wrap="square">
            <a:spAutoFit/>
          </a:bodyPr>
          <a:lstStyle/>
          <a:p>
            <a:pPr algn="l">
              <a:defRPr sz="1000" b="1">
                <a:solidFill>
                  <a:srgbClr val="8B95B0"/>
                </a:solidFill>
                <a:latin typeface="Calibri"/>
              </a:defRPr>
            </a:pPr>
            <a:r>
              <a:t>Conversie</a:t>
            </a:r>
          </a:p>
        </p:txBody>
      </p:sp>
      <p:sp>
        <p:nvSpPr>
          <p:cNvPr id="24" name="TextBox 23"/>
          <p:cNvSpPr txBox="1"/>
          <p:nvPr/>
        </p:nvSpPr>
        <p:spPr>
          <a:xfrm>
            <a:off x="9464040" y="3931920"/>
            <a:ext cx="1645920" cy="457200"/>
          </a:xfrm>
          <a:prstGeom prst="rect">
            <a:avLst/>
          </a:prstGeom>
          <a:noFill/>
        </p:spPr>
        <p:txBody>
          <a:bodyPr wrap="square">
            <a:spAutoFit/>
          </a:bodyPr>
          <a:lstStyle/>
          <a:p>
            <a:pPr algn="l">
              <a:defRPr sz="2400" b="1">
                <a:solidFill>
                  <a:srgbClr val="10B981"/>
                </a:solidFill>
                <a:latin typeface="Calibri"/>
              </a:defRPr>
            </a:pPr>
            <a:r>
              <a:t>5.1%</a:t>
            </a:r>
          </a:p>
        </p:txBody>
      </p:sp>
      <p:sp>
        <p:nvSpPr>
          <p:cNvPr id="25" name="TextBox 24"/>
          <p:cNvSpPr txBox="1"/>
          <p:nvPr/>
        </p:nvSpPr>
        <p:spPr>
          <a:xfrm>
            <a:off x="9464040" y="4434840"/>
            <a:ext cx="1645920" cy="274320"/>
          </a:xfrm>
          <a:prstGeom prst="rect">
            <a:avLst/>
          </a:prstGeom>
          <a:noFill/>
        </p:spPr>
        <p:txBody>
          <a:bodyPr wrap="square">
            <a:spAutoFit/>
          </a:bodyPr>
          <a:lstStyle/>
          <a:p>
            <a:pPr algn="l">
              <a:defRPr sz="900" b="0">
                <a:solidFill>
                  <a:srgbClr val="5A6380"/>
                </a:solidFill>
                <a:latin typeface="Calibri"/>
              </a:defRPr>
            </a:pPr>
            <a:r>
              <a:t>852 clienți unici</a:t>
            </a:r>
          </a:p>
        </p:txBody>
      </p:sp>
      <p:sp>
        <p:nvSpPr>
          <p:cNvPr id="26" name="TextBox 25"/>
          <p:cNvSpPr txBox="1"/>
          <p:nvPr/>
        </p:nvSpPr>
        <p:spPr>
          <a:xfrm>
            <a:off x="914400" y="5486400"/>
            <a:ext cx="7315200" cy="274320"/>
          </a:xfrm>
          <a:prstGeom prst="rect">
            <a:avLst/>
          </a:prstGeom>
          <a:noFill/>
        </p:spPr>
        <p:txBody>
          <a:bodyPr wrap="square">
            <a:spAutoFit/>
          </a:bodyPr>
          <a:lstStyle/>
          <a:p>
            <a:pPr algn="l">
              <a:defRPr sz="1000" b="0">
                <a:solidFill>
                  <a:srgbClr val="5A6380"/>
                </a:solidFill>
                <a:latin typeface="Calibri"/>
              </a:defRPr>
            </a:pPr>
            <a:r>
              <a:t>Sursa: Baza de date zitamine_quiz (AWS RDS) | 92 tabele | 9.6M răspunsuri</a:t>
            </a:r>
          </a:p>
        </p:txBody>
      </p:sp>
      <p:sp>
        <p:nvSpPr>
          <p:cNvPr id="27" name="TextBox 26"/>
          <p:cNvSpPr txBox="1"/>
          <p:nvPr/>
        </p:nvSpPr>
        <p:spPr>
          <a:xfrm>
            <a:off x="914400" y="5852160"/>
            <a:ext cx="3657600" cy="274320"/>
          </a:xfrm>
          <a:prstGeom prst="rect">
            <a:avLst/>
          </a:prstGeom>
          <a:noFill/>
        </p:spPr>
        <p:txBody>
          <a:bodyPr wrap="square">
            <a:spAutoFit/>
          </a:bodyPr>
          <a:lstStyle/>
          <a:p>
            <a:pPr algn="l">
              <a:defRPr sz="1000" b="0">
                <a:solidFill>
                  <a:srgbClr val="5A6380"/>
                </a:solidFill>
                <a:latin typeface="Calibri"/>
              </a:defRPr>
            </a:pPr>
            <a:r>
              <a:t>Generat: 14 Aprilie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BUYER PERSONA</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800" b="1">
                <a:solidFill>
                  <a:srgbClr val="F0F2F8"/>
                </a:solidFill>
                <a:latin typeface="Calibri"/>
              </a:defRPr>
            </a:pPr>
            <a:r>
              <a:t>👤 Clientul tipic Zitamine</a:t>
            </a:r>
          </a:p>
        </p:txBody>
      </p:sp>
      <p:sp>
        <p:nvSpPr>
          <p:cNvPr id="4" name="Rounded Rectangle 3"/>
          <p:cNvSpPr/>
          <p:nvPr/>
        </p:nvSpPr>
        <p:spPr>
          <a:xfrm>
            <a:off x="457200" y="146304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63040"/>
            <a:ext cx="54864" cy="10515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54480"/>
            <a:ext cx="5029200" cy="228600"/>
          </a:xfrm>
          <a:prstGeom prst="rect">
            <a:avLst/>
          </a:prstGeom>
          <a:noFill/>
        </p:spPr>
        <p:txBody>
          <a:bodyPr wrap="square">
            <a:spAutoFit/>
          </a:bodyPr>
          <a:lstStyle/>
          <a:p>
            <a:pPr algn="l">
              <a:defRPr sz="900" b="1">
                <a:solidFill>
                  <a:srgbClr val="EC4899"/>
                </a:solidFill>
                <a:latin typeface="Calibri"/>
              </a:defRPr>
            </a:pPr>
            <a:r>
              <a:t>CINE ESTE</a:t>
            </a:r>
          </a:p>
        </p:txBody>
      </p:sp>
      <p:sp>
        <p:nvSpPr>
          <p:cNvPr id="7" name="TextBox 6"/>
          <p:cNvSpPr txBox="1"/>
          <p:nvPr/>
        </p:nvSpPr>
        <p:spPr>
          <a:xfrm>
            <a:off x="640080" y="1828800"/>
            <a:ext cx="5029200" cy="548640"/>
          </a:xfrm>
          <a:prstGeom prst="rect">
            <a:avLst/>
          </a:prstGeom>
          <a:noFill/>
        </p:spPr>
        <p:txBody>
          <a:bodyPr wrap="square">
            <a:spAutoFit/>
          </a:bodyPr>
          <a:lstStyle/>
          <a:p>
            <a:pPr algn="l">
              <a:defRPr sz="1300" b="0">
                <a:solidFill>
                  <a:srgbClr val="F0F2F8"/>
                </a:solidFill>
                <a:latin typeface="Calibri"/>
              </a:defRPr>
            </a:pPr>
            <a:r>
              <a:t>Femeie, 25-39 ani, din București sau Cluj-Napoca</a:t>
            </a:r>
          </a:p>
        </p:txBody>
      </p:sp>
      <p:sp>
        <p:nvSpPr>
          <p:cNvPr id="8" name="Rounded Rectangle 7"/>
          <p:cNvSpPr/>
          <p:nvPr/>
        </p:nvSpPr>
        <p:spPr>
          <a:xfrm>
            <a:off x="6126480" y="146304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26480" y="1463040"/>
            <a:ext cx="54864" cy="10515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554480"/>
            <a:ext cx="5029200" cy="228600"/>
          </a:xfrm>
          <a:prstGeom prst="rect">
            <a:avLst/>
          </a:prstGeom>
          <a:noFill/>
        </p:spPr>
        <p:txBody>
          <a:bodyPr wrap="square">
            <a:spAutoFit/>
          </a:bodyPr>
          <a:lstStyle/>
          <a:p>
            <a:pPr algn="l">
              <a:defRPr sz="900" b="1">
                <a:solidFill>
                  <a:srgbClr val="8B5CF6"/>
                </a:solidFill>
                <a:latin typeface="Calibri"/>
              </a:defRPr>
            </a:pPr>
            <a:r>
              <a:t>DE UNDE A AFLAT</a:t>
            </a:r>
          </a:p>
        </p:txBody>
      </p:sp>
      <p:sp>
        <p:nvSpPr>
          <p:cNvPr id="11" name="TextBox 10"/>
          <p:cNvSpPr txBox="1"/>
          <p:nvPr/>
        </p:nvSpPr>
        <p:spPr>
          <a:xfrm>
            <a:off x="6309360" y="1828800"/>
            <a:ext cx="5029200" cy="548640"/>
          </a:xfrm>
          <a:prstGeom prst="rect">
            <a:avLst/>
          </a:prstGeom>
          <a:noFill/>
        </p:spPr>
        <p:txBody>
          <a:bodyPr wrap="square">
            <a:spAutoFit/>
          </a:bodyPr>
          <a:lstStyle/>
          <a:p>
            <a:pPr algn="l">
              <a:defRPr sz="1300" b="0">
                <a:solidFill>
                  <a:srgbClr val="F0F2F8"/>
                </a:solidFill>
                <a:latin typeface="Calibri"/>
              </a:defRPr>
            </a:pPr>
            <a:r>
              <a:t>Instagram sau Facebook (53% din surse)</a:t>
            </a:r>
          </a:p>
        </p:txBody>
      </p:sp>
      <p:sp>
        <p:nvSpPr>
          <p:cNvPr id="12" name="Rounded Rectangle 11"/>
          <p:cNvSpPr/>
          <p:nvPr/>
        </p:nvSpPr>
        <p:spPr>
          <a:xfrm>
            <a:off x="457200" y="265176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7200" y="2651760"/>
            <a:ext cx="54864" cy="10515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743200"/>
            <a:ext cx="5029200" cy="228600"/>
          </a:xfrm>
          <a:prstGeom prst="rect">
            <a:avLst/>
          </a:prstGeom>
          <a:noFill/>
        </p:spPr>
        <p:txBody>
          <a:bodyPr wrap="square">
            <a:spAutoFit/>
          </a:bodyPr>
          <a:lstStyle/>
          <a:p>
            <a:pPr algn="l">
              <a:defRPr sz="900" b="1">
                <a:solidFill>
                  <a:srgbClr val="F59E0B"/>
                </a:solidFill>
                <a:latin typeface="Calibri"/>
              </a:defRPr>
            </a:pPr>
            <a:r>
              <a:t>CUM SE SIMTE</a:t>
            </a:r>
          </a:p>
        </p:txBody>
      </p:sp>
      <p:sp>
        <p:nvSpPr>
          <p:cNvPr id="15" name="TextBox 14"/>
          <p:cNvSpPr txBox="1"/>
          <p:nvPr/>
        </p:nvSpPr>
        <p:spPr>
          <a:xfrm>
            <a:off x="640080" y="3017520"/>
            <a:ext cx="5029200" cy="548640"/>
          </a:xfrm>
          <a:prstGeom prst="rect">
            <a:avLst/>
          </a:prstGeom>
          <a:noFill/>
        </p:spPr>
        <p:txBody>
          <a:bodyPr wrap="square">
            <a:spAutoFit/>
          </a:bodyPr>
          <a:lstStyle/>
          <a:p>
            <a:pPr algn="l">
              <a:defRPr sz="1300" b="0">
                <a:solidFill>
                  <a:srgbClr val="F0F2F8"/>
                </a:solidFill>
                <a:latin typeface="Calibri"/>
              </a:defRPr>
            </a:pPr>
            <a:r>
              <a:t>Obosită, 'nu mereu am energie' (70%), doarme prost (73%)</a:t>
            </a:r>
          </a:p>
        </p:txBody>
      </p:sp>
      <p:sp>
        <p:nvSpPr>
          <p:cNvPr id="16" name="Rounded Rectangle 15"/>
          <p:cNvSpPr/>
          <p:nvPr/>
        </p:nvSpPr>
        <p:spPr>
          <a:xfrm>
            <a:off x="6126480" y="265176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26480" y="2651760"/>
            <a:ext cx="54864" cy="10515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2743200"/>
            <a:ext cx="5029200" cy="228600"/>
          </a:xfrm>
          <a:prstGeom prst="rect">
            <a:avLst/>
          </a:prstGeom>
          <a:noFill/>
        </p:spPr>
        <p:txBody>
          <a:bodyPr wrap="square">
            <a:spAutoFit/>
          </a:bodyPr>
          <a:lstStyle/>
          <a:p>
            <a:pPr algn="l">
              <a:defRPr sz="900" b="1">
                <a:solidFill>
                  <a:srgbClr val="10B981"/>
                </a:solidFill>
                <a:latin typeface="Calibri"/>
              </a:defRPr>
            </a:pPr>
            <a:r>
              <a:t>CE VREA</a:t>
            </a:r>
          </a:p>
        </p:txBody>
      </p:sp>
      <p:sp>
        <p:nvSpPr>
          <p:cNvPr id="19" name="TextBox 18"/>
          <p:cNvSpPr txBox="1"/>
          <p:nvPr/>
        </p:nvSpPr>
        <p:spPr>
          <a:xfrm>
            <a:off x="6309360" y="3017520"/>
            <a:ext cx="5029200" cy="548640"/>
          </a:xfrm>
          <a:prstGeom prst="rect">
            <a:avLst/>
          </a:prstGeom>
          <a:noFill/>
        </p:spPr>
        <p:txBody>
          <a:bodyPr wrap="square">
            <a:spAutoFit/>
          </a:bodyPr>
          <a:lstStyle/>
          <a:p>
            <a:pPr algn="l">
              <a:defRPr sz="1300" b="0">
                <a:solidFill>
                  <a:srgbClr val="F0F2F8"/>
                </a:solidFill>
                <a:latin typeface="Calibri"/>
              </a:defRPr>
            </a:pPr>
            <a:r>
              <a:t>Energie, Anti-Stres, Focus mental, Imunitate</a:t>
            </a:r>
          </a:p>
        </p:txBody>
      </p:sp>
      <p:sp>
        <p:nvSpPr>
          <p:cNvPr id="20" name="Rounded Rectangle 19"/>
          <p:cNvSpPr/>
          <p:nvPr/>
        </p:nvSpPr>
        <p:spPr>
          <a:xfrm>
            <a:off x="457200" y="384048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7200" y="3840480"/>
            <a:ext cx="54864" cy="10515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931920"/>
            <a:ext cx="5029200" cy="228600"/>
          </a:xfrm>
          <a:prstGeom prst="rect">
            <a:avLst/>
          </a:prstGeom>
          <a:noFill/>
        </p:spPr>
        <p:txBody>
          <a:bodyPr wrap="square">
            <a:spAutoFit/>
          </a:bodyPr>
          <a:lstStyle/>
          <a:p>
            <a:pPr algn="l">
              <a:defRPr sz="900" b="1">
                <a:solidFill>
                  <a:srgbClr val="14B8A6"/>
                </a:solidFill>
                <a:latin typeface="Calibri"/>
              </a:defRPr>
            </a:pPr>
            <a:r>
              <a:t>DIETA</a:t>
            </a:r>
          </a:p>
        </p:txBody>
      </p:sp>
      <p:sp>
        <p:nvSpPr>
          <p:cNvPr id="23" name="TextBox 22"/>
          <p:cNvSpPr txBox="1"/>
          <p:nvPr/>
        </p:nvSpPr>
        <p:spPr>
          <a:xfrm>
            <a:off x="640080" y="4206240"/>
            <a:ext cx="5029200" cy="548640"/>
          </a:xfrm>
          <a:prstGeom prst="rect">
            <a:avLst/>
          </a:prstGeom>
          <a:noFill/>
        </p:spPr>
        <p:txBody>
          <a:bodyPr wrap="square">
            <a:spAutoFit/>
          </a:bodyPr>
          <a:lstStyle/>
          <a:p>
            <a:pPr algn="l">
              <a:defRPr sz="1300" b="0">
                <a:solidFill>
                  <a:srgbClr val="F0F2F8"/>
                </a:solidFill>
                <a:latin typeface="Calibri"/>
              </a:defRPr>
            </a:pPr>
            <a:r>
              <a:t>'Cu de toate' (71%), nu mănâncă pește (83%)</a:t>
            </a:r>
          </a:p>
        </p:txBody>
      </p:sp>
      <p:sp>
        <p:nvSpPr>
          <p:cNvPr id="24" name="Rounded Rectangle 23"/>
          <p:cNvSpPr/>
          <p:nvPr/>
        </p:nvSpPr>
        <p:spPr>
          <a:xfrm>
            <a:off x="6126480" y="384048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126480" y="3840480"/>
            <a:ext cx="54864" cy="105156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3931920"/>
            <a:ext cx="5029200" cy="228600"/>
          </a:xfrm>
          <a:prstGeom prst="rect">
            <a:avLst/>
          </a:prstGeom>
          <a:noFill/>
        </p:spPr>
        <p:txBody>
          <a:bodyPr wrap="square">
            <a:spAutoFit/>
          </a:bodyPr>
          <a:lstStyle/>
          <a:p>
            <a:pPr algn="l">
              <a:defRPr sz="900" b="1">
                <a:solidFill>
                  <a:srgbClr val="EF4444"/>
                </a:solidFill>
                <a:latin typeface="Calibri"/>
              </a:defRPr>
            </a:pPr>
            <a:r>
              <a:t>SPORT</a:t>
            </a:r>
          </a:p>
        </p:txBody>
      </p:sp>
      <p:sp>
        <p:nvSpPr>
          <p:cNvPr id="27" name="TextBox 26"/>
          <p:cNvSpPr txBox="1"/>
          <p:nvPr/>
        </p:nvSpPr>
        <p:spPr>
          <a:xfrm>
            <a:off x="6309360" y="4206240"/>
            <a:ext cx="5029200" cy="548640"/>
          </a:xfrm>
          <a:prstGeom prst="rect">
            <a:avLst/>
          </a:prstGeom>
          <a:noFill/>
        </p:spPr>
        <p:txBody>
          <a:bodyPr wrap="square">
            <a:spAutoFit/>
          </a:bodyPr>
          <a:lstStyle/>
          <a:p>
            <a:pPr algn="l">
              <a:defRPr sz="1300" b="0">
                <a:solidFill>
                  <a:srgbClr val="F0F2F8"/>
                </a:solidFill>
                <a:latin typeface="Calibri"/>
              </a:defRPr>
            </a:pPr>
            <a:r>
              <a:t>Foarte rar (71%), dar are intenția să facă</a:t>
            </a:r>
          </a:p>
        </p:txBody>
      </p:sp>
      <p:sp>
        <p:nvSpPr>
          <p:cNvPr id="28" name="Rounded Rectangle 27"/>
          <p:cNvSpPr/>
          <p:nvPr/>
        </p:nvSpPr>
        <p:spPr>
          <a:xfrm>
            <a:off x="457200" y="502920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57200" y="5029200"/>
            <a:ext cx="54864" cy="10515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120640"/>
            <a:ext cx="5029200" cy="228600"/>
          </a:xfrm>
          <a:prstGeom prst="rect">
            <a:avLst/>
          </a:prstGeom>
          <a:noFill/>
        </p:spPr>
        <p:txBody>
          <a:bodyPr wrap="square">
            <a:spAutoFit/>
          </a:bodyPr>
          <a:lstStyle/>
          <a:p>
            <a:pPr algn="l">
              <a:defRPr sz="900" b="1">
                <a:solidFill>
                  <a:srgbClr val="F59E0B"/>
                </a:solidFill>
                <a:latin typeface="Calibri"/>
              </a:defRPr>
            </a:pPr>
            <a:r>
              <a:t>VICII</a:t>
            </a:r>
          </a:p>
        </p:txBody>
      </p:sp>
      <p:sp>
        <p:nvSpPr>
          <p:cNvPr id="31" name="TextBox 30"/>
          <p:cNvSpPr txBox="1"/>
          <p:nvPr/>
        </p:nvSpPr>
        <p:spPr>
          <a:xfrm>
            <a:off x="640080" y="5394960"/>
            <a:ext cx="5029200" cy="548640"/>
          </a:xfrm>
          <a:prstGeom prst="rect">
            <a:avLst/>
          </a:prstGeom>
          <a:noFill/>
        </p:spPr>
        <p:txBody>
          <a:bodyPr wrap="square">
            <a:spAutoFit/>
          </a:bodyPr>
          <a:lstStyle/>
          <a:p>
            <a:pPr algn="l">
              <a:defRPr sz="1300" b="0">
                <a:solidFill>
                  <a:srgbClr val="F0F2F8"/>
                </a:solidFill>
                <a:latin typeface="Calibri"/>
              </a:defRPr>
            </a:pPr>
            <a:r>
              <a:t>37% fum., 77% nu bea alcool, 69% poftă de dulce</a:t>
            </a:r>
          </a:p>
        </p:txBody>
      </p:sp>
      <p:sp>
        <p:nvSpPr>
          <p:cNvPr id="32" name="Rounded Rectangle 31"/>
          <p:cNvSpPr/>
          <p:nvPr/>
        </p:nvSpPr>
        <p:spPr>
          <a:xfrm>
            <a:off x="6126480" y="5029200"/>
            <a:ext cx="5394960" cy="10515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126480" y="5029200"/>
            <a:ext cx="54864" cy="10515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9360" y="5120640"/>
            <a:ext cx="5029200" cy="228600"/>
          </a:xfrm>
          <a:prstGeom prst="rect">
            <a:avLst/>
          </a:prstGeom>
          <a:noFill/>
        </p:spPr>
        <p:txBody>
          <a:bodyPr wrap="square">
            <a:spAutoFit/>
          </a:bodyPr>
          <a:lstStyle/>
          <a:p>
            <a:pPr algn="l">
              <a:defRPr sz="900" b="1">
                <a:solidFill>
                  <a:srgbClr val="6366F1"/>
                </a:solidFill>
                <a:latin typeface="Calibri"/>
              </a:defRPr>
            </a:pPr>
            <a:r>
              <a:t>ANALIZE</a:t>
            </a:r>
          </a:p>
        </p:txBody>
      </p:sp>
      <p:sp>
        <p:nvSpPr>
          <p:cNvPr id="35" name="TextBox 34"/>
          <p:cNvSpPr txBox="1"/>
          <p:nvPr/>
        </p:nvSpPr>
        <p:spPr>
          <a:xfrm>
            <a:off x="6309360" y="5394960"/>
            <a:ext cx="5029200" cy="548640"/>
          </a:xfrm>
          <a:prstGeom prst="rect">
            <a:avLst/>
          </a:prstGeom>
          <a:noFill/>
        </p:spPr>
        <p:txBody>
          <a:bodyPr wrap="square">
            <a:spAutoFit/>
          </a:bodyPr>
          <a:lstStyle/>
          <a:p>
            <a:pPr algn="l">
              <a:defRPr sz="1300" b="0">
                <a:solidFill>
                  <a:srgbClr val="F0F2F8"/>
                </a:solidFill>
                <a:latin typeface="Calibri"/>
              </a:defRPr>
            </a:pPr>
            <a:r>
              <a:t>Vitamina D scăzută (63%), LDL crescut (71%), Colesterol &lt;200 (58%)</a:t>
            </a:r>
          </a:p>
        </p:txBody>
      </p:sp>
      <p:sp>
        <p:nvSpPr>
          <p:cNvPr id="36" name="TextBox 35"/>
          <p:cNvSpPr txBox="1"/>
          <p:nvPr/>
        </p:nvSpPr>
        <p:spPr>
          <a:xfrm>
            <a:off x="457200" y="6309360"/>
            <a:ext cx="10972800" cy="274320"/>
          </a:xfrm>
          <a:prstGeom prst="rect">
            <a:avLst/>
          </a:prstGeom>
          <a:noFill/>
        </p:spPr>
        <p:txBody>
          <a:bodyPr wrap="square">
            <a:spAutoFit/>
          </a:bodyPr>
          <a:lstStyle/>
          <a:p>
            <a:pPr algn="l">
              <a:defRPr sz="900" b="0">
                <a:solidFill>
                  <a:srgbClr val="5A6380"/>
                </a:solidFill>
                <a:latin typeface="Calibri"/>
              </a:defRPr>
            </a:pPr>
            <a:r>
              <a:t>Sursa: 26,753 chestionare completate (2025-2026) din baza de date zitamine_quiz</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DEMOGRAFIE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Cine completează chestionarul?</a:t>
            </a:r>
          </a:p>
        </p:txBody>
      </p:sp>
      <p:sp>
        <p:nvSpPr>
          <p:cNvPr id="4" name="Rounded Rectangle 3"/>
          <p:cNvSpPr/>
          <p:nvPr/>
        </p:nvSpPr>
        <p:spPr>
          <a:xfrm>
            <a:off x="457200" y="1463040"/>
            <a:ext cx="3474720" cy="47548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3108960" cy="274320"/>
          </a:xfrm>
          <a:prstGeom prst="rect">
            <a:avLst/>
          </a:prstGeom>
          <a:noFill/>
        </p:spPr>
        <p:txBody>
          <a:bodyPr wrap="square">
            <a:spAutoFit/>
          </a:bodyPr>
          <a:lstStyle/>
          <a:p>
            <a:pPr algn="l">
              <a:defRPr sz="1000" b="1">
                <a:solidFill>
                  <a:srgbClr val="8B95B0"/>
                </a:solidFill>
                <a:latin typeface="Calibri"/>
              </a:defRPr>
            </a:pPr>
            <a:r>
              <a:t>GEN</a:t>
            </a:r>
          </a:p>
        </p:txBody>
      </p:sp>
      <p:sp>
        <p:nvSpPr>
          <p:cNvPr id="6" name="Rounded Rectangle 5"/>
          <p:cNvSpPr/>
          <p:nvPr/>
        </p:nvSpPr>
        <p:spPr>
          <a:xfrm>
            <a:off x="731520" y="2011680"/>
            <a:ext cx="2926080" cy="41148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011680"/>
            <a:ext cx="2194560" cy="41148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057400"/>
            <a:ext cx="1828800" cy="320040"/>
          </a:xfrm>
          <a:prstGeom prst="rect">
            <a:avLst/>
          </a:prstGeom>
          <a:noFill/>
        </p:spPr>
        <p:txBody>
          <a:bodyPr wrap="square">
            <a:spAutoFit/>
          </a:bodyPr>
          <a:lstStyle/>
          <a:p>
            <a:pPr algn="l">
              <a:defRPr sz="1300" b="1">
                <a:solidFill>
                  <a:srgbClr val="F0F2F8"/>
                </a:solidFill>
                <a:latin typeface="Calibri"/>
              </a:defRPr>
            </a:pPr>
            <a:r>
              <a:t>Femeie</a:t>
            </a:r>
          </a:p>
        </p:txBody>
      </p:sp>
      <p:sp>
        <p:nvSpPr>
          <p:cNvPr id="9" name="TextBox 8"/>
          <p:cNvSpPr txBox="1"/>
          <p:nvPr/>
        </p:nvSpPr>
        <p:spPr>
          <a:xfrm>
            <a:off x="2560320" y="2057400"/>
            <a:ext cx="1005840" cy="320040"/>
          </a:xfrm>
          <a:prstGeom prst="rect">
            <a:avLst/>
          </a:prstGeom>
          <a:noFill/>
        </p:spPr>
        <p:txBody>
          <a:bodyPr wrap="square">
            <a:spAutoFit/>
          </a:bodyPr>
          <a:lstStyle/>
          <a:p>
            <a:pPr algn="r">
              <a:defRPr sz="1400" b="1">
                <a:solidFill>
                  <a:srgbClr val="F0F2F8"/>
                </a:solidFill>
                <a:latin typeface="Calibri"/>
              </a:defRPr>
            </a:pPr>
            <a:r>
              <a:t>75%</a:t>
            </a:r>
          </a:p>
        </p:txBody>
      </p:sp>
      <p:sp>
        <p:nvSpPr>
          <p:cNvPr id="10" name="TextBox 9"/>
          <p:cNvSpPr txBox="1"/>
          <p:nvPr/>
        </p:nvSpPr>
        <p:spPr>
          <a:xfrm>
            <a:off x="822960" y="2514600"/>
            <a:ext cx="2743200" cy="228600"/>
          </a:xfrm>
          <a:prstGeom prst="rect">
            <a:avLst/>
          </a:prstGeom>
          <a:noFill/>
        </p:spPr>
        <p:txBody>
          <a:bodyPr wrap="square">
            <a:spAutoFit/>
          </a:bodyPr>
          <a:lstStyle/>
          <a:p>
            <a:pPr algn="l">
              <a:defRPr sz="1000" b="0">
                <a:solidFill>
                  <a:srgbClr val="5A6380"/>
                </a:solidFill>
                <a:latin typeface="Calibri"/>
              </a:defRPr>
            </a:pPr>
            <a:r>
              <a:t>16,609 respondenți</a:t>
            </a:r>
          </a:p>
        </p:txBody>
      </p:sp>
      <p:sp>
        <p:nvSpPr>
          <p:cNvPr id="11" name="Rounded Rectangle 10"/>
          <p:cNvSpPr/>
          <p:nvPr/>
        </p:nvSpPr>
        <p:spPr>
          <a:xfrm>
            <a:off x="731520" y="3657600"/>
            <a:ext cx="2926080" cy="41148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3657600"/>
            <a:ext cx="73152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703320"/>
            <a:ext cx="1828800" cy="320040"/>
          </a:xfrm>
          <a:prstGeom prst="rect">
            <a:avLst/>
          </a:prstGeom>
          <a:noFill/>
        </p:spPr>
        <p:txBody>
          <a:bodyPr wrap="square">
            <a:spAutoFit/>
          </a:bodyPr>
          <a:lstStyle/>
          <a:p>
            <a:pPr algn="l">
              <a:defRPr sz="1300" b="1">
                <a:solidFill>
                  <a:srgbClr val="F0F2F8"/>
                </a:solidFill>
                <a:latin typeface="Calibri"/>
              </a:defRPr>
            </a:pPr>
            <a:r>
              <a:t>Bărbat</a:t>
            </a:r>
          </a:p>
        </p:txBody>
      </p:sp>
      <p:sp>
        <p:nvSpPr>
          <p:cNvPr id="14" name="TextBox 13"/>
          <p:cNvSpPr txBox="1"/>
          <p:nvPr/>
        </p:nvSpPr>
        <p:spPr>
          <a:xfrm>
            <a:off x="2560320" y="3703320"/>
            <a:ext cx="1005840" cy="320040"/>
          </a:xfrm>
          <a:prstGeom prst="rect">
            <a:avLst/>
          </a:prstGeom>
          <a:noFill/>
        </p:spPr>
        <p:txBody>
          <a:bodyPr wrap="square">
            <a:spAutoFit/>
          </a:bodyPr>
          <a:lstStyle/>
          <a:p>
            <a:pPr algn="r">
              <a:defRPr sz="1400" b="1">
                <a:solidFill>
                  <a:srgbClr val="F0F2F8"/>
                </a:solidFill>
                <a:latin typeface="Calibri"/>
              </a:defRPr>
            </a:pPr>
            <a:r>
              <a:t>25%</a:t>
            </a:r>
          </a:p>
        </p:txBody>
      </p:sp>
      <p:sp>
        <p:nvSpPr>
          <p:cNvPr id="15" name="TextBox 14"/>
          <p:cNvSpPr txBox="1"/>
          <p:nvPr/>
        </p:nvSpPr>
        <p:spPr>
          <a:xfrm>
            <a:off x="822960" y="4160520"/>
            <a:ext cx="2743200" cy="228600"/>
          </a:xfrm>
          <a:prstGeom prst="rect">
            <a:avLst/>
          </a:prstGeom>
          <a:noFill/>
        </p:spPr>
        <p:txBody>
          <a:bodyPr wrap="square">
            <a:spAutoFit/>
          </a:bodyPr>
          <a:lstStyle/>
          <a:p>
            <a:pPr algn="l">
              <a:defRPr sz="1000" b="0">
                <a:solidFill>
                  <a:srgbClr val="5A6380"/>
                </a:solidFill>
                <a:latin typeface="Calibri"/>
              </a:defRPr>
            </a:pPr>
            <a:r>
              <a:t>5,551 respondenți</a:t>
            </a:r>
          </a:p>
        </p:txBody>
      </p:sp>
      <p:sp>
        <p:nvSpPr>
          <p:cNvPr id="16" name="Rounded Rectangle 15"/>
          <p:cNvSpPr/>
          <p:nvPr/>
        </p:nvSpPr>
        <p:spPr>
          <a:xfrm>
            <a:off x="4206240" y="1463040"/>
            <a:ext cx="3474720" cy="47548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0" y="1554480"/>
            <a:ext cx="3108960" cy="274320"/>
          </a:xfrm>
          <a:prstGeom prst="rect">
            <a:avLst/>
          </a:prstGeom>
          <a:noFill/>
        </p:spPr>
        <p:txBody>
          <a:bodyPr wrap="square">
            <a:spAutoFit/>
          </a:bodyPr>
          <a:lstStyle/>
          <a:p>
            <a:pPr algn="l">
              <a:defRPr sz="1000" b="1">
                <a:solidFill>
                  <a:srgbClr val="8B95B0"/>
                </a:solidFill>
                <a:latin typeface="Calibri"/>
              </a:defRPr>
            </a:pPr>
            <a:r>
              <a:t>VÂRSTĂ</a:t>
            </a:r>
          </a:p>
        </p:txBody>
      </p:sp>
      <p:sp>
        <p:nvSpPr>
          <p:cNvPr id="18" name="Rounded Rectangle 17"/>
          <p:cNvSpPr/>
          <p:nvPr/>
        </p:nvSpPr>
        <p:spPr>
          <a:xfrm>
            <a:off x="4389120" y="2011680"/>
            <a:ext cx="310896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389120" y="2011680"/>
            <a:ext cx="3108960" cy="3657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0560" y="2039112"/>
            <a:ext cx="1645920" cy="320040"/>
          </a:xfrm>
          <a:prstGeom prst="rect">
            <a:avLst/>
          </a:prstGeom>
          <a:noFill/>
        </p:spPr>
        <p:txBody>
          <a:bodyPr wrap="square">
            <a:spAutoFit/>
          </a:bodyPr>
          <a:lstStyle/>
          <a:p>
            <a:pPr algn="l">
              <a:defRPr sz="1200" b="1">
                <a:solidFill>
                  <a:srgbClr val="F0F2F8"/>
                </a:solidFill>
                <a:latin typeface="Calibri"/>
              </a:defRPr>
            </a:pPr>
            <a:r>
              <a:t>25-39 ani</a:t>
            </a:r>
          </a:p>
        </p:txBody>
      </p:sp>
      <p:sp>
        <p:nvSpPr>
          <p:cNvPr id="21" name="TextBox 20"/>
          <p:cNvSpPr txBox="1"/>
          <p:nvPr/>
        </p:nvSpPr>
        <p:spPr>
          <a:xfrm>
            <a:off x="6400800" y="2039112"/>
            <a:ext cx="1005840" cy="320040"/>
          </a:xfrm>
          <a:prstGeom prst="rect">
            <a:avLst/>
          </a:prstGeom>
          <a:noFill/>
        </p:spPr>
        <p:txBody>
          <a:bodyPr wrap="square">
            <a:spAutoFit/>
          </a:bodyPr>
          <a:lstStyle/>
          <a:p>
            <a:pPr algn="r">
              <a:defRPr sz="1200" b="1">
                <a:solidFill>
                  <a:srgbClr val="F0F2F8"/>
                </a:solidFill>
                <a:latin typeface="Calibri"/>
              </a:defRPr>
            </a:pPr>
            <a:r>
              <a:t>48%</a:t>
            </a:r>
          </a:p>
        </p:txBody>
      </p:sp>
      <p:sp>
        <p:nvSpPr>
          <p:cNvPr id="22" name="Rounded Rectangle 21"/>
          <p:cNvSpPr/>
          <p:nvPr/>
        </p:nvSpPr>
        <p:spPr>
          <a:xfrm>
            <a:off x="4389120" y="3017520"/>
            <a:ext cx="310896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389120" y="3017520"/>
            <a:ext cx="2007870"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80560" y="3044952"/>
            <a:ext cx="1645920" cy="320040"/>
          </a:xfrm>
          <a:prstGeom prst="rect">
            <a:avLst/>
          </a:prstGeom>
          <a:noFill/>
        </p:spPr>
        <p:txBody>
          <a:bodyPr wrap="square">
            <a:spAutoFit/>
          </a:bodyPr>
          <a:lstStyle/>
          <a:p>
            <a:pPr algn="l">
              <a:defRPr sz="1200" b="1">
                <a:solidFill>
                  <a:srgbClr val="F0F2F8"/>
                </a:solidFill>
                <a:latin typeface="Calibri"/>
              </a:defRPr>
            </a:pPr>
            <a:r>
              <a:t>18-24 ani</a:t>
            </a:r>
          </a:p>
        </p:txBody>
      </p:sp>
      <p:sp>
        <p:nvSpPr>
          <p:cNvPr id="25" name="TextBox 24"/>
          <p:cNvSpPr txBox="1"/>
          <p:nvPr/>
        </p:nvSpPr>
        <p:spPr>
          <a:xfrm>
            <a:off x="6400800" y="3044952"/>
            <a:ext cx="1005840" cy="320040"/>
          </a:xfrm>
          <a:prstGeom prst="rect">
            <a:avLst/>
          </a:prstGeom>
          <a:noFill/>
        </p:spPr>
        <p:txBody>
          <a:bodyPr wrap="square">
            <a:spAutoFit/>
          </a:bodyPr>
          <a:lstStyle/>
          <a:p>
            <a:pPr algn="r">
              <a:defRPr sz="1200" b="1">
                <a:solidFill>
                  <a:srgbClr val="F0F2F8"/>
                </a:solidFill>
                <a:latin typeface="Calibri"/>
              </a:defRPr>
            </a:pPr>
            <a:r>
              <a:t>31%</a:t>
            </a:r>
          </a:p>
        </p:txBody>
      </p:sp>
      <p:sp>
        <p:nvSpPr>
          <p:cNvPr id="26" name="Rounded Rectangle 25"/>
          <p:cNvSpPr/>
          <p:nvPr/>
        </p:nvSpPr>
        <p:spPr>
          <a:xfrm>
            <a:off x="4389120" y="4023360"/>
            <a:ext cx="310896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389120" y="4023360"/>
            <a:ext cx="1165860" cy="3657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0" y="4050792"/>
            <a:ext cx="1645920" cy="320040"/>
          </a:xfrm>
          <a:prstGeom prst="rect">
            <a:avLst/>
          </a:prstGeom>
          <a:noFill/>
        </p:spPr>
        <p:txBody>
          <a:bodyPr wrap="square">
            <a:spAutoFit/>
          </a:bodyPr>
          <a:lstStyle/>
          <a:p>
            <a:pPr algn="l">
              <a:defRPr sz="1200" b="1">
                <a:solidFill>
                  <a:srgbClr val="F0F2F8"/>
                </a:solidFill>
                <a:latin typeface="Calibri"/>
              </a:defRPr>
            </a:pPr>
            <a:r>
              <a:t>40-54 ani</a:t>
            </a:r>
          </a:p>
        </p:txBody>
      </p:sp>
      <p:sp>
        <p:nvSpPr>
          <p:cNvPr id="29" name="TextBox 28"/>
          <p:cNvSpPr txBox="1"/>
          <p:nvPr/>
        </p:nvSpPr>
        <p:spPr>
          <a:xfrm>
            <a:off x="6400800" y="4050792"/>
            <a:ext cx="1005840" cy="320040"/>
          </a:xfrm>
          <a:prstGeom prst="rect">
            <a:avLst/>
          </a:prstGeom>
          <a:noFill/>
        </p:spPr>
        <p:txBody>
          <a:bodyPr wrap="square">
            <a:spAutoFit/>
          </a:bodyPr>
          <a:lstStyle/>
          <a:p>
            <a:pPr algn="r">
              <a:defRPr sz="1200" b="1">
                <a:solidFill>
                  <a:srgbClr val="F0F2F8"/>
                </a:solidFill>
                <a:latin typeface="Calibri"/>
              </a:defRPr>
            </a:pPr>
            <a:r>
              <a:t>18%</a:t>
            </a:r>
          </a:p>
        </p:txBody>
      </p:sp>
      <p:sp>
        <p:nvSpPr>
          <p:cNvPr id="30" name="Rounded Rectangle 29"/>
          <p:cNvSpPr/>
          <p:nvPr/>
        </p:nvSpPr>
        <p:spPr>
          <a:xfrm>
            <a:off x="4389120" y="5029200"/>
            <a:ext cx="310896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389120" y="5029200"/>
            <a:ext cx="19431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80560" y="5056632"/>
            <a:ext cx="1645920" cy="320040"/>
          </a:xfrm>
          <a:prstGeom prst="rect">
            <a:avLst/>
          </a:prstGeom>
          <a:noFill/>
        </p:spPr>
        <p:txBody>
          <a:bodyPr wrap="square">
            <a:spAutoFit/>
          </a:bodyPr>
          <a:lstStyle/>
          <a:p>
            <a:pPr algn="l">
              <a:defRPr sz="1200" b="1">
                <a:solidFill>
                  <a:srgbClr val="F0F2F8"/>
                </a:solidFill>
                <a:latin typeface="Calibri"/>
              </a:defRPr>
            </a:pPr>
            <a:r>
              <a:t>55+ ani</a:t>
            </a:r>
          </a:p>
        </p:txBody>
      </p:sp>
      <p:sp>
        <p:nvSpPr>
          <p:cNvPr id="33" name="TextBox 32"/>
          <p:cNvSpPr txBox="1"/>
          <p:nvPr/>
        </p:nvSpPr>
        <p:spPr>
          <a:xfrm>
            <a:off x="6400800" y="5056632"/>
            <a:ext cx="1005840" cy="320040"/>
          </a:xfrm>
          <a:prstGeom prst="rect">
            <a:avLst/>
          </a:prstGeom>
          <a:noFill/>
        </p:spPr>
        <p:txBody>
          <a:bodyPr wrap="square">
            <a:spAutoFit/>
          </a:bodyPr>
          <a:lstStyle/>
          <a:p>
            <a:pPr algn="r">
              <a:defRPr sz="1200" b="1">
                <a:solidFill>
                  <a:srgbClr val="F0F2F8"/>
                </a:solidFill>
                <a:latin typeface="Calibri"/>
              </a:defRPr>
            </a:pPr>
            <a:r>
              <a:t>3%</a:t>
            </a:r>
          </a:p>
        </p:txBody>
      </p:sp>
      <p:sp>
        <p:nvSpPr>
          <p:cNvPr id="34" name="Rounded Rectangle 33"/>
          <p:cNvSpPr/>
          <p:nvPr/>
        </p:nvSpPr>
        <p:spPr>
          <a:xfrm>
            <a:off x="7955279" y="1463040"/>
            <a:ext cx="3749039" cy="47548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38160" y="1554480"/>
            <a:ext cx="3383280" cy="274320"/>
          </a:xfrm>
          <a:prstGeom prst="rect">
            <a:avLst/>
          </a:prstGeom>
          <a:noFill/>
        </p:spPr>
        <p:txBody>
          <a:bodyPr wrap="square">
            <a:spAutoFit/>
          </a:bodyPr>
          <a:lstStyle/>
          <a:p>
            <a:pPr algn="l">
              <a:defRPr sz="1000" b="1">
                <a:solidFill>
                  <a:srgbClr val="8B95B0"/>
                </a:solidFill>
                <a:latin typeface="Calibri"/>
              </a:defRPr>
            </a:pPr>
            <a:r>
              <a:t>DE UNDE AU AFLAT DE ZITAMINE?</a:t>
            </a:r>
          </a:p>
        </p:txBody>
      </p:sp>
      <p:sp>
        <p:nvSpPr>
          <p:cNvPr id="36" name="Rounded Rectangle 35"/>
          <p:cNvSpPr/>
          <p:nvPr/>
        </p:nvSpPr>
        <p:spPr>
          <a:xfrm>
            <a:off x="8138160" y="1965960"/>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38160" y="1965960"/>
            <a:ext cx="3383280" cy="38404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0" y="2002536"/>
            <a:ext cx="1371600" cy="310896"/>
          </a:xfrm>
          <a:prstGeom prst="rect">
            <a:avLst/>
          </a:prstGeom>
          <a:noFill/>
        </p:spPr>
        <p:txBody>
          <a:bodyPr wrap="square">
            <a:spAutoFit/>
          </a:bodyPr>
          <a:lstStyle/>
          <a:p>
            <a:pPr algn="l">
              <a:defRPr sz="1100" b="1">
                <a:solidFill>
                  <a:srgbClr val="F0F2F8"/>
                </a:solidFill>
                <a:latin typeface="Calibri"/>
              </a:defRPr>
            </a:pPr>
            <a:r>
              <a:t>Instagram</a:t>
            </a:r>
          </a:p>
        </p:txBody>
      </p:sp>
      <p:sp>
        <p:nvSpPr>
          <p:cNvPr id="39" name="TextBox 38"/>
          <p:cNvSpPr txBox="1"/>
          <p:nvPr/>
        </p:nvSpPr>
        <p:spPr>
          <a:xfrm>
            <a:off x="10149840" y="2002536"/>
            <a:ext cx="548640" cy="310896"/>
          </a:xfrm>
          <a:prstGeom prst="rect">
            <a:avLst/>
          </a:prstGeom>
          <a:noFill/>
        </p:spPr>
        <p:txBody>
          <a:bodyPr wrap="square">
            <a:spAutoFit/>
          </a:bodyPr>
          <a:lstStyle/>
          <a:p>
            <a:pPr algn="r">
              <a:defRPr sz="1100" b="1">
                <a:solidFill>
                  <a:srgbClr val="F0F2F8"/>
                </a:solidFill>
                <a:latin typeface="Calibri"/>
              </a:defRPr>
            </a:pPr>
            <a:r>
              <a:t>26%</a:t>
            </a:r>
          </a:p>
        </p:txBody>
      </p:sp>
      <p:sp>
        <p:nvSpPr>
          <p:cNvPr id="40" name="TextBox 39"/>
          <p:cNvSpPr txBox="1"/>
          <p:nvPr/>
        </p:nvSpPr>
        <p:spPr>
          <a:xfrm>
            <a:off x="10789920" y="2002536"/>
            <a:ext cx="640080" cy="310896"/>
          </a:xfrm>
          <a:prstGeom prst="rect">
            <a:avLst/>
          </a:prstGeom>
          <a:noFill/>
        </p:spPr>
        <p:txBody>
          <a:bodyPr wrap="square">
            <a:spAutoFit/>
          </a:bodyPr>
          <a:lstStyle/>
          <a:p>
            <a:pPr algn="r">
              <a:defRPr sz="1000" b="0">
                <a:solidFill>
                  <a:srgbClr val="8B95B0"/>
                </a:solidFill>
                <a:latin typeface="Calibri"/>
              </a:defRPr>
            </a:pPr>
            <a:r>
              <a:t>5,673</a:t>
            </a:r>
          </a:p>
        </p:txBody>
      </p:sp>
      <p:sp>
        <p:nvSpPr>
          <p:cNvPr id="41" name="Rounded Rectangle 40"/>
          <p:cNvSpPr/>
          <p:nvPr/>
        </p:nvSpPr>
        <p:spPr>
          <a:xfrm>
            <a:off x="8138160" y="2478024"/>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138160" y="2478024"/>
            <a:ext cx="3253153" cy="384048"/>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2514600"/>
            <a:ext cx="1371600" cy="310896"/>
          </a:xfrm>
          <a:prstGeom prst="rect">
            <a:avLst/>
          </a:prstGeom>
          <a:noFill/>
        </p:spPr>
        <p:txBody>
          <a:bodyPr wrap="square">
            <a:spAutoFit/>
          </a:bodyPr>
          <a:lstStyle/>
          <a:p>
            <a:pPr algn="l">
              <a:defRPr sz="1100" b="1">
                <a:solidFill>
                  <a:srgbClr val="F0F2F8"/>
                </a:solidFill>
                <a:latin typeface="Calibri"/>
              </a:defRPr>
            </a:pPr>
            <a:r>
              <a:t>Facebook</a:t>
            </a:r>
          </a:p>
        </p:txBody>
      </p:sp>
      <p:sp>
        <p:nvSpPr>
          <p:cNvPr id="44" name="TextBox 43"/>
          <p:cNvSpPr txBox="1"/>
          <p:nvPr/>
        </p:nvSpPr>
        <p:spPr>
          <a:xfrm>
            <a:off x="10149840" y="2514600"/>
            <a:ext cx="548640" cy="310896"/>
          </a:xfrm>
          <a:prstGeom prst="rect">
            <a:avLst/>
          </a:prstGeom>
          <a:noFill/>
        </p:spPr>
        <p:txBody>
          <a:bodyPr wrap="square">
            <a:spAutoFit/>
          </a:bodyPr>
          <a:lstStyle/>
          <a:p>
            <a:pPr algn="r">
              <a:defRPr sz="1100" b="1">
                <a:solidFill>
                  <a:srgbClr val="F0F2F8"/>
                </a:solidFill>
                <a:latin typeface="Calibri"/>
              </a:defRPr>
            </a:pPr>
            <a:r>
              <a:t>25%</a:t>
            </a:r>
          </a:p>
        </p:txBody>
      </p:sp>
      <p:sp>
        <p:nvSpPr>
          <p:cNvPr id="45" name="TextBox 44"/>
          <p:cNvSpPr txBox="1"/>
          <p:nvPr/>
        </p:nvSpPr>
        <p:spPr>
          <a:xfrm>
            <a:off x="10789920" y="2514600"/>
            <a:ext cx="640080" cy="310896"/>
          </a:xfrm>
          <a:prstGeom prst="rect">
            <a:avLst/>
          </a:prstGeom>
          <a:noFill/>
        </p:spPr>
        <p:txBody>
          <a:bodyPr wrap="square">
            <a:spAutoFit/>
          </a:bodyPr>
          <a:lstStyle/>
          <a:p>
            <a:pPr algn="r">
              <a:defRPr sz="1000" b="0">
                <a:solidFill>
                  <a:srgbClr val="8B95B0"/>
                </a:solidFill>
                <a:latin typeface="Calibri"/>
              </a:defRPr>
            </a:pPr>
            <a:r>
              <a:t>5,531</a:t>
            </a:r>
          </a:p>
        </p:txBody>
      </p:sp>
      <p:sp>
        <p:nvSpPr>
          <p:cNvPr id="46" name="Rounded Rectangle 45"/>
          <p:cNvSpPr/>
          <p:nvPr/>
        </p:nvSpPr>
        <p:spPr>
          <a:xfrm>
            <a:off x="8138160" y="2990088"/>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138160" y="2990088"/>
            <a:ext cx="2212144" cy="3840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0" y="3026664"/>
            <a:ext cx="1371600" cy="310896"/>
          </a:xfrm>
          <a:prstGeom prst="rect">
            <a:avLst/>
          </a:prstGeom>
          <a:noFill/>
        </p:spPr>
        <p:txBody>
          <a:bodyPr wrap="square">
            <a:spAutoFit/>
          </a:bodyPr>
          <a:lstStyle/>
          <a:p>
            <a:pPr algn="l">
              <a:defRPr sz="1100" b="1">
                <a:solidFill>
                  <a:srgbClr val="F0F2F8"/>
                </a:solidFill>
                <a:latin typeface="Calibri"/>
              </a:defRPr>
            </a:pPr>
            <a:r>
              <a:t>TikTok</a:t>
            </a:r>
          </a:p>
        </p:txBody>
      </p:sp>
      <p:sp>
        <p:nvSpPr>
          <p:cNvPr id="49" name="TextBox 48"/>
          <p:cNvSpPr txBox="1"/>
          <p:nvPr/>
        </p:nvSpPr>
        <p:spPr>
          <a:xfrm>
            <a:off x="10149840" y="3026664"/>
            <a:ext cx="548640" cy="310896"/>
          </a:xfrm>
          <a:prstGeom prst="rect">
            <a:avLst/>
          </a:prstGeom>
          <a:noFill/>
        </p:spPr>
        <p:txBody>
          <a:bodyPr wrap="square">
            <a:spAutoFit/>
          </a:bodyPr>
          <a:lstStyle/>
          <a:p>
            <a:pPr algn="r">
              <a:defRPr sz="1100" b="1">
                <a:solidFill>
                  <a:srgbClr val="F0F2F8"/>
                </a:solidFill>
                <a:latin typeface="Calibri"/>
              </a:defRPr>
            </a:pPr>
            <a:r>
              <a:t>17%</a:t>
            </a:r>
          </a:p>
        </p:txBody>
      </p:sp>
      <p:sp>
        <p:nvSpPr>
          <p:cNvPr id="50" name="TextBox 49"/>
          <p:cNvSpPr txBox="1"/>
          <p:nvPr/>
        </p:nvSpPr>
        <p:spPr>
          <a:xfrm>
            <a:off x="10789920" y="3026664"/>
            <a:ext cx="640080" cy="310896"/>
          </a:xfrm>
          <a:prstGeom prst="rect">
            <a:avLst/>
          </a:prstGeom>
          <a:noFill/>
        </p:spPr>
        <p:txBody>
          <a:bodyPr wrap="square">
            <a:spAutoFit/>
          </a:bodyPr>
          <a:lstStyle/>
          <a:p>
            <a:pPr algn="r">
              <a:defRPr sz="1000" b="0">
                <a:solidFill>
                  <a:srgbClr val="8B95B0"/>
                </a:solidFill>
                <a:latin typeface="Calibri"/>
              </a:defRPr>
            </a:pPr>
            <a:r>
              <a:t>3,803</a:t>
            </a:r>
          </a:p>
        </p:txBody>
      </p:sp>
      <p:sp>
        <p:nvSpPr>
          <p:cNvPr id="51" name="Rounded Rectangle 50"/>
          <p:cNvSpPr/>
          <p:nvPr/>
        </p:nvSpPr>
        <p:spPr>
          <a:xfrm>
            <a:off x="8138160" y="3502152"/>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8138160" y="3502152"/>
            <a:ext cx="1301261" cy="38404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29600" y="3538728"/>
            <a:ext cx="1371600" cy="310896"/>
          </a:xfrm>
          <a:prstGeom prst="rect">
            <a:avLst/>
          </a:prstGeom>
          <a:noFill/>
        </p:spPr>
        <p:txBody>
          <a:bodyPr wrap="square">
            <a:spAutoFit/>
          </a:bodyPr>
          <a:lstStyle/>
          <a:p>
            <a:pPr algn="l">
              <a:defRPr sz="1100" b="1">
                <a:solidFill>
                  <a:srgbClr val="F0F2F8"/>
                </a:solidFill>
                <a:latin typeface="Calibri"/>
              </a:defRPr>
            </a:pPr>
            <a:r>
              <a:t>Prieten</a:t>
            </a:r>
          </a:p>
        </p:txBody>
      </p:sp>
      <p:sp>
        <p:nvSpPr>
          <p:cNvPr id="54" name="TextBox 53"/>
          <p:cNvSpPr txBox="1"/>
          <p:nvPr/>
        </p:nvSpPr>
        <p:spPr>
          <a:xfrm>
            <a:off x="10149840" y="3538728"/>
            <a:ext cx="548640" cy="310896"/>
          </a:xfrm>
          <a:prstGeom prst="rect">
            <a:avLst/>
          </a:prstGeom>
          <a:noFill/>
        </p:spPr>
        <p:txBody>
          <a:bodyPr wrap="square">
            <a:spAutoFit/>
          </a:bodyPr>
          <a:lstStyle/>
          <a:p>
            <a:pPr algn="r">
              <a:defRPr sz="1100" b="1">
                <a:solidFill>
                  <a:srgbClr val="F0F2F8"/>
                </a:solidFill>
                <a:latin typeface="Calibri"/>
              </a:defRPr>
            </a:pPr>
            <a:r>
              <a:t>10%</a:t>
            </a:r>
          </a:p>
        </p:txBody>
      </p:sp>
      <p:sp>
        <p:nvSpPr>
          <p:cNvPr id="55" name="TextBox 54"/>
          <p:cNvSpPr txBox="1"/>
          <p:nvPr/>
        </p:nvSpPr>
        <p:spPr>
          <a:xfrm>
            <a:off x="10789920" y="3538728"/>
            <a:ext cx="640080" cy="310896"/>
          </a:xfrm>
          <a:prstGeom prst="rect">
            <a:avLst/>
          </a:prstGeom>
          <a:noFill/>
        </p:spPr>
        <p:txBody>
          <a:bodyPr wrap="square">
            <a:spAutoFit/>
          </a:bodyPr>
          <a:lstStyle/>
          <a:p>
            <a:pPr algn="r">
              <a:defRPr sz="1000" b="0">
                <a:solidFill>
                  <a:srgbClr val="8B95B0"/>
                </a:solidFill>
                <a:latin typeface="Calibri"/>
              </a:defRPr>
            </a:pPr>
            <a:r>
              <a:t>2,184</a:t>
            </a:r>
          </a:p>
        </p:txBody>
      </p:sp>
      <p:sp>
        <p:nvSpPr>
          <p:cNvPr id="56" name="Rounded Rectangle 55"/>
          <p:cNvSpPr/>
          <p:nvPr/>
        </p:nvSpPr>
        <p:spPr>
          <a:xfrm>
            <a:off x="8138160" y="4014216"/>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8138160" y="4014216"/>
            <a:ext cx="1301261" cy="3840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229600" y="4050792"/>
            <a:ext cx="1371600" cy="310896"/>
          </a:xfrm>
          <a:prstGeom prst="rect">
            <a:avLst/>
          </a:prstGeom>
          <a:noFill/>
        </p:spPr>
        <p:txBody>
          <a:bodyPr wrap="square">
            <a:spAutoFit/>
          </a:bodyPr>
          <a:lstStyle/>
          <a:p>
            <a:pPr algn="l">
              <a:defRPr sz="1100" b="1">
                <a:solidFill>
                  <a:srgbClr val="F0F2F8"/>
                </a:solidFill>
                <a:latin typeface="Calibri"/>
              </a:defRPr>
            </a:pPr>
            <a:r>
              <a:t>Google</a:t>
            </a:r>
          </a:p>
        </p:txBody>
      </p:sp>
      <p:sp>
        <p:nvSpPr>
          <p:cNvPr id="59" name="TextBox 58"/>
          <p:cNvSpPr txBox="1"/>
          <p:nvPr/>
        </p:nvSpPr>
        <p:spPr>
          <a:xfrm>
            <a:off x="10149840" y="4050792"/>
            <a:ext cx="548640" cy="310896"/>
          </a:xfrm>
          <a:prstGeom prst="rect">
            <a:avLst/>
          </a:prstGeom>
          <a:noFill/>
        </p:spPr>
        <p:txBody>
          <a:bodyPr wrap="square">
            <a:spAutoFit/>
          </a:bodyPr>
          <a:lstStyle/>
          <a:p>
            <a:pPr algn="r">
              <a:defRPr sz="1100" b="1">
                <a:solidFill>
                  <a:srgbClr val="F0F2F8"/>
                </a:solidFill>
                <a:latin typeface="Calibri"/>
              </a:defRPr>
            </a:pPr>
            <a:r>
              <a:t>10%</a:t>
            </a:r>
          </a:p>
        </p:txBody>
      </p:sp>
      <p:sp>
        <p:nvSpPr>
          <p:cNvPr id="60" name="TextBox 59"/>
          <p:cNvSpPr txBox="1"/>
          <p:nvPr/>
        </p:nvSpPr>
        <p:spPr>
          <a:xfrm>
            <a:off x="10789920" y="4050792"/>
            <a:ext cx="640080" cy="310896"/>
          </a:xfrm>
          <a:prstGeom prst="rect">
            <a:avLst/>
          </a:prstGeom>
          <a:noFill/>
        </p:spPr>
        <p:txBody>
          <a:bodyPr wrap="square">
            <a:spAutoFit/>
          </a:bodyPr>
          <a:lstStyle/>
          <a:p>
            <a:pPr algn="r">
              <a:defRPr sz="1000" b="0">
                <a:solidFill>
                  <a:srgbClr val="8B95B0"/>
                </a:solidFill>
                <a:latin typeface="Calibri"/>
              </a:defRPr>
            </a:pPr>
            <a:r>
              <a:t>2,127</a:t>
            </a:r>
          </a:p>
        </p:txBody>
      </p:sp>
      <p:sp>
        <p:nvSpPr>
          <p:cNvPr id="61" name="Rounded Rectangle 60"/>
          <p:cNvSpPr/>
          <p:nvPr/>
        </p:nvSpPr>
        <p:spPr>
          <a:xfrm>
            <a:off x="8138160" y="4526280"/>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8138160" y="4526280"/>
            <a:ext cx="1171135" cy="384048"/>
          </a:xfrm>
          <a:prstGeom prst="roundRect">
            <a:avLst/>
          </a:prstGeom>
          <a:solidFill>
            <a:srgbClr val="5A63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29600" y="4562856"/>
            <a:ext cx="1371600" cy="310896"/>
          </a:xfrm>
          <a:prstGeom prst="rect">
            <a:avLst/>
          </a:prstGeom>
          <a:noFill/>
        </p:spPr>
        <p:txBody>
          <a:bodyPr wrap="square">
            <a:spAutoFit/>
          </a:bodyPr>
          <a:lstStyle/>
          <a:p>
            <a:pPr algn="l">
              <a:defRPr sz="1100" b="1">
                <a:solidFill>
                  <a:srgbClr val="F0F2F8"/>
                </a:solidFill>
                <a:latin typeface="Calibri"/>
              </a:defRPr>
            </a:pPr>
            <a:r>
              <a:t>Altfel</a:t>
            </a:r>
          </a:p>
        </p:txBody>
      </p:sp>
      <p:sp>
        <p:nvSpPr>
          <p:cNvPr id="64" name="TextBox 63"/>
          <p:cNvSpPr txBox="1"/>
          <p:nvPr/>
        </p:nvSpPr>
        <p:spPr>
          <a:xfrm>
            <a:off x="10149840" y="4562856"/>
            <a:ext cx="548640" cy="310896"/>
          </a:xfrm>
          <a:prstGeom prst="rect">
            <a:avLst/>
          </a:prstGeom>
          <a:noFill/>
        </p:spPr>
        <p:txBody>
          <a:bodyPr wrap="square">
            <a:spAutoFit/>
          </a:bodyPr>
          <a:lstStyle/>
          <a:p>
            <a:pPr algn="r">
              <a:defRPr sz="1100" b="1">
                <a:solidFill>
                  <a:srgbClr val="F0F2F8"/>
                </a:solidFill>
                <a:latin typeface="Calibri"/>
              </a:defRPr>
            </a:pPr>
            <a:r>
              <a:t>9%</a:t>
            </a:r>
          </a:p>
        </p:txBody>
      </p:sp>
      <p:sp>
        <p:nvSpPr>
          <p:cNvPr id="65" name="TextBox 64"/>
          <p:cNvSpPr txBox="1"/>
          <p:nvPr/>
        </p:nvSpPr>
        <p:spPr>
          <a:xfrm>
            <a:off x="10789920" y="4562856"/>
            <a:ext cx="640080" cy="310896"/>
          </a:xfrm>
          <a:prstGeom prst="rect">
            <a:avLst/>
          </a:prstGeom>
          <a:noFill/>
        </p:spPr>
        <p:txBody>
          <a:bodyPr wrap="square">
            <a:spAutoFit/>
          </a:bodyPr>
          <a:lstStyle/>
          <a:p>
            <a:pPr algn="r">
              <a:defRPr sz="1000" b="0">
                <a:solidFill>
                  <a:srgbClr val="8B95B0"/>
                </a:solidFill>
                <a:latin typeface="Calibri"/>
              </a:defRPr>
            </a:pPr>
            <a:r>
              <a:t>1,980</a:t>
            </a:r>
          </a:p>
        </p:txBody>
      </p:sp>
      <p:sp>
        <p:nvSpPr>
          <p:cNvPr id="66" name="Rounded Rectangle 65"/>
          <p:cNvSpPr/>
          <p:nvPr/>
        </p:nvSpPr>
        <p:spPr>
          <a:xfrm>
            <a:off x="8138160" y="5038344"/>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8138160" y="5038344"/>
            <a:ext cx="260252" cy="3840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29600" y="5074920"/>
            <a:ext cx="1371600" cy="310896"/>
          </a:xfrm>
          <a:prstGeom prst="rect">
            <a:avLst/>
          </a:prstGeom>
          <a:noFill/>
        </p:spPr>
        <p:txBody>
          <a:bodyPr wrap="square">
            <a:spAutoFit/>
          </a:bodyPr>
          <a:lstStyle/>
          <a:p>
            <a:pPr algn="l">
              <a:defRPr sz="1100" b="1">
                <a:solidFill>
                  <a:srgbClr val="F0F2F8"/>
                </a:solidFill>
                <a:latin typeface="Calibri"/>
              </a:defRPr>
            </a:pPr>
            <a:r>
              <a:t>TV</a:t>
            </a:r>
          </a:p>
        </p:txBody>
      </p:sp>
      <p:sp>
        <p:nvSpPr>
          <p:cNvPr id="69" name="TextBox 68"/>
          <p:cNvSpPr txBox="1"/>
          <p:nvPr/>
        </p:nvSpPr>
        <p:spPr>
          <a:xfrm>
            <a:off x="10149840" y="5074920"/>
            <a:ext cx="548640" cy="310896"/>
          </a:xfrm>
          <a:prstGeom prst="rect">
            <a:avLst/>
          </a:prstGeom>
          <a:noFill/>
        </p:spPr>
        <p:txBody>
          <a:bodyPr wrap="square">
            <a:spAutoFit/>
          </a:bodyPr>
          <a:lstStyle/>
          <a:p>
            <a:pPr algn="r">
              <a:defRPr sz="1100" b="1">
                <a:solidFill>
                  <a:srgbClr val="F0F2F8"/>
                </a:solidFill>
                <a:latin typeface="Calibri"/>
              </a:defRPr>
            </a:pPr>
            <a:r>
              <a:t>2%</a:t>
            </a:r>
          </a:p>
        </p:txBody>
      </p:sp>
      <p:sp>
        <p:nvSpPr>
          <p:cNvPr id="70" name="TextBox 69"/>
          <p:cNvSpPr txBox="1"/>
          <p:nvPr/>
        </p:nvSpPr>
        <p:spPr>
          <a:xfrm>
            <a:off x="10789920" y="5074920"/>
            <a:ext cx="640080" cy="310896"/>
          </a:xfrm>
          <a:prstGeom prst="rect">
            <a:avLst/>
          </a:prstGeom>
          <a:noFill/>
        </p:spPr>
        <p:txBody>
          <a:bodyPr wrap="square">
            <a:spAutoFit/>
          </a:bodyPr>
          <a:lstStyle/>
          <a:p>
            <a:pPr algn="r">
              <a:defRPr sz="1000" b="0">
                <a:solidFill>
                  <a:srgbClr val="8B95B0"/>
                </a:solidFill>
                <a:latin typeface="Calibri"/>
              </a:defRPr>
            </a:pPr>
            <a:r>
              <a:t>372</a:t>
            </a:r>
          </a:p>
        </p:txBody>
      </p:sp>
      <p:sp>
        <p:nvSpPr>
          <p:cNvPr id="71" name="Rounded Rectangle 70"/>
          <p:cNvSpPr/>
          <p:nvPr/>
        </p:nvSpPr>
        <p:spPr>
          <a:xfrm>
            <a:off x="8138160" y="5550408"/>
            <a:ext cx="338328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8138160" y="5550408"/>
            <a:ext cx="130126" cy="38404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229600" y="5586984"/>
            <a:ext cx="1371600" cy="310896"/>
          </a:xfrm>
          <a:prstGeom prst="rect">
            <a:avLst/>
          </a:prstGeom>
          <a:noFill/>
        </p:spPr>
        <p:txBody>
          <a:bodyPr wrap="square">
            <a:spAutoFit/>
          </a:bodyPr>
          <a:lstStyle/>
          <a:p>
            <a:pPr algn="l">
              <a:defRPr sz="1100" b="1">
                <a:solidFill>
                  <a:srgbClr val="F0F2F8"/>
                </a:solidFill>
                <a:latin typeface="Calibri"/>
              </a:defRPr>
            </a:pPr>
            <a:r>
              <a:t>Angajator</a:t>
            </a:r>
          </a:p>
        </p:txBody>
      </p:sp>
      <p:sp>
        <p:nvSpPr>
          <p:cNvPr id="74" name="TextBox 73"/>
          <p:cNvSpPr txBox="1"/>
          <p:nvPr/>
        </p:nvSpPr>
        <p:spPr>
          <a:xfrm>
            <a:off x="10149840" y="5586984"/>
            <a:ext cx="548640" cy="310896"/>
          </a:xfrm>
          <a:prstGeom prst="rect">
            <a:avLst/>
          </a:prstGeom>
          <a:noFill/>
        </p:spPr>
        <p:txBody>
          <a:bodyPr wrap="square">
            <a:spAutoFit/>
          </a:bodyPr>
          <a:lstStyle/>
          <a:p>
            <a:pPr algn="r">
              <a:defRPr sz="1100" b="1">
                <a:solidFill>
                  <a:srgbClr val="F0F2F8"/>
                </a:solidFill>
                <a:latin typeface="Calibri"/>
              </a:defRPr>
            </a:pPr>
            <a:r>
              <a:t>1%</a:t>
            </a:r>
          </a:p>
        </p:txBody>
      </p:sp>
      <p:sp>
        <p:nvSpPr>
          <p:cNvPr id="75" name="TextBox 74"/>
          <p:cNvSpPr txBox="1"/>
          <p:nvPr/>
        </p:nvSpPr>
        <p:spPr>
          <a:xfrm>
            <a:off x="10789920" y="5586984"/>
            <a:ext cx="640080" cy="310896"/>
          </a:xfrm>
          <a:prstGeom prst="rect">
            <a:avLst/>
          </a:prstGeom>
          <a:noFill/>
        </p:spPr>
        <p:txBody>
          <a:bodyPr wrap="square">
            <a:spAutoFit/>
          </a:bodyPr>
          <a:lstStyle/>
          <a:p>
            <a:pPr algn="r">
              <a:defRPr sz="1000" b="0">
                <a:solidFill>
                  <a:srgbClr val="8B95B0"/>
                </a:solidFill>
                <a:latin typeface="Calibri"/>
              </a:defRPr>
            </a:pPr>
            <a:r>
              <a:t>312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OBIECTIVE SĂNĂTATE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Pentru ce iau vitamine clientii?</a:t>
            </a:r>
          </a:p>
        </p:txBody>
      </p:sp>
      <p:sp>
        <p:nvSpPr>
          <p:cNvPr id="4" name="Rounded Rectangle 3"/>
          <p:cNvSpPr/>
          <p:nvPr/>
        </p:nvSpPr>
        <p:spPr>
          <a:xfrm>
            <a:off x="457200" y="1463040"/>
            <a:ext cx="5486400" cy="4937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5120640" cy="274320"/>
          </a:xfrm>
          <a:prstGeom prst="rect">
            <a:avLst/>
          </a:prstGeom>
          <a:noFill/>
        </p:spPr>
        <p:txBody>
          <a:bodyPr wrap="square">
            <a:spAutoFit/>
          </a:bodyPr>
          <a:lstStyle/>
          <a:p>
            <a:pPr algn="l">
              <a:defRPr sz="1000" b="1">
                <a:solidFill>
                  <a:srgbClr val="8B95B0"/>
                </a:solidFill>
                <a:latin typeface="Calibri"/>
              </a:defRPr>
            </a:pPr>
            <a:r>
              <a:t>OBIECTIVE DIN ALGORITM (recomandări generate)</a:t>
            </a:r>
          </a:p>
        </p:txBody>
      </p:sp>
      <p:sp>
        <p:nvSpPr>
          <p:cNvPr id="6" name="Rounded Rectangle 5"/>
          <p:cNvSpPr/>
          <p:nvPr/>
        </p:nvSpPr>
        <p:spPr>
          <a:xfrm>
            <a:off x="640080" y="1965960"/>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965960"/>
            <a:ext cx="5029200" cy="32004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84248"/>
            <a:ext cx="1828800" cy="274320"/>
          </a:xfrm>
          <a:prstGeom prst="rect">
            <a:avLst/>
          </a:prstGeom>
          <a:noFill/>
        </p:spPr>
        <p:txBody>
          <a:bodyPr wrap="square">
            <a:spAutoFit/>
          </a:bodyPr>
          <a:lstStyle/>
          <a:p>
            <a:pPr algn="l">
              <a:defRPr sz="1000" b="1">
                <a:solidFill>
                  <a:srgbClr val="F0F2F8"/>
                </a:solidFill>
                <a:latin typeface="Calibri"/>
              </a:defRPr>
            </a:pPr>
            <a:r>
              <a:t>Imunitate</a:t>
            </a:r>
          </a:p>
        </p:txBody>
      </p:sp>
      <p:sp>
        <p:nvSpPr>
          <p:cNvPr id="9" name="TextBox 8"/>
          <p:cNvSpPr txBox="1"/>
          <p:nvPr/>
        </p:nvSpPr>
        <p:spPr>
          <a:xfrm>
            <a:off x="4480560" y="1984248"/>
            <a:ext cx="1097280" cy="274320"/>
          </a:xfrm>
          <a:prstGeom prst="rect">
            <a:avLst/>
          </a:prstGeom>
          <a:noFill/>
        </p:spPr>
        <p:txBody>
          <a:bodyPr wrap="square">
            <a:spAutoFit/>
          </a:bodyPr>
          <a:lstStyle/>
          <a:p>
            <a:pPr algn="r">
              <a:defRPr sz="1000" b="0">
                <a:solidFill>
                  <a:srgbClr val="F0F2F8"/>
                </a:solidFill>
                <a:latin typeface="Calibri"/>
              </a:defRPr>
            </a:pPr>
            <a:r>
              <a:t>30,653</a:t>
            </a:r>
          </a:p>
        </p:txBody>
      </p:sp>
      <p:sp>
        <p:nvSpPr>
          <p:cNvPr id="10" name="Rounded Rectangle 9"/>
          <p:cNvSpPr/>
          <p:nvPr/>
        </p:nvSpPr>
        <p:spPr>
          <a:xfrm>
            <a:off x="640080" y="2368296"/>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 y="2368296"/>
            <a:ext cx="3923868"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386584"/>
            <a:ext cx="1828800" cy="274320"/>
          </a:xfrm>
          <a:prstGeom prst="rect">
            <a:avLst/>
          </a:prstGeom>
          <a:noFill/>
        </p:spPr>
        <p:txBody>
          <a:bodyPr wrap="square">
            <a:spAutoFit/>
          </a:bodyPr>
          <a:lstStyle/>
          <a:p>
            <a:pPr algn="l">
              <a:defRPr sz="1000" b="1">
                <a:solidFill>
                  <a:srgbClr val="F0F2F8"/>
                </a:solidFill>
                <a:latin typeface="Calibri"/>
              </a:defRPr>
            </a:pPr>
            <a:r>
              <a:t>Fitness</a:t>
            </a:r>
          </a:p>
        </p:txBody>
      </p:sp>
      <p:sp>
        <p:nvSpPr>
          <p:cNvPr id="13" name="TextBox 12"/>
          <p:cNvSpPr txBox="1"/>
          <p:nvPr/>
        </p:nvSpPr>
        <p:spPr>
          <a:xfrm>
            <a:off x="4480560" y="2386584"/>
            <a:ext cx="1097280" cy="274320"/>
          </a:xfrm>
          <a:prstGeom prst="rect">
            <a:avLst/>
          </a:prstGeom>
          <a:noFill/>
        </p:spPr>
        <p:txBody>
          <a:bodyPr wrap="square">
            <a:spAutoFit/>
          </a:bodyPr>
          <a:lstStyle/>
          <a:p>
            <a:pPr algn="r">
              <a:defRPr sz="1000" b="0">
                <a:solidFill>
                  <a:srgbClr val="F0F2F8"/>
                </a:solidFill>
                <a:latin typeface="Calibri"/>
              </a:defRPr>
            </a:pPr>
            <a:r>
              <a:t>23,916</a:t>
            </a:r>
          </a:p>
        </p:txBody>
      </p:sp>
      <p:sp>
        <p:nvSpPr>
          <p:cNvPr id="14" name="Rounded Rectangle 13"/>
          <p:cNvSpPr/>
          <p:nvPr/>
        </p:nvSpPr>
        <p:spPr>
          <a:xfrm>
            <a:off x="640080" y="2770632"/>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770632"/>
            <a:ext cx="2157504" cy="32004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2788920"/>
            <a:ext cx="1828800" cy="274320"/>
          </a:xfrm>
          <a:prstGeom prst="rect">
            <a:avLst/>
          </a:prstGeom>
          <a:noFill/>
        </p:spPr>
        <p:txBody>
          <a:bodyPr wrap="square">
            <a:spAutoFit/>
          </a:bodyPr>
          <a:lstStyle/>
          <a:p>
            <a:pPr algn="l">
              <a:defRPr sz="1000" b="1">
                <a:solidFill>
                  <a:srgbClr val="F0F2F8"/>
                </a:solidFill>
                <a:latin typeface="Calibri"/>
              </a:defRPr>
            </a:pPr>
            <a:r>
              <a:t>Somn</a:t>
            </a:r>
          </a:p>
        </p:txBody>
      </p:sp>
      <p:sp>
        <p:nvSpPr>
          <p:cNvPr id="17" name="TextBox 16"/>
          <p:cNvSpPr txBox="1"/>
          <p:nvPr/>
        </p:nvSpPr>
        <p:spPr>
          <a:xfrm>
            <a:off x="4480560" y="2788920"/>
            <a:ext cx="1097280" cy="274320"/>
          </a:xfrm>
          <a:prstGeom prst="rect">
            <a:avLst/>
          </a:prstGeom>
          <a:noFill/>
        </p:spPr>
        <p:txBody>
          <a:bodyPr wrap="square">
            <a:spAutoFit/>
          </a:bodyPr>
          <a:lstStyle/>
          <a:p>
            <a:pPr algn="r">
              <a:defRPr sz="1000" b="0">
                <a:solidFill>
                  <a:srgbClr val="F0F2F8"/>
                </a:solidFill>
                <a:latin typeface="Calibri"/>
              </a:defRPr>
            </a:pPr>
            <a:r>
              <a:t>13,150</a:t>
            </a:r>
          </a:p>
        </p:txBody>
      </p:sp>
      <p:sp>
        <p:nvSpPr>
          <p:cNvPr id="18" name="Rounded Rectangle 17"/>
          <p:cNvSpPr/>
          <p:nvPr/>
        </p:nvSpPr>
        <p:spPr>
          <a:xfrm>
            <a:off x="640080" y="3172968"/>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0080" y="3172968"/>
            <a:ext cx="1994748" cy="3200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191256"/>
            <a:ext cx="1828800" cy="274320"/>
          </a:xfrm>
          <a:prstGeom prst="rect">
            <a:avLst/>
          </a:prstGeom>
          <a:noFill/>
        </p:spPr>
        <p:txBody>
          <a:bodyPr wrap="square">
            <a:spAutoFit/>
          </a:bodyPr>
          <a:lstStyle/>
          <a:p>
            <a:pPr algn="l">
              <a:defRPr sz="1000" b="1">
                <a:solidFill>
                  <a:srgbClr val="F0F2F8"/>
                </a:solidFill>
                <a:latin typeface="Calibri"/>
              </a:defRPr>
            </a:pPr>
            <a:r>
              <a:t>Digestie</a:t>
            </a:r>
          </a:p>
        </p:txBody>
      </p:sp>
      <p:sp>
        <p:nvSpPr>
          <p:cNvPr id="21" name="TextBox 20"/>
          <p:cNvSpPr txBox="1"/>
          <p:nvPr/>
        </p:nvSpPr>
        <p:spPr>
          <a:xfrm>
            <a:off x="4480560" y="3191256"/>
            <a:ext cx="1097280" cy="274320"/>
          </a:xfrm>
          <a:prstGeom prst="rect">
            <a:avLst/>
          </a:prstGeom>
          <a:noFill/>
        </p:spPr>
        <p:txBody>
          <a:bodyPr wrap="square">
            <a:spAutoFit/>
          </a:bodyPr>
          <a:lstStyle/>
          <a:p>
            <a:pPr algn="r">
              <a:defRPr sz="1000" b="0">
                <a:solidFill>
                  <a:srgbClr val="F0F2F8"/>
                </a:solidFill>
                <a:latin typeface="Calibri"/>
              </a:defRPr>
            </a:pPr>
            <a:r>
              <a:t>12,158</a:t>
            </a:r>
          </a:p>
        </p:txBody>
      </p:sp>
      <p:sp>
        <p:nvSpPr>
          <p:cNvPr id="22" name="Rounded Rectangle 21"/>
          <p:cNvSpPr/>
          <p:nvPr/>
        </p:nvSpPr>
        <p:spPr>
          <a:xfrm>
            <a:off x="640080" y="3575304"/>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40080" y="3575304"/>
            <a:ext cx="1921737"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593592"/>
            <a:ext cx="1828800" cy="274320"/>
          </a:xfrm>
          <a:prstGeom prst="rect">
            <a:avLst/>
          </a:prstGeom>
          <a:noFill/>
        </p:spPr>
        <p:txBody>
          <a:bodyPr wrap="square">
            <a:spAutoFit/>
          </a:bodyPr>
          <a:lstStyle/>
          <a:p>
            <a:pPr algn="l">
              <a:defRPr sz="1000" b="1">
                <a:solidFill>
                  <a:srgbClr val="F0F2F8"/>
                </a:solidFill>
                <a:latin typeface="Calibri"/>
              </a:defRPr>
            </a:pPr>
            <a:r>
              <a:t>Energie</a:t>
            </a:r>
          </a:p>
        </p:txBody>
      </p:sp>
      <p:sp>
        <p:nvSpPr>
          <p:cNvPr id="25" name="TextBox 24"/>
          <p:cNvSpPr txBox="1"/>
          <p:nvPr/>
        </p:nvSpPr>
        <p:spPr>
          <a:xfrm>
            <a:off x="4480560" y="3593592"/>
            <a:ext cx="1097280" cy="274320"/>
          </a:xfrm>
          <a:prstGeom prst="rect">
            <a:avLst/>
          </a:prstGeom>
          <a:noFill/>
        </p:spPr>
        <p:txBody>
          <a:bodyPr wrap="square">
            <a:spAutoFit/>
          </a:bodyPr>
          <a:lstStyle/>
          <a:p>
            <a:pPr algn="r">
              <a:defRPr sz="1000" b="0">
                <a:solidFill>
                  <a:srgbClr val="F0F2F8"/>
                </a:solidFill>
                <a:latin typeface="Calibri"/>
              </a:defRPr>
            </a:pPr>
            <a:r>
              <a:t>11,713</a:t>
            </a:r>
          </a:p>
        </p:txBody>
      </p:sp>
      <p:sp>
        <p:nvSpPr>
          <p:cNvPr id="26" name="Rounded Rectangle 25"/>
          <p:cNvSpPr/>
          <p:nvPr/>
        </p:nvSpPr>
        <p:spPr>
          <a:xfrm>
            <a:off x="640080" y="3977639"/>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40080" y="3977639"/>
            <a:ext cx="1835929"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3995927"/>
            <a:ext cx="1828800" cy="274320"/>
          </a:xfrm>
          <a:prstGeom prst="rect">
            <a:avLst/>
          </a:prstGeom>
          <a:noFill/>
        </p:spPr>
        <p:txBody>
          <a:bodyPr wrap="square">
            <a:spAutoFit/>
          </a:bodyPr>
          <a:lstStyle/>
          <a:p>
            <a:pPr algn="l">
              <a:defRPr sz="1000" b="1">
                <a:solidFill>
                  <a:srgbClr val="F0F2F8"/>
                </a:solidFill>
                <a:latin typeface="Calibri"/>
              </a:defRPr>
            </a:pPr>
            <a:r>
              <a:t>Creier</a:t>
            </a:r>
          </a:p>
        </p:txBody>
      </p:sp>
      <p:sp>
        <p:nvSpPr>
          <p:cNvPr id="29" name="TextBox 28"/>
          <p:cNvSpPr txBox="1"/>
          <p:nvPr/>
        </p:nvSpPr>
        <p:spPr>
          <a:xfrm>
            <a:off x="4480560" y="3995927"/>
            <a:ext cx="1097280" cy="274320"/>
          </a:xfrm>
          <a:prstGeom prst="rect">
            <a:avLst/>
          </a:prstGeom>
          <a:noFill/>
        </p:spPr>
        <p:txBody>
          <a:bodyPr wrap="square">
            <a:spAutoFit/>
          </a:bodyPr>
          <a:lstStyle/>
          <a:p>
            <a:pPr algn="r">
              <a:defRPr sz="1000" b="0">
                <a:solidFill>
                  <a:srgbClr val="F0F2F8"/>
                </a:solidFill>
                <a:latin typeface="Calibri"/>
              </a:defRPr>
            </a:pPr>
            <a:r>
              <a:t>11,190</a:t>
            </a:r>
          </a:p>
        </p:txBody>
      </p:sp>
      <p:sp>
        <p:nvSpPr>
          <p:cNvPr id="30" name="Rounded Rectangle 29"/>
          <p:cNvSpPr/>
          <p:nvPr/>
        </p:nvSpPr>
        <p:spPr>
          <a:xfrm>
            <a:off x="640080" y="4379976"/>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40080" y="4379976"/>
            <a:ext cx="1795404" cy="32004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4398264"/>
            <a:ext cx="1828800" cy="274320"/>
          </a:xfrm>
          <a:prstGeom prst="rect">
            <a:avLst/>
          </a:prstGeom>
          <a:noFill/>
        </p:spPr>
        <p:txBody>
          <a:bodyPr wrap="square">
            <a:spAutoFit/>
          </a:bodyPr>
          <a:lstStyle/>
          <a:p>
            <a:pPr algn="l">
              <a:defRPr sz="1000" b="1">
                <a:solidFill>
                  <a:srgbClr val="F0F2F8"/>
                </a:solidFill>
                <a:latin typeface="Calibri"/>
              </a:defRPr>
            </a:pPr>
            <a:r>
              <a:t>Analize med.</a:t>
            </a:r>
          </a:p>
        </p:txBody>
      </p:sp>
      <p:sp>
        <p:nvSpPr>
          <p:cNvPr id="33" name="TextBox 32"/>
          <p:cNvSpPr txBox="1"/>
          <p:nvPr/>
        </p:nvSpPr>
        <p:spPr>
          <a:xfrm>
            <a:off x="4480560" y="4398264"/>
            <a:ext cx="1097280" cy="274320"/>
          </a:xfrm>
          <a:prstGeom prst="rect">
            <a:avLst/>
          </a:prstGeom>
          <a:noFill/>
        </p:spPr>
        <p:txBody>
          <a:bodyPr wrap="square">
            <a:spAutoFit/>
          </a:bodyPr>
          <a:lstStyle/>
          <a:p>
            <a:pPr algn="r">
              <a:defRPr sz="1000" b="0">
                <a:solidFill>
                  <a:srgbClr val="F0F2F8"/>
                </a:solidFill>
                <a:latin typeface="Calibri"/>
              </a:defRPr>
            </a:pPr>
            <a:r>
              <a:t>10,943</a:t>
            </a:r>
          </a:p>
        </p:txBody>
      </p:sp>
      <p:sp>
        <p:nvSpPr>
          <p:cNvPr id="34" name="Rounded Rectangle 33"/>
          <p:cNvSpPr/>
          <p:nvPr/>
        </p:nvSpPr>
        <p:spPr>
          <a:xfrm>
            <a:off x="640080" y="4782312"/>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40080" y="4782312"/>
            <a:ext cx="941426" cy="3200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800600"/>
            <a:ext cx="1828800" cy="274320"/>
          </a:xfrm>
          <a:prstGeom prst="rect">
            <a:avLst/>
          </a:prstGeom>
          <a:noFill/>
        </p:spPr>
        <p:txBody>
          <a:bodyPr wrap="square">
            <a:spAutoFit/>
          </a:bodyPr>
          <a:lstStyle/>
          <a:p>
            <a:pPr algn="l">
              <a:defRPr sz="1000" b="1">
                <a:solidFill>
                  <a:srgbClr val="F0F2F8"/>
                </a:solidFill>
                <a:latin typeface="Calibri"/>
              </a:defRPr>
            </a:pPr>
            <a:r>
              <a:t>Inimă</a:t>
            </a:r>
          </a:p>
        </p:txBody>
      </p:sp>
      <p:sp>
        <p:nvSpPr>
          <p:cNvPr id="37" name="TextBox 36"/>
          <p:cNvSpPr txBox="1"/>
          <p:nvPr/>
        </p:nvSpPr>
        <p:spPr>
          <a:xfrm>
            <a:off x="4480560" y="4800600"/>
            <a:ext cx="1097280" cy="274320"/>
          </a:xfrm>
          <a:prstGeom prst="rect">
            <a:avLst/>
          </a:prstGeom>
          <a:noFill/>
        </p:spPr>
        <p:txBody>
          <a:bodyPr wrap="square">
            <a:spAutoFit/>
          </a:bodyPr>
          <a:lstStyle/>
          <a:p>
            <a:pPr algn="r">
              <a:defRPr sz="1000" b="0">
                <a:solidFill>
                  <a:srgbClr val="F0F2F8"/>
                </a:solidFill>
                <a:latin typeface="Calibri"/>
              </a:defRPr>
            </a:pPr>
            <a:r>
              <a:t>5,738</a:t>
            </a:r>
          </a:p>
        </p:txBody>
      </p:sp>
      <p:sp>
        <p:nvSpPr>
          <p:cNvPr id="38" name="Rounded Rectangle 37"/>
          <p:cNvSpPr/>
          <p:nvPr/>
        </p:nvSpPr>
        <p:spPr>
          <a:xfrm>
            <a:off x="640080" y="5184648"/>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640080" y="5184648"/>
            <a:ext cx="928793" cy="320040"/>
          </a:xfrm>
          <a:prstGeom prst="roundRect">
            <a:avLst/>
          </a:prstGeom>
          <a:solidFill>
            <a:srgbClr val="F97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1520" y="5202936"/>
            <a:ext cx="1828800" cy="274320"/>
          </a:xfrm>
          <a:prstGeom prst="rect">
            <a:avLst/>
          </a:prstGeom>
          <a:noFill/>
        </p:spPr>
        <p:txBody>
          <a:bodyPr wrap="square">
            <a:spAutoFit/>
          </a:bodyPr>
          <a:lstStyle/>
          <a:p>
            <a:pPr algn="l">
              <a:defRPr sz="1000" b="1">
                <a:solidFill>
                  <a:srgbClr val="F0F2F8"/>
                </a:solidFill>
                <a:latin typeface="Calibri"/>
              </a:defRPr>
            </a:pPr>
            <a:r>
              <a:t>Dispoziție</a:t>
            </a:r>
          </a:p>
        </p:txBody>
      </p:sp>
      <p:sp>
        <p:nvSpPr>
          <p:cNvPr id="41" name="TextBox 40"/>
          <p:cNvSpPr txBox="1"/>
          <p:nvPr/>
        </p:nvSpPr>
        <p:spPr>
          <a:xfrm>
            <a:off x="4480560" y="5202936"/>
            <a:ext cx="1097280" cy="274320"/>
          </a:xfrm>
          <a:prstGeom prst="rect">
            <a:avLst/>
          </a:prstGeom>
          <a:noFill/>
        </p:spPr>
        <p:txBody>
          <a:bodyPr wrap="square">
            <a:spAutoFit/>
          </a:bodyPr>
          <a:lstStyle/>
          <a:p>
            <a:pPr algn="r">
              <a:defRPr sz="1000" b="0">
                <a:solidFill>
                  <a:srgbClr val="F0F2F8"/>
                </a:solidFill>
                <a:latin typeface="Calibri"/>
              </a:defRPr>
            </a:pPr>
            <a:r>
              <a:t>5,661</a:t>
            </a:r>
          </a:p>
        </p:txBody>
      </p:sp>
      <p:sp>
        <p:nvSpPr>
          <p:cNvPr id="42" name="Rounded Rectangle 41"/>
          <p:cNvSpPr/>
          <p:nvPr/>
        </p:nvSpPr>
        <p:spPr>
          <a:xfrm>
            <a:off x="640080" y="5586983"/>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40080" y="5586983"/>
            <a:ext cx="472846" cy="32004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20" y="5605271"/>
            <a:ext cx="1828800" cy="274320"/>
          </a:xfrm>
          <a:prstGeom prst="rect">
            <a:avLst/>
          </a:prstGeom>
          <a:noFill/>
        </p:spPr>
        <p:txBody>
          <a:bodyPr wrap="square">
            <a:spAutoFit/>
          </a:bodyPr>
          <a:lstStyle/>
          <a:p>
            <a:pPr algn="l">
              <a:defRPr sz="1000" b="1">
                <a:solidFill>
                  <a:srgbClr val="F0F2F8"/>
                </a:solidFill>
                <a:latin typeface="Calibri"/>
              </a:defRPr>
            </a:pPr>
            <a:r>
              <a:t>Păr/Piele/Unghii</a:t>
            </a:r>
          </a:p>
        </p:txBody>
      </p:sp>
      <p:sp>
        <p:nvSpPr>
          <p:cNvPr id="45" name="TextBox 44"/>
          <p:cNvSpPr txBox="1"/>
          <p:nvPr/>
        </p:nvSpPr>
        <p:spPr>
          <a:xfrm>
            <a:off x="4480560" y="5605271"/>
            <a:ext cx="1097280" cy="274320"/>
          </a:xfrm>
          <a:prstGeom prst="rect">
            <a:avLst/>
          </a:prstGeom>
          <a:noFill/>
        </p:spPr>
        <p:txBody>
          <a:bodyPr wrap="square">
            <a:spAutoFit/>
          </a:bodyPr>
          <a:lstStyle/>
          <a:p>
            <a:pPr algn="r">
              <a:defRPr sz="1000" b="0">
                <a:solidFill>
                  <a:srgbClr val="F0F2F8"/>
                </a:solidFill>
                <a:latin typeface="Calibri"/>
              </a:defRPr>
            </a:pPr>
            <a:r>
              <a:t>2,882</a:t>
            </a:r>
          </a:p>
        </p:txBody>
      </p:sp>
      <p:sp>
        <p:nvSpPr>
          <p:cNvPr id="46" name="Rounded Rectangle 45"/>
          <p:cNvSpPr/>
          <p:nvPr/>
        </p:nvSpPr>
        <p:spPr>
          <a:xfrm>
            <a:off x="640080" y="5989320"/>
            <a:ext cx="50292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40080" y="5989320"/>
            <a:ext cx="220344" cy="32004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 y="6007608"/>
            <a:ext cx="1828800" cy="274320"/>
          </a:xfrm>
          <a:prstGeom prst="rect">
            <a:avLst/>
          </a:prstGeom>
          <a:noFill/>
        </p:spPr>
        <p:txBody>
          <a:bodyPr wrap="square">
            <a:spAutoFit/>
          </a:bodyPr>
          <a:lstStyle/>
          <a:p>
            <a:pPr algn="l">
              <a:defRPr sz="1000" b="1">
                <a:solidFill>
                  <a:srgbClr val="F0F2F8"/>
                </a:solidFill>
                <a:latin typeface="Calibri"/>
              </a:defRPr>
            </a:pPr>
            <a:r>
              <a:t>Oase</a:t>
            </a:r>
          </a:p>
        </p:txBody>
      </p:sp>
      <p:sp>
        <p:nvSpPr>
          <p:cNvPr id="49" name="TextBox 48"/>
          <p:cNvSpPr txBox="1"/>
          <p:nvPr/>
        </p:nvSpPr>
        <p:spPr>
          <a:xfrm>
            <a:off x="4480560" y="6007608"/>
            <a:ext cx="1097280" cy="274320"/>
          </a:xfrm>
          <a:prstGeom prst="rect">
            <a:avLst/>
          </a:prstGeom>
          <a:noFill/>
        </p:spPr>
        <p:txBody>
          <a:bodyPr wrap="square">
            <a:spAutoFit/>
          </a:bodyPr>
          <a:lstStyle/>
          <a:p>
            <a:pPr algn="r">
              <a:defRPr sz="1000" b="0">
                <a:solidFill>
                  <a:srgbClr val="F0F2F8"/>
                </a:solidFill>
                <a:latin typeface="Calibri"/>
              </a:defRPr>
            </a:pPr>
            <a:r>
              <a:t>1,343</a:t>
            </a:r>
          </a:p>
        </p:txBody>
      </p:sp>
      <p:sp>
        <p:nvSpPr>
          <p:cNvPr id="50" name="Rounded Rectangle 49"/>
          <p:cNvSpPr/>
          <p:nvPr/>
        </p:nvSpPr>
        <p:spPr>
          <a:xfrm>
            <a:off x="6217920" y="1463040"/>
            <a:ext cx="5394960" cy="4937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0800" y="1554480"/>
            <a:ext cx="5029200" cy="274320"/>
          </a:xfrm>
          <a:prstGeom prst="rect">
            <a:avLst/>
          </a:prstGeom>
          <a:noFill/>
        </p:spPr>
        <p:txBody>
          <a:bodyPr wrap="square">
            <a:spAutoFit/>
          </a:bodyPr>
          <a:lstStyle/>
          <a:p>
            <a:pPr algn="l">
              <a:defRPr sz="1000" b="1">
                <a:solidFill>
                  <a:srgbClr val="8B95B0"/>
                </a:solidFill>
                <a:latin typeface="Calibri"/>
              </a:defRPr>
            </a:pPr>
            <a:r>
              <a:t>CE ÎȘI DORESC CLIENȚII? (răspuns direct la quiz)</a:t>
            </a:r>
          </a:p>
        </p:txBody>
      </p:sp>
      <p:sp>
        <p:nvSpPr>
          <p:cNvPr id="52" name="Rounded Rectangle 51"/>
          <p:cNvSpPr/>
          <p:nvPr/>
        </p:nvSpPr>
        <p:spPr>
          <a:xfrm>
            <a:off x="6400800" y="1965960"/>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400800" y="1965960"/>
            <a:ext cx="5029200" cy="38404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92240" y="2002536"/>
            <a:ext cx="2286000" cy="310896"/>
          </a:xfrm>
          <a:prstGeom prst="rect">
            <a:avLst/>
          </a:prstGeom>
          <a:noFill/>
        </p:spPr>
        <p:txBody>
          <a:bodyPr wrap="square">
            <a:spAutoFit/>
          </a:bodyPr>
          <a:lstStyle/>
          <a:p>
            <a:pPr algn="l">
              <a:defRPr sz="1200" b="1">
                <a:solidFill>
                  <a:srgbClr val="F0F2F8"/>
                </a:solidFill>
                <a:latin typeface="Calibri"/>
              </a:defRPr>
            </a:pPr>
            <a:r>
              <a:t>Energie</a:t>
            </a:r>
          </a:p>
        </p:txBody>
      </p:sp>
      <p:sp>
        <p:nvSpPr>
          <p:cNvPr id="55" name="TextBox 54"/>
          <p:cNvSpPr txBox="1"/>
          <p:nvPr/>
        </p:nvSpPr>
        <p:spPr>
          <a:xfrm>
            <a:off x="9875520" y="2002536"/>
            <a:ext cx="1463040" cy="310896"/>
          </a:xfrm>
          <a:prstGeom prst="rect">
            <a:avLst/>
          </a:prstGeom>
          <a:noFill/>
        </p:spPr>
        <p:txBody>
          <a:bodyPr wrap="square">
            <a:spAutoFit/>
          </a:bodyPr>
          <a:lstStyle/>
          <a:p>
            <a:pPr algn="r">
              <a:defRPr sz="1200" b="0">
                <a:solidFill>
                  <a:srgbClr val="F0F2F8"/>
                </a:solidFill>
                <a:latin typeface="Calibri"/>
              </a:defRPr>
            </a:pPr>
            <a:r>
              <a:t>15,056</a:t>
            </a:r>
          </a:p>
        </p:txBody>
      </p:sp>
      <p:sp>
        <p:nvSpPr>
          <p:cNvPr id="56" name="Rounded Rectangle 55"/>
          <p:cNvSpPr/>
          <p:nvPr/>
        </p:nvSpPr>
        <p:spPr>
          <a:xfrm>
            <a:off x="6400800" y="2478024"/>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6400800" y="2478024"/>
            <a:ext cx="4422596" cy="38404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92240" y="2514600"/>
            <a:ext cx="2286000" cy="310896"/>
          </a:xfrm>
          <a:prstGeom prst="rect">
            <a:avLst/>
          </a:prstGeom>
          <a:noFill/>
        </p:spPr>
        <p:txBody>
          <a:bodyPr wrap="square">
            <a:spAutoFit/>
          </a:bodyPr>
          <a:lstStyle/>
          <a:p>
            <a:pPr algn="l">
              <a:defRPr sz="1200" b="1">
                <a:solidFill>
                  <a:srgbClr val="F0F2F8"/>
                </a:solidFill>
                <a:latin typeface="Calibri"/>
              </a:defRPr>
            </a:pPr>
            <a:r>
              <a:t>Stres</a:t>
            </a:r>
          </a:p>
        </p:txBody>
      </p:sp>
      <p:sp>
        <p:nvSpPr>
          <p:cNvPr id="59" name="TextBox 58"/>
          <p:cNvSpPr txBox="1"/>
          <p:nvPr/>
        </p:nvSpPr>
        <p:spPr>
          <a:xfrm>
            <a:off x="9875520" y="2514600"/>
            <a:ext cx="1463040" cy="310896"/>
          </a:xfrm>
          <a:prstGeom prst="rect">
            <a:avLst/>
          </a:prstGeom>
          <a:noFill/>
        </p:spPr>
        <p:txBody>
          <a:bodyPr wrap="square">
            <a:spAutoFit/>
          </a:bodyPr>
          <a:lstStyle/>
          <a:p>
            <a:pPr algn="r">
              <a:defRPr sz="1200" b="0">
                <a:solidFill>
                  <a:srgbClr val="F0F2F8"/>
                </a:solidFill>
                <a:latin typeface="Calibri"/>
              </a:defRPr>
            </a:pPr>
            <a:r>
              <a:t>13,240</a:t>
            </a:r>
          </a:p>
        </p:txBody>
      </p:sp>
      <p:sp>
        <p:nvSpPr>
          <p:cNvPr id="60" name="Rounded Rectangle 59"/>
          <p:cNvSpPr/>
          <p:nvPr/>
        </p:nvSpPr>
        <p:spPr>
          <a:xfrm>
            <a:off x="6400800" y="2990088"/>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6400800" y="2990088"/>
            <a:ext cx="3943258" cy="384048"/>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92240" y="3026664"/>
            <a:ext cx="2286000" cy="310896"/>
          </a:xfrm>
          <a:prstGeom prst="rect">
            <a:avLst/>
          </a:prstGeom>
          <a:noFill/>
        </p:spPr>
        <p:txBody>
          <a:bodyPr wrap="square">
            <a:spAutoFit/>
          </a:bodyPr>
          <a:lstStyle/>
          <a:p>
            <a:pPr algn="l">
              <a:defRPr sz="1200" b="1">
                <a:solidFill>
                  <a:srgbClr val="F0F2F8"/>
                </a:solidFill>
                <a:latin typeface="Calibri"/>
              </a:defRPr>
            </a:pPr>
            <a:r>
              <a:t>Creier</a:t>
            </a:r>
          </a:p>
        </p:txBody>
      </p:sp>
      <p:sp>
        <p:nvSpPr>
          <p:cNvPr id="63" name="TextBox 62"/>
          <p:cNvSpPr txBox="1"/>
          <p:nvPr/>
        </p:nvSpPr>
        <p:spPr>
          <a:xfrm>
            <a:off x="9875520" y="3026664"/>
            <a:ext cx="1463040" cy="310896"/>
          </a:xfrm>
          <a:prstGeom prst="rect">
            <a:avLst/>
          </a:prstGeom>
          <a:noFill/>
        </p:spPr>
        <p:txBody>
          <a:bodyPr wrap="square">
            <a:spAutoFit/>
          </a:bodyPr>
          <a:lstStyle/>
          <a:p>
            <a:pPr algn="r">
              <a:defRPr sz="1200" b="0">
                <a:solidFill>
                  <a:srgbClr val="F0F2F8"/>
                </a:solidFill>
                <a:latin typeface="Calibri"/>
              </a:defRPr>
            </a:pPr>
            <a:r>
              <a:t>11,805</a:t>
            </a:r>
          </a:p>
        </p:txBody>
      </p:sp>
      <p:sp>
        <p:nvSpPr>
          <p:cNvPr id="64" name="Rounded Rectangle 63"/>
          <p:cNvSpPr/>
          <p:nvPr/>
        </p:nvSpPr>
        <p:spPr>
          <a:xfrm>
            <a:off x="6400800" y="3502152"/>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6400800" y="3502152"/>
            <a:ext cx="3836368" cy="38404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92240" y="3538728"/>
            <a:ext cx="2286000" cy="310896"/>
          </a:xfrm>
          <a:prstGeom prst="rect">
            <a:avLst/>
          </a:prstGeom>
          <a:noFill/>
        </p:spPr>
        <p:txBody>
          <a:bodyPr wrap="square">
            <a:spAutoFit/>
          </a:bodyPr>
          <a:lstStyle/>
          <a:p>
            <a:pPr algn="l">
              <a:defRPr sz="1200" b="1">
                <a:solidFill>
                  <a:srgbClr val="F0F2F8"/>
                </a:solidFill>
                <a:latin typeface="Calibri"/>
              </a:defRPr>
            </a:pPr>
            <a:r>
              <a:t>Imunitate</a:t>
            </a:r>
          </a:p>
        </p:txBody>
      </p:sp>
      <p:sp>
        <p:nvSpPr>
          <p:cNvPr id="67" name="TextBox 66"/>
          <p:cNvSpPr txBox="1"/>
          <p:nvPr/>
        </p:nvSpPr>
        <p:spPr>
          <a:xfrm>
            <a:off x="9875520" y="3538728"/>
            <a:ext cx="1463040" cy="310896"/>
          </a:xfrm>
          <a:prstGeom prst="rect">
            <a:avLst/>
          </a:prstGeom>
          <a:noFill/>
        </p:spPr>
        <p:txBody>
          <a:bodyPr wrap="square">
            <a:spAutoFit/>
          </a:bodyPr>
          <a:lstStyle/>
          <a:p>
            <a:pPr algn="r">
              <a:defRPr sz="1200" b="0">
                <a:solidFill>
                  <a:srgbClr val="F0F2F8"/>
                </a:solidFill>
                <a:latin typeface="Calibri"/>
              </a:defRPr>
            </a:pPr>
            <a:r>
              <a:t>11,485</a:t>
            </a:r>
          </a:p>
        </p:txBody>
      </p:sp>
      <p:sp>
        <p:nvSpPr>
          <p:cNvPr id="68" name="Rounded Rectangle 67"/>
          <p:cNvSpPr/>
          <p:nvPr/>
        </p:nvSpPr>
        <p:spPr>
          <a:xfrm>
            <a:off x="6400800" y="4014216"/>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6400800" y="4014216"/>
            <a:ext cx="3726137" cy="3840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92240" y="4050792"/>
            <a:ext cx="2286000" cy="310896"/>
          </a:xfrm>
          <a:prstGeom prst="rect">
            <a:avLst/>
          </a:prstGeom>
          <a:noFill/>
        </p:spPr>
        <p:txBody>
          <a:bodyPr wrap="square">
            <a:spAutoFit/>
          </a:bodyPr>
          <a:lstStyle/>
          <a:p>
            <a:pPr algn="l">
              <a:defRPr sz="1200" b="1">
                <a:solidFill>
                  <a:srgbClr val="F0F2F8"/>
                </a:solidFill>
                <a:latin typeface="Calibri"/>
              </a:defRPr>
            </a:pPr>
            <a:r>
              <a:t>Păr, Piele, Unghii</a:t>
            </a:r>
          </a:p>
        </p:txBody>
      </p:sp>
      <p:sp>
        <p:nvSpPr>
          <p:cNvPr id="71" name="TextBox 70"/>
          <p:cNvSpPr txBox="1"/>
          <p:nvPr/>
        </p:nvSpPr>
        <p:spPr>
          <a:xfrm>
            <a:off x="9875520" y="4050792"/>
            <a:ext cx="1463040" cy="310896"/>
          </a:xfrm>
          <a:prstGeom prst="rect">
            <a:avLst/>
          </a:prstGeom>
          <a:noFill/>
        </p:spPr>
        <p:txBody>
          <a:bodyPr wrap="square">
            <a:spAutoFit/>
          </a:bodyPr>
          <a:lstStyle/>
          <a:p>
            <a:pPr algn="r">
              <a:defRPr sz="1200" b="0">
                <a:solidFill>
                  <a:srgbClr val="F0F2F8"/>
                </a:solidFill>
                <a:latin typeface="Calibri"/>
              </a:defRPr>
            </a:pPr>
            <a:r>
              <a:t>11,155</a:t>
            </a:r>
          </a:p>
        </p:txBody>
      </p:sp>
      <p:sp>
        <p:nvSpPr>
          <p:cNvPr id="72" name="Rounded Rectangle 71"/>
          <p:cNvSpPr/>
          <p:nvPr/>
        </p:nvSpPr>
        <p:spPr>
          <a:xfrm>
            <a:off x="6400800" y="4526280"/>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6400800" y="4526280"/>
            <a:ext cx="3089136" cy="3840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492240" y="4562856"/>
            <a:ext cx="2286000" cy="310896"/>
          </a:xfrm>
          <a:prstGeom prst="rect">
            <a:avLst/>
          </a:prstGeom>
          <a:noFill/>
        </p:spPr>
        <p:txBody>
          <a:bodyPr wrap="square">
            <a:spAutoFit/>
          </a:bodyPr>
          <a:lstStyle/>
          <a:p>
            <a:pPr algn="l">
              <a:defRPr sz="1200" b="1">
                <a:solidFill>
                  <a:srgbClr val="F0F2F8"/>
                </a:solidFill>
                <a:latin typeface="Calibri"/>
              </a:defRPr>
            </a:pPr>
            <a:r>
              <a:t>Somn</a:t>
            </a:r>
          </a:p>
        </p:txBody>
      </p:sp>
      <p:sp>
        <p:nvSpPr>
          <p:cNvPr id="75" name="TextBox 74"/>
          <p:cNvSpPr txBox="1"/>
          <p:nvPr/>
        </p:nvSpPr>
        <p:spPr>
          <a:xfrm>
            <a:off x="9875520" y="4562856"/>
            <a:ext cx="1463040" cy="310896"/>
          </a:xfrm>
          <a:prstGeom prst="rect">
            <a:avLst/>
          </a:prstGeom>
          <a:noFill/>
        </p:spPr>
        <p:txBody>
          <a:bodyPr wrap="square">
            <a:spAutoFit/>
          </a:bodyPr>
          <a:lstStyle/>
          <a:p>
            <a:pPr algn="r">
              <a:defRPr sz="1200" b="0">
                <a:solidFill>
                  <a:srgbClr val="F0F2F8"/>
                </a:solidFill>
                <a:latin typeface="Calibri"/>
              </a:defRPr>
            </a:pPr>
            <a:r>
              <a:t>9,248</a:t>
            </a:r>
          </a:p>
        </p:txBody>
      </p:sp>
      <p:sp>
        <p:nvSpPr>
          <p:cNvPr id="76" name="Rounded Rectangle 75"/>
          <p:cNvSpPr/>
          <p:nvPr/>
        </p:nvSpPr>
        <p:spPr>
          <a:xfrm>
            <a:off x="6400800" y="5038344"/>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6400800" y="5038344"/>
            <a:ext cx="3079115" cy="3840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92240" y="5074920"/>
            <a:ext cx="2286000" cy="310896"/>
          </a:xfrm>
          <a:prstGeom prst="rect">
            <a:avLst/>
          </a:prstGeom>
          <a:noFill/>
        </p:spPr>
        <p:txBody>
          <a:bodyPr wrap="square">
            <a:spAutoFit/>
          </a:bodyPr>
          <a:lstStyle/>
          <a:p>
            <a:pPr algn="l">
              <a:defRPr sz="1200" b="1">
                <a:solidFill>
                  <a:srgbClr val="F0F2F8"/>
                </a:solidFill>
                <a:latin typeface="Calibri"/>
              </a:defRPr>
            </a:pPr>
            <a:r>
              <a:t>Dispoziție</a:t>
            </a:r>
          </a:p>
        </p:txBody>
      </p:sp>
      <p:sp>
        <p:nvSpPr>
          <p:cNvPr id="79" name="TextBox 78"/>
          <p:cNvSpPr txBox="1"/>
          <p:nvPr/>
        </p:nvSpPr>
        <p:spPr>
          <a:xfrm>
            <a:off x="9875520" y="5074920"/>
            <a:ext cx="1463040" cy="310896"/>
          </a:xfrm>
          <a:prstGeom prst="rect">
            <a:avLst/>
          </a:prstGeom>
          <a:noFill/>
        </p:spPr>
        <p:txBody>
          <a:bodyPr wrap="square">
            <a:spAutoFit/>
          </a:bodyPr>
          <a:lstStyle/>
          <a:p>
            <a:pPr algn="r">
              <a:defRPr sz="1200" b="0">
                <a:solidFill>
                  <a:srgbClr val="F0F2F8"/>
                </a:solidFill>
                <a:latin typeface="Calibri"/>
              </a:defRPr>
            </a:pPr>
            <a:r>
              <a:t>9,218</a:t>
            </a:r>
          </a:p>
        </p:txBody>
      </p:sp>
      <p:sp>
        <p:nvSpPr>
          <p:cNvPr id="80" name="Rounded Rectangle 79"/>
          <p:cNvSpPr/>
          <p:nvPr/>
        </p:nvSpPr>
        <p:spPr>
          <a:xfrm>
            <a:off x="6400800" y="5550408"/>
            <a:ext cx="5029200" cy="3840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6400800" y="5550408"/>
            <a:ext cx="2835939" cy="38404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492240" y="5586984"/>
            <a:ext cx="2286000" cy="310896"/>
          </a:xfrm>
          <a:prstGeom prst="rect">
            <a:avLst/>
          </a:prstGeom>
          <a:noFill/>
        </p:spPr>
        <p:txBody>
          <a:bodyPr wrap="square">
            <a:spAutoFit/>
          </a:bodyPr>
          <a:lstStyle/>
          <a:p>
            <a:pPr algn="l">
              <a:defRPr sz="1200" b="1">
                <a:solidFill>
                  <a:srgbClr val="F0F2F8"/>
                </a:solidFill>
                <a:latin typeface="Calibri"/>
              </a:defRPr>
            </a:pPr>
            <a:r>
              <a:t>Digestie</a:t>
            </a:r>
          </a:p>
        </p:txBody>
      </p:sp>
      <p:sp>
        <p:nvSpPr>
          <p:cNvPr id="83" name="TextBox 82"/>
          <p:cNvSpPr txBox="1"/>
          <p:nvPr/>
        </p:nvSpPr>
        <p:spPr>
          <a:xfrm>
            <a:off x="9875520" y="5586984"/>
            <a:ext cx="1463040" cy="310896"/>
          </a:xfrm>
          <a:prstGeom prst="rect">
            <a:avLst/>
          </a:prstGeom>
          <a:noFill/>
        </p:spPr>
        <p:txBody>
          <a:bodyPr wrap="square">
            <a:spAutoFit/>
          </a:bodyPr>
          <a:lstStyle/>
          <a:p>
            <a:pPr algn="r">
              <a:defRPr sz="1200" b="0">
                <a:solidFill>
                  <a:srgbClr val="F0F2F8"/>
                </a:solidFill>
                <a:latin typeface="Calibri"/>
              </a:defRPr>
            </a:pPr>
            <a:r>
              <a:t>8,490</a:t>
            </a:r>
          </a:p>
        </p:txBody>
      </p:sp>
      <p:sp>
        <p:nvSpPr>
          <p:cNvPr id="84" name="Rounded Rectangle 83"/>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40080" y="6473952"/>
            <a:ext cx="10972800" cy="274320"/>
          </a:xfrm>
          <a:prstGeom prst="rect">
            <a:avLst/>
          </a:prstGeom>
          <a:noFill/>
        </p:spPr>
        <p:txBody>
          <a:bodyPr wrap="square">
            <a:spAutoFit/>
          </a:bodyPr>
          <a:lstStyle/>
          <a:p>
            <a:pPr algn="l">
              <a:defRPr sz="1000" b="0">
                <a:solidFill>
                  <a:srgbClr val="F59E0B"/>
                </a:solidFill>
                <a:latin typeface="Calibri"/>
              </a:defRPr>
            </a:pPr>
            <a:r>
              <a:t>💡 Insight: Clienții cer Energie și Anti-Stres mai mult decât Imunitate — dar algoritmul pune Imunitatea #1 (bazat pe analize + stil de viață)</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SUPLIMENTE RECOMANDATE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Top suplimente recomandate de algoritm</a:t>
            </a:r>
          </a:p>
        </p:txBody>
      </p:sp>
      <p:sp>
        <p:nvSpPr>
          <p:cNvPr id="4" name="Rounded Rectangle 3"/>
          <p:cNvSpPr/>
          <p:nvPr/>
        </p:nvSpPr>
        <p:spPr>
          <a:xfrm>
            <a:off x="457200" y="1417320"/>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810512"/>
            <a:ext cx="5486400" cy="10972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63040"/>
            <a:ext cx="274320" cy="320040"/>
          </a:xfrm>
          <a:prstGeom prst="rect">
            <a:avLst/>
          </a:prstGeom>
          <a:noFill/>
        </p:spPr>
        <p:txBody>
          <a:bodyPr wrap="square">
            <a:spAutoFit/>
          </a:bodyPr>
          <a:lstStyle/>
          <a:p>
            <a:pPr algn="l">
              <a:defRPr sz="1000" b="1">
                <a:solidFill>
                  <a:srgbClr val="5A6380"/>
                </a:solidFill>
                <a:latin typeface="Calibri"/>
              </a:defRPr>
            </a:pPr>
            <a:r>
              <a:t>#1</a:t>
            </a:r>
          </a:p>
        </p:txBody>
      </p:sp>
      <p:sp>
        <p:nvSpPr>
          <p:cNvPr id="7" name="TextBox 6"/>
          <p:cNvSpPr txBox="1"/>
          <p:nvPr/>
        </p:nvSpPr>
        <p:spPr>
          <a:xfrm>
            <a:off x="868680" y="1463040"/>
            <a:ext cx="2743200" cy="320040"/>
          </a:xfrm>
          <a:prstGeom prst="rect">
            <a:avLst/>
          </a:prstGeom>
          <a:noFill/>
        </p:spPr>
        <p:txBody>
          <a:bodyPr wrap="square">
            <a:spAutoFit/>
          </a:bodyPr>
          <a:lstStyle/>
          <a:p>
            <a:pPr algn="l">
              <a:defRPr sz="1200" b="1">
                <a:solidFill>
                  <a:srgbClr val="F0F2F8"/>
                </a:solidFill>
                <a:latin typeface="Calibri"/>
              </a:defRPr>
            </a:pPr>
            <a:r>
              <a:t>Vitamina D3 2000 UI</a:t>
            </a:r>
          </a:p>
        </p:txBody>
      </p:sp>
      <p:sp>
        <p:nvSpPr>
          <p:cNvPr id="8" name="TextBox 7"/>
          <p:cNvSpPr txBox="1"/>
          <p:nvPr/>
        </p:nvSpPr>
        <p:spPr>
          <a:xfrm>
            <a:off x="3931920" y="1463040"/>
            <a:ext cx="914400" cy="320040"/>
          </a:xfrm>
          <a:prstGeom prst="rect">
            <a:avLst/>
          </a:prstGeom>
          <a:noFill/>
        </p:spPr>
        <p:txBody>
          <a:bodyPr wrap="square">
            <a:spAutoFit/>
          </a:bodyPr>
          <a:lstStyle/>
          <a:p>
            <a:pPr algn="r">
              <a:defRPr sz="1200" b="1">
                <a:solidFill>
                  <a:srgbClr val="6366F1"/>
                </a:solidFill>
                <a:latin typeface="Calibri"/>
              </a:defRPr>
            </a:pPr>
            <a:r>
              <a:t>19,091</a:t>
            </a:r>
          </a:p>
        </p:txBody>
      </p:sp>
      <p:sp>
        <p:nvSpPr>
          <p:cNvPr id="9" name="TextBox 8"/>
          <p:cNvSpPr txBox="1"/>
          <p:nvPr/>
        </p:nvSpPr>
        <p:spPr>
          <a:xfrm>
            <a:off x="4937760" y="1490472"/>
            <a:ext cx="1005840" cy="274320"/>
          </a:xfrm>
          <a:prstGeom prst="rect">
            <a:avLst/>
          </a:prstGeom>
          <a:noFill/>
        </p:spPr>
        <p:txBody>
          <a:bodyPr wrap="square">
            <a:spAutoFit/>
          </a:bodyPr>
          <a:lstStyle/>
          <a:p>
            <a:pPr algn="l">
              <a:defRPr sz="900" b="0">
                <a:solidFill>
                  <a:srgbClr val="8B95B0"/>
                </a:solidFill>
                <a:latin typeface="Calibri"/>
              </a:defRPr>
            </a:pPr>
            <a:r>
              <a:t>Imunitate, Oase</a:t>
            </a:r>
          </a:p>
        </p:txBody>
      </p:sp>
      <p:sp>
        <p:nvSpPr>
          <p:cNvPr id="10" name="Rounded Rectangle 9"/>
          <p:cNvSpPr/>
          <p:nvPr/>
        </p:nvSpPr>
        <p:spPr>
          <a:xfrm>
            <a:off x="457200" y="2130552"/>
            <a:ext cx="5577840" cy="5943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2523744"/>
            <a:ext cx="4598678" cy="10972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176272"/>
            <a:ext cx="274320" cy="320040"/>
          </a:xfrm>
          <a:prstGeom prst="rect">
            <a:avLst/>
          </a:prstGeom>
          <a:noFill/>
        </p:spPr>
        <p:txBody>
          <a:bodyPr wrap="square">
            <a:spAutoFit/>
          </a:bodyPr>
          <a:lstStyle/>
          <a:p>
            <a:pPr algn="l">
              <a:defRPr sz="1000" b="1">
                <a:solidFill>
                  <a:srgbClr val="5A6380"/>
                </a:solidFill>
                <a:latin typeface="Calibri"/>
              </a:defRPr>
            </a:pPr>
            <a:r>
              <a:t>#2</a:t>
            </a:r>
          </a:p>
        </p:txBody>
      </p:sp>
      <p:sp>
        <p:nvSpPr>
          <p:cNvPr id="13" name="TextBox 12"/>
          <p:cNvSpPr txBox="1"/>
          <p:nvPr/>
        </p:nvSpPr>
        <p:spPr>
          <a:xfrm>
            <a:off x="868680" y="2176272"/>
            <a:ext cx="2743200" cy="320040"/>
          </a:xfrm>
          <a:prstGeom prst="rect">
            <a:avLst/>
          </a:prstGeom>
          <a:noFill/>
        </p:spPr>
        <p:txBody>
          <a:bodyPr wrap="square">
            <a:spAutoFit/>
          </a:bodyPr>
          <a:lstStyle/>
          <a:p>
            <a:pPr algn="l">
              <a:defRPr sz="1200" b="1">
                <a:solidFill>
                  <a:srgbClr val="F0F2F8"/>
                </a:solidFill>
                <a:latin typeface="Calibri"/>
              </a:defRPr>
            </a:pPr>
            <a:r>
              <a:t>Gymnema 150mg</a:t>
            </a:r>
          </a:p>
        </p:txBody>
      </p:sp>
      <p:sp>
        <p:nvSpPr>
          <p:cNvPr id="14" name="TextBox 13"/>
          <p:cNvSpPr txBox="1"/>
          <p:nvPr/>
        </p:nvSpPr>
        <p:spPr>
          <a:xfrm>
            <a:off x="3931920" y="2176272"/>
            <a:ext cx="914400" cy="320040"/>
          </a:xfrm>
          <a:prstGeom prst="rect">
            <a:avLst/>
          </a:prstGeom>
          <a:noFill/>
        </p:spPr>
        <p:txBody>
          <a:bodyPr wrap="square">
            <a:spAutoFit/>
          </a:bodyPr>
          <a:lstStyle/>
          <a:p>
            <a:pPr algn="r">
              <a:defRPr sz="1200" b="1">
                <a:solidFill>
                  <a:srgbClr val="8B5CF6"/>
                </a:solidFill>
                <a:latin typeface="Calibri"/>
              </a:defRPr>
            </a:pPr>
            <a:r>
              <a:t>16,002</a:t>
            </a:r>
          </a:p>
        </p:txBody>
      </p:sp>
      <p:sp>
        <p:nvSpPr>
          <p:cNvPr id="15" name="TextBox 14"/>
          <p:cNvSpPr txBox="1"/>
          <p:nvPr/>
        </p:nvSpPr>
        <p:spPr>
          <a:xfrm>
            <a:off x="4937760" y="2203704"/>
            <a:ext cx="1005840" cy="274320"/>
          </a:xfrm>
          <a:prstGeom prst="rect">
            <a:avLst/>
          </a:prstGeom>
          <a:noFill/>
        </p:spPr>
        <p:txBody>
          <a:bodyPr wrap="square">
            <a:spAutoFit/>
          </a:bodyPr>
          <a:lstStyle/>
          <a:p>
            <a:pPr algn="l">
              <a:defRPr sz="900" b="0">
                <a:solidFill>
                  <a:srgbClr val="8B95B0"/>
                </a:solidFill>
                <a:latin typeface="Calibri"/>
              </a:defRPr>
            </a:pPr>
            <a:r>
              <a:t>Poftă dulce, Digestie</a:t>
            </a:r>
          </a:p>
        </p:txBody>
      </p:sp>
      <p:sp>
        <p:nvSpPr>
          <p:cNvPr id="16" name="Rounded Rectangle 15"/>
          <p:cNvSpPr/>
          <p:nvPr/>
        </p:nvSpPr>
        <p:spPr>
          <a:xfrm>
            <a:off x="457200" y="2843784"/>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2920" y="3236976"/>
            <a:ext cx="3660665" cy="109728"/>
          </a:xfrm>
          <a:prstGeom prst="roundRect">
            <a:avLst>
              <a:gd name="adj" fmla="val 30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2889504"/>
            <a:ext cx="274320" cy="320040"/>
          </a:xfrm>
          <a:prstGeom prst="rect">
            <a:avLst/>
          </a:prstGeom>
          <a:noFill/>
        </p:spPr>
        <p:txBody>
          <a:bodyPr wrap="square">
            <a:spAutoFit/>
          </a:bodyPr>
          <a:lstStyle/>
          <a:p>
            <a:pPr algn="l">
              <a:defRPr sz="1000" b="1">
                <a:solidFill>
                  <a:srgbClr val="5A6380"/>
                </a:solidFill>
                <a:latin typeface="Calibri"/>
              </a:defRPr>
            </a:pPr>
            <a:r>
              <a:t>#3</a:t>
            </a:r>
          </a:p>
        </p:txBody>
      </p:sp>
      <p:sp>
        <p:nvSpPr>
          <p:cNvPr id="19" name="TextBox 18"/>
          <p:cNvSpPr txBox="1"/>
          <p:nvPr/>
        </p:nvSpPr>
        <p:spPr>
          <a:xfrm>
            <a:off x="868680" y="2889504"/>
            <a:ext cx="2743200" cy="320040"/>
          </a:xfrm>
          <a:prstGeom prst="rect">
            <a:avLst/>
          </a:prstGeom>
          <a:noFill/>
        </p:spPr>
        <p:txBody>
          <a:bodyPr wrap="square">
            <a:spAutoFit/>
          </a:bodyPr>
          <a:lstStyle/>
          <a:p>
            <a:pPr algn="l">
              <a:defRPr sz="1200" b="1">
                <a:solidFill>
                  <a:srgbClr val="F0F2F8"/>
                </a:solidFill>
                <a:latin typeface="Calibri"/>
              </a:defRPr>
            </a:pPr>
            <a:r>
              <a:t>Ginseng Siberian 250mg</a:t>
            </a:r>
          </a:p>
        </p:txBody>
      </p:sp>
      <p:sp>
        <p:nvSpPr>
          <p:cNvPr id="20" name="TextBox 19"/>
          <p:cNvSpPr txBox="1"/>
          <p:nvPr/>
        </p:nvSpPr>
        <p:spPr>
          <a:xfrm>
            <a:off x="3931920" y="2889504"/>
            <a:ext cx="914400" cy="320040"/>
          </a:xfrm>
          <a:prstGeom prst="rect">
            <a:avLst/>
          </a:prstGeom>
          <a:noFill/>
        </p:spPr>
        <p:txBody>
          <a:bodyPr wrap="square">
            <a:spAutoFit/>
          </a:bodyPr>
          <a:lstStyle/>
          <a:p>
            <a:pPr algn="r">
              <a:defRPr sz="1200" b="1">
                <a:solidFill>
                  <a:srgbClr val="EC4899"/>
                </a:solidFill>
                <a:latin typeface="Calibri"/>
              </a:defRPr>
            </a:pPr>
            <a:r>
              <a:t>12,738</a:t>
            </a:r>
          </a:p>
        </p:txBody>
      </p:sp>
      <p:sp>
        <p:nvSpPr>
          <p:cNvPr id="21" name="TextBox 20"/>
          <p:cNvSpPr txBox="1"/>
          <p:nvPr/>
        </p:nvSpPr>
        <p:spPr>
          <a:xfrm>
            <a:off x="4937760" y="2916936"/>
            <a:ext cx="1005840" cy="274320"/>
          </a:xfrm>
          <a:prstGeom prst="rect">
            <a:avLst/>
          </a:prstGeom>
          <a:noFill/>
        </p:spPr>
        <p:txBody>
          <a:bodyPr wrap="square">
            <a:spAutoFit/>
          </a:bodyPr>
          <a:lstStyle/>
          <a:p>
            <a:pPr algn="l">
              <a:defRPr sz="900" b="0">
                <a:solidFill>
                  <a:srgbClr val="8B95B0"/>
                </a:solidFill>
                <a:latin typeface="Calibri"/>
              </a:defRPr>
            </a:pPr>
            <a:r>
              <a:t>Energie, Fitness</a:t>
            </a:r>
          </a:p>
        </p:txBody>
      </p:sp>
      <p:sp>
        <p:nvSpPr>
          <p:cNvPr id="22" name="Rounded Rectangle 21"/>
          <p:cNvSpPr/>
          <p:nvPr/>
        </p:nvSpPr>
        <p:spPr>
          <a:xfrm>
            <a:off x="457200" y="3557015"/>
            <a:ext cx="5577840" cy="5943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02920" y="3950207"/>
            <a:ext cx="3581348" cy="109728"/>
          </a:xfrm>
          <a:prstGeom prst="roundRect">
            <a:avLst>
              <a:gd name="adj" fmla="val 30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3602735"/>
            <a:ext cx="274320" cy="320040"/>
          </a:xfrm>
          <a:prstGeom prst="rect">
            <a:avLst/>
          </a:prstGeom>
          <a:noFill/>
        </p:spPr>
        <p:txBody>
          <a:bodyPr wrap="square">
            <a:spAutoFit/>
          </a:bodyPr>
          <a:lstStyle/>
          <a:p>
            <a:pPr algn="l">
              <a:defRPr sz="1000" b="1">
                <a:solidFill>
                  <a:srgbClr val="5A6380"/>
                </a:solidFill>
                <a:latin typeface="Calibri"/>
              </a:defRPr>
            </a:pPr>
            <a:r>
              <a:t>#4</a:t>
            </a:r>
          </a:p>
        </p:txBody>
      </p:sp>
      <p:sp>
        <p:nvSpPr>
          <p:cNvPr id="25" name="TextBox 24"/>
          <p:cNvSpPr txBox="1"/>
          <p:nvPr/>
        </p:nvSpPr>
        <p:spPr>
          <a:xfrm>
            <a:off x="868680" y="3602735"/>
            <a:ext cx="2743200" cy="320040"/>
          </a:xfrm>
          <a:prstGeom prst="rect">
            <a:avLst/>
          </a:prstGeom>
          <a:noFill/>
        </p:spPr>
        <p:txBody>
          <a:bodyPr wrap="square">
            <a:spAutoFit/>
          </a:bodyPr>
          <a:lstStyle/>
          <a:p>
            <a:pPr algn="l">
              <a:defRPr sz="1200" b="1">
                <a:solidFill>
                  <a:srgbClr val="F0F2F8"/>
                </a:solidFill>
                <a:latin typeface="Calibri"/>
              </a:defRPr>
            </a:pPr>
            <a:r>
              <a:t>Omega-3</a:t>
            </a:r>
          </a:p>
        </p:txBody>
      </p:sp>
      <p:sp>
        <p:nvSpPr>
          <p:cNvPr id="26" name="TextBox 25"/>
          <p:cNvSpPr txBox="1"/>
          <p:nvPr/>
        </p:nvSpPr>
        <p:spPr>
          <a:xfrm>
            <a:off x="3931920" y="3602735"/>
            <a:ext cx="914400" cy="320040"/>
          </a:xfrm>
          <a:prstGeom prst="rect">
            <a:avLst/>
          </a:prstGeom>
          <a:noFill/>
        </p:spPr>
        <p:txBody>
          <a:bodyPr wrap="square">
            <a:spAutoFit/>
          </a:bodyPr>
          <a:lstStyle/>
          <a:p>
            <a:pPr algn="r">
              <a:defRPr sz="1200" b="1">
                <a:solidFill>
                  <a:srgbClr val="14B8A6"/>
                </a:solidFill>
                <a:latin typeface="Calibri"/>
              </a:defRPr>
            </a:pPr>
            <a:r>
              <a:t>12,462</a:t>
            </a:r>
          </a:p>
        </p:txBody>
      </p:sp>
      <p:sp>
        <p:nvSpPr>
          <p:cNvPr id="27" name="TextBox 26"/>
          <p:cNvSpPr txBox="1"/>
          <p:nvPr/>
        </p:nvSpPr>
        <p:spPr>
          <a:xfrm>
            <a:off x="4937760" y="3630168"/>
            <a:ext cx="1005840" cy="274320"/>
          </a:xfrm>
          <a:prstGeom prst="rect">
            <a:avLst/>
          </a:prstGeom>
          <a:noFill/>
        </p:spPr>
        <p:txBody>
          <a:bodyPr wrap="square">
            <a:spAutoFit/>
          </a:bodyPr>
          <a:lstStyle/>
          <a:p>
            <a:pPr algn="l">
              <a:defRPr sz="900" b="0">
                <a:solidFill>
                  <a:srgbClr val="8B95B0"/>
                </a:solidFill>
                <a:latin typeface="Calibri"/>
              </a:defRPr>
            </a:pPr>
            <a:r>
              <a:t>Inimă, Creier</a:t>
            </a:r>
          </a:p>
        </p:txBody>
      </p:sp>
      <p:sp>
        <p:nvSpPr>
          <p:cNvPr id="28" name="Rounded Rectangle 27"/>
          <p:cNvSpPr/>
          <p:nvPr/>
        </p:nvSpPr>
        <p:spPr>
          <a:xfrm>
            <a:off x="457200" y="4270248"/>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02920" y="4663440"/>
            <a:ext cx="3214649" cy="109728"/>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4315968"/>
            <a:ext cx="274320" cy="320040"/>
          </a:xfrm>
          <a:prstGeom prst="rect">
            <a:avLst/>
          </a:prstGeom>
          <a:noFill/>
        </p:spPr>
        <p:txBody>
          <a:bodyPr wrap="square">
            <a:spAutoFit/>
          </a:bodyPr>
          <a:lstStyle/>
          <a:p>
            <a:pPr algn="l">
              <a:defRPr sz="1000" b="1">
                <a:solidFill>
                  <a:srgbClr val="5A6380"/>
                </a:solidFill>
                <a:latin typeface="Calibri"/>
              </a:defRPr>
            </a:pPr>
            <a:r>
              <a:t>#5</a:t>
            </a:r>
          </a:p>
        </p:txBody>
      </p:sp>
      <p:sp>
        <p:nvSpPr>
          <p:cNvPr id="31" name="TextBox 30"/>
          <p:cNvSpPr txBox="1"/>
          <p:nvPr/>
        </p:nvSpPr>
        <p:spPr>
          <a:xfrm>
            <a:off x="868680" y="4315968"/>
            <a:ext cx="2743200" cy="320040"/>
          </a:xfrm>
          <a:prstGeom prst="rect">
            <a:avLst/>
          </a:prstGeom>
          <a:noFill/>
        </p:spPr>
        <p:txBody>
          <a:bodyPr wrap="square">
            <a:spAutoFit/>
          </a:bodyPr>
          <a:lstStyle/>
          <a:p>
            <a:pPr algn="l">
              <a:defRPr sz="1200" b="1">
                <a:solidFill>
                  <a:srgbClr val="F0F2F8"/>
                </a:solidFill>
                <a:latin typeface="Calibri"/>
              </a:defRPr>
            </a:pPr>
            <a:r>
              <a:t>Bacopa 350mg</a:t>
            </a:r>
          </a:p>
        </p:txBody>
      </p:sp>
      <p:sp>
        <p:nvSpPr>
          <p:cNvPr id="32" name="TextBox 31"/>
          <p:cNvSpPr txBox="1"/>
          <p:nvPr/>
        </p:nvSpPr>
        <p:spPr>
          <a:xfrm>
            <a:off x="3931920" y="4315968"/>
            <a:ext cx="914400" cy="320040"/>
          </a:xfrm>
          <a:prstGeom prst="rect">
            <a:avLst/>
          </a:prstGeom>
          <a:noFill/>
        </p:spPr>
        <p:txBody>
          <a:bodyPr wrap="square">
            <a:spAutoFit/>
          </a:bodyPr>
          <a:lstStyle/>
          <a:p>
            <a:pPr algn="r">
              <a:defRPr sz="1200" b="1">
                <a:solidFill>
                  <a:srgbClr val="F59E0B"/>
                </a:solidFill>
                <a:latin typeface="Calibri"/>
              </a:defRPr>
            </a:pPr>
            <a:r>
              <a:t>11,186</a:t>
            </a:r>
          </a:p>
        </p:txBody>
      </p:sp>
      <p:sp>
        <p:nvSpPr>
          <p:cNvPr id="33" name="TextBox 32"/>
          <p:cNvSpPr txBox="1"/>
          <p:nvPr/>
        </p:nvSpPr>
        <p:spPr>
          <a:xfrm>
            <a:off x="4937760" y="4343400"/>
            <a:ext cx="1005840" cy="274320"/>
          </a:xfrm>
          <a:prstGeom prst="rect">
            <a:avLst/>
          </a:prstGeom>
          <a:noFill/>
        </p:spPr>
        <p:txBody>
          <a:bodyPr wrap="square">
            <a:spAutoFit/>
          </a:bodyPr>
          <a:lstStyle/>
          <a:p>
            <a:pPr algn="l">
              <a:defRPr sz="900" b="0">
                <a:solidFill>
                  <a:srgbClr val="8B95B0"/>
                </a:solidFill>
                <a:latin typeface="Calibri"/>
              </a:defRPr>
            </a:pPr>
            <a:r>
              <a:t>Creier, Focus</a:t>
            </a:r>
          </a:p>
        </p:txBody>
      </p:sp>
      <p:sp>
        <p:nvSpPr>
          <p:cNvPr id="34" name="Rounded Rectangle 33"/>
          <p:cNvSpPr/>
          <p:nvPr/>
        </p:nvSpPr>
        <p:spPr>
          <a:xfrm>
            <a:off x="457200" y="4983480"/>
            <a:ext cx="5577840" cy="5943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02920" y="5376672"/>
            <a:ext cx="2867779" cy="109728"/>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5029200"/>
            <a:ext cx="274320" cy="320040"/>
          </a:xfrm>
          <a:prstGeom prst="rect">
            <a:avLst/>
          </a:prstGeom>
          <a:noFill/>
        </p:spPr>
        <p:txBody>
          <a:bodyPr wrap="square">
            <a:spAutoFit/>
          </a:bodyPr>
          <a:lstStyle/>
          <a:p>
            <a:pPr algn="l">
              <a:defRPr sz="1000" b="1">
                <a:solidFill>
                  <a:srgbClr val="5A6380"/>
                </a:solidFill>
                <a:latin typeface="Calibri"/>
              </a:defRPr>
            </a:pPr>
            <a:r>
              <a:t>#6</a:t>
            </a:r>
          </a:p>
        </p:txBody>
      </p:sp>
      <p:sp>
        <p:nvSpPr>
          <p:cNvPr id="37" name="TextBox 36"/>
          <p:cNvSpPr txBox="1"/>
          <p:nvPr/>
        </p:nvSpPr>
        <p:spPr>
          <a:xfrm>
            <a:off x="868680" y="5029200"/>
            <a:ext cx="2743200" cy="320040"/>
          </a:xfrm>
          <a:prstGeom prst="rect">
            <a:avLst/>
          </a:prstGeom>
          <a:noFill/>
        </p:spPr>
        <p:txBody>
          <a:bodyPr wrap="square">
            <a:spAutoFit/>
          </a:bodyPr>
          <a:lstStyle/>
          <a:p>
            <a:pPr algn="l">
              <a:defRPr sz="1200" b="1">
                <a:solidFill>
                  <a:srgbClr val="F0F2F8"/>
                </a:solidFill>
                <a:latin typeface="Calibri"/>
              </a:defRPr>
            </a:pPr>
            <a:r>
              <a:t>Vitamina C 1000mg</a:t>
            </a:r>
          </a:p>
        </p:txBody>
      </p:sp>
      <p:sp>
        <p:nvSpPr>
          <p:cNvPr id="38" name="TextBox 37"/>
          <p:cNvSpPr txBox="1"/>
          <p:nvPr/>
        </p:nvSpPr>
        <p:spPr>
          <a:xfrm>
            <a:off x="3931920" y="5029200"/>
            <a:ext cx="914400" cy="320040"/>
          </a:xfrm>
          <a:prstGeom prst="rect">
            <a:avLst/>
          </a:prstGeom>
          <a:noFill/>
        </p:spPr>
        <p:txBody>
          <a:bodyPr wrap="square">
            <a:spAutoFit/>
          </a:bodyPr>
          <a:lstStyle/>
          <a:p>
            <a:pPr algn="r">
              <a:defRPr sz="1200" b="1">
                <a:solidFill>
                  <a:srgbClr val="10B981"/>
                </a:solidFill>
                <a:latin typeface="Calibri"/>
              </a:defRPr>
            </a:pPr>
            <a:r>
              <a:t>9,979</a:t>
            </a:r>
          </a:p>
        </p:txBody>
      </p:sp>
      <p:sp>
        <p:nvSpPr>
          <p:cNvPr id="39" name="TextBox 38"/>
          <p:cNvSpPr txBox="1"/>
          <p:nvPr/>
        </p:nvSpPr>
        <p:spPr>
          <a:xfrm>
            <a:off x="4937760" y="5056632"/>
            <a:ext cx="1005840" cy="274320"/>
          </a:xfrm>
          <a:prstGeom prst="rect">
            <a:avLst/>
          </a:prstGeom>
          <a:noFill/>
        </p:spPr>
        <p:txBody>
          <a:bodyPr wrap="square">
            <a:spAutoFit/>
          </a:bodyPr>
          <a:lstStyle/>
          <a:p>
            <a:pPr algn="l">
              <a:defRPr sz="900" b="0">
                <a:solidFill>
                  <a:srgbClr val="8B95B0"/>
                </a:solidFill>
                <a:latin typeface="Calibri"/>
              </a:defRPr>
            </a:pPr>
            <a:r>
              <a:t>Imunitate</a:t>
            </a:r>
          </a:p>
        </p:txBody>
      </p:sp>
      <p:sp>
        <p:nvSpPr>
          <p:cNvPr id="40" name="Rounded Rectangle 39"/>
          <p:cNvSpPr/>
          <p:nvPr/>
        </p:nvSpPr>
        <p:spPr>
          <a:xfrm>
            <a:off x="457200" y="5696712"/>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02920" y="6089903"/>
            <a:ext cx="2161108" cy="109728"/>
          </a:xfrm>
          <a:prstGeom prst="roundRect">
            <a:avLst>
              <a:gd name="adj" fmla="val 3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5742431"/>
            <a:ext cx="274320" cy="320040"/>
          </a:xfrm>
          <a:prstGeom prst="rect">
            <a:avLst/>
          </a:prstGeom>
          <a:noFill/>
        </p:spPr>
        <p:txBody>
          <a:bodyPr wrap="square">
            <a:spAutoFit/>
          </a:bodyPr>
          <a:lstStyle/>
          <a:p>
            <a:pPr algn="l">
              <a:defRPr sz="1000" b="1">
                <a:solidFill>
                  <a:srgbClr val="5A6380"/>
                </a:solidFill>
                <a:latin typeface="Calibri"/>
              </a:defRPr>
            </a:pPr>
            <a:r>
              <a:t>#7</a:t>
            </a:r>
          </a:p>
        </p:txBody>
      </p:sp>
      <p:sp>
        <p:nvSpPr>
          <p:cNvPr id="43" name="TextBox 42"/>
          <p:cNvSpPr txBox="1"/>
          <p:nvPr/>
        </p:nvSpPr>
        <p:spPr>
          <a:xfrm>
            <a:off x="868680" y="5742431"/>
            <a:ext cx="2743200" cy="320040"/>
          </a:xfrm>
          <a:prstGeom prst="rect">
            <a:avLst/>
          </a:prstGeom>
          <a:noFill/>
        </p:spPr>
        <p:txBody>
          <a:bodyPr wrap="square">
            <a:spAutoFit/>
          </a:bodyPr>
          <a:lstStyle/>
          <a:p>
            <a:pPr algn="l">
              <a:defRPr sz="1200" b="1">
                <a:solidFill>
                  <a:srgbClr val="F0F2F8"/>
                </a:solidFill>
                <a:latin typeface="Calibri"/>
              </a:defRPr>
            </a:pPr>
            <a:r>
              <a:t>Cărbune+ 329mg</a:t>
            </a:r>
          </a:p>
        </p:txBody>
      </p:sp>
      <p:sp>
        <p:nvSpPr>
          <p:cNvPr id="44" name="TextBox 43"/>
          <p:cNvSpPr txBox="1"/>
          <p:nvPr/>
        </p:nvSpPr>
        <p:spPr>
          <a:xfrm>
            <a:off x="3931920" y="5742431"/>
            <a:ext cx="914400" cy="320040"/>
          </a:xfrm>
          <a:prstGeom prst="rect">
            <a:avLst/>
          </a:prstGeom>
          <a:noFill/>
        </p:spPr>
        <p:txBody>
          <a:bodyPr wrap="square">
            <a:spAutoFit/>
          </a:bodyPr>
          <a:lstStyle/>
          <a:p>
            <a:pPr algn="r">
              <a:defRPr sz="1200" b="1">
                <a:solidFill>
                  <a:srgbClr val="EF4444"/>
                </a:solidFill>
                <a:latin typeface="Calibri"/>
              </a:defRPr>
            </a:pPr>
            <a:r>
              <a:t>7,520</a:t>
            </a:r>
          </a:p>
        </p:txBody>
      </p:sp>
      <p:sp>
        <p:nvSpPr>
          <p:cNvPr id="45" name="TextBox 44"/>
          <p:cNvSpPr txBox="1"/>
          <p:nvPr/>
        </p:nvSpPr>
        <p:spPr>
          <a:xfrm>
            <a:off x="4937760" y="5769864"/>
            <a:ext cx="1005840" cy="274320"/>
          </a:xfrm>
          <a:prstGeom prst="rect">
            <a:avLst/>
          </a:prstGeom>
          <a:noFill/>
        </p:spPr>
        <p:txBody>
          <a:bodyPr wrap="square">
            <a:spAutoFit/>
          </a:bodyPr>
          <a:lstStyle/>
          <a:p>
            <a:pPr algn="l">
              <a:defRPr sz="900" b="0">
                <a:solidFill>
                  <a:srgbClr val="8B95B0"/>
                </a:solidFill>
                <a:latin typeface="Calibri"/>
              </a:defRPr>
            </a:pPr>
            <a:r>
              <a:t>Digestie, Detox</a:t>
            </a:r>
          </a:p>
        </p:txBody>
      </p:sp>
      <p:sp>
        <p:nvSpPr>
          <p:cNvPr id="46" name="Rounded Rectangle 45"/>
          <p:cNvSpPr/>
          <p:nvPr/>
        </p:nvSpPr>
        <p:spPr>
          <a:xfrm>
            <a:off x="6309360" y="1417320"/>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355080" y="1810512"/>
            <a:ext cx="2029200" cy="109728"/>
          </a:xfrm>
          <a:prstGeom prst="roundRect">
            <a:avLst>
              <a:gd name="adj" fmla="val 30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0" y="1463040"/>
            <a:ext cx="274320" cy="320040"/>
          </a:xfrm>
          <a:prstGeom prst="rect">
            <a:avLst/>
          </a:prstGeom>
          <a:noFill/>
        </p:spPr>
        <p:txBody>
          <a:bodyPr wrap="square">
            <a:spAutoFit/>
          </a:bodyPr>
          <a:lstStyle/>
          <a:p>
            <a:pPr algn="l">
              <a:defRPr sz="1000" b="1">
                <a:solidFill>
                  <a:srgbClr val="5A6380"/>
                </a:solidFill>
                <a:latin typeface="Calibri"/>
              </a:defRPr>
            </a:pPr>
            <a:r>
              <a:t>#8</a:t>
            </a:r>
          </a:p>
        </p:txBody>
      </p:sp>
      <p:sp>
        <p:nvSpPr>
          <p:cNvPr id="49" name="TextBox 48"/>
          <p:cNvSpPr txBox="1"/>
          <p:nvPr/>
        </p:nvSpPr>
        <p:spPr>
          <a:xfrm>
            <a:off x="6720840" y="1463040"/>
            <a:ext cx="2743200" cy="320040"/>
          </a:xfrm>
          <a:prstGeom prst="rect">
            <a:avLst/>
          </a:prstGeom>
          <a:noFill/>
        </p:spPr>
        <p:txBody>
          <a:bodyPr wrap="square">
            <a:spAutoFit/>
          </a:bodyPr>
          <a:lstStyle/>
          <a:p>
            <a:pPr algn="l">
              <a:defRPr sz="1200" b="1">
                <a:solidFill>
                  <a:srgbClr val="F0F2F8"/>
                </a:solidFill>
                <a:latin typeface="Calibri"/>
              </a:defRPr>
            </a:pPr>
            <a:r>
              <a:t>Melatonină 3mg</a:t>
            </a:r>
          </a:p>
        </p:txBody>
      </p:sp>
      <p:sp>
        <p:nvSpPr>
          <p:cNvPr id="50" name="TextBox 49"/>
          <p:cNvSpPr txBox="1"/>
          <p:nvPr/>
        </p:nvSpPr>
        <p:spPr>
          <a:xfrm>
            <a:off x="9784080" y="1463040"/>
            <a:ext cx="914400" cy="320040"/>
          </a:xfrm>
          <a:prstGeom prst="rect">
            <a:avLst/>
          </a:prstGeom>
          <a:noFill/>
        </p:spPr>
        <p:txBody>
          <a:bodyPr wrap="square">
            <a:spAutoFit/>
          </a:bodyPr>
          <a:lstStyle/>
          <a:p>
            <a:pPr algn="r">
              <a:defRPr sz="1200" b="1">
                <a:solidFill>
                  <a:srgbClr val="06B6D4"/>
                </a:solidFill>
                <a:latin typeface="Calibri"/>
              </a:defRPr>
            </a:pPr>
            <a:r>
              <a:t>7,061</a:t>
            </a:r>
          </a:p>
        </p:txBody>
      </p:sp>
      <p:sp>
        <p:nvSpPr>
          <p:cNvPr id="51" name="TextBox 50"/>
          <p:cNvSpPr txBox="1"/>
          <p:nvPr/>
        </p:nvSpPr>
        <p:spPr>
          <a:xfrm>
            <a:off x="10789920" y="1490472"/>
            <a:ext cx="1005840" cy="274320"/>
          </a:xfrm>
          <a:prstGeom prst="rect">
            <a:avLst/>
          </a:prstGeom>
          <a:noFill/>
        </p:spPr>
        <p:txBody>
          <a:bodyPr wrap="square">
            <a:spAutoFit/>
          </a:bodyPr>
          <a:lstStyle/>
          <a:p>
            <a:pPr algn="l">
              <a:defRPr sz="900" b="0">
                <a:solidFill>
                  <a:srgbClr val="8B95B0"/>
                </a:solidFill>
                <a:latin typeface="Calibri"/>
              </a:defRPr>
            </a:pPr>
            <a:r>
              <a:t>Somn</a:t>
            </a:r>
          </a:p>
        </p:txBody>
      </p:sp>
      <p:sp>
        <p:nvSpPr>
          <p:cNvPr id="52" name="Rounded Rectangle 51"/>
          <p:cNvSpPr/>
          <p:nvPr/>
        </p:nvSpPr>
        <p:spPr>
          <a:xfrm>
            <a:off x="6309360" y="2130552"/>
            <a:ext cx="5577840" cy="5943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355080" y="2523744"/>
            <a:ext cx="1501855" cy="109728"/>
          </a:xfrm>
          <a:prstGeom prst="roundRect">
            <a:avLst>
              <a:gd name="adj" fmla="val 30000"/>
            </a:avLst>
          </a:prstGeom>
          <a:solidFill>
            <a:srgbClr val="F97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0" y="2176272"/>
            <a:ext cx="274320" cy="320040"/>
          </a:xfrm>
          <a:prstGeom prst="rect">
            <a:avLst/>
          </a:prstGeom>
          <a:noFill/>
        </p:spPr>
        <p:txBody>
          <a:bodyPr wrap="square">
            <a:spAutoFit/>
          </a:bodyPr>
          <a:lstStyle/>
          <a:p>
            <a:pPr algn="l">
              <a:defRPr sz="1000" b="1">
                <a:solidFill>
                  <a:srgbClr val="5A6380"/>
                </a:solidFill>
                <a:latin typeface="Calibri"/>
              </a:defRPr>
            </a:pPr>
            <a:r>
              <a:t>#9</a:t>
            </a:r>
          </a:p>
        </p:txBody>
      </p:sp>
      <p:sp>
        <p:nvSpPr>
          <p:cNvPr id="55" name="TextBox 54"/>
          <p:cNvSpPr txBox="1"/>
          <p:nvPr/>
        </p:nvSpPr>
        <p:spPr>
          <a:xfrm>
            <a:off x="6720840" y="2176272"/>
            <a:ext cx="2743200" cy="320040"/>
          </a:xfrm>
          <a:prstGeom prst="rect">
            <a:avLst/>
          </a:prstGeom>
          <a:noFill/>
        </p:spPr>
        <p:txBody>
          <a:bodyPr wrap="square">
            <a:spAutoFit/>
          </a:bodyPr>
          <a:lstStyle/>
          <a:p>
            <a:pPr algn="l">
              <a:defRPr sz="1200" b="1">
                <a:solidFill>
                  <a:srgbClr val="F0F2F8"/>
                </a:solidFill>
                <a:latin typeface="Calibri"/>
              </a:defRPr>
            </a:pPr>
            <a:r>
              <a:t>Astaxanthin 6mg</a:t>
            </a:r>
          </a:p>
        </p:txBody>
      </p:sp>
      <p:sp>
        <p:nvSpPr>
          <p:cNvPr id="56" name="TextBox 55"/>
          <p:cNvSpPr txBox="1"/>
          <p:nvPr/>
        </p:nvSpPr>
        <p:spPr>
          <a:xfrm>
            <a:off x="9784080" y="2176272"/>
            <a:ext cx="914400" cy="320040"/>
          </a:xfrm>
          <a:prstGeom prst="rect">
            <a:avLst/>
          </a:prstGeom>
          <a:noFill/>
        </p:spPr>
        <p:txBody>
          <a:bodyPr wrap="square">
            <a:spAutoFit/>
          </a:bodyPr>
          <a:lstStyle/>
          <a:p>
            <a:pPr algn="r">
              <a:defRPr sz="1200" b="1">
                <a:solidFill>
                  <a:srgbClr val="F97E16"/>
                </a:solidFill>
                <a:latin typeface="Calibri"/>
              </a:defRPr>
            </a:pPr>
            <a:r>
              <a:t>5,226</a:t>
            </a:r>
          </a:p>
        </p:txBody>
      </p:sp>
      <p:sp>
        <p:nvSpPr>
          <p:cNvPr id="57" name="TextBox 56"/>
          <p:cNvSpPr txBox="1"/>
          <p:nvPr/>
        </p:nvSpPr>
        <p:spPr>
          <a:xfrm>
            <a:off x="10789920" y="2203704"/>
            <a:ext cx="1005840" cy="274320"/>
          </a:xfrm>
          <a:prstGeom prst="rect">
            <a:avLst/>
          </a:prstGeom>
          <a:noFill/>
        </p:spPr>
        <p:txBody>
          <a:bodyPr wrap="square">
            <a:spAutoFit/>
          </a:bodyPr>
          <a:lstStyle/>
          <a:p>
            <a:pPr algn="l">
              <a:defRPr sz="900" b="0">
                <a:solidFill>
                  <a:srgbClr val="8B95B0"/>
                </a:solidFill>
                <a:latin typeface="Calibri"/>
              </a:defRPr>
            </a:pPr>
            <a:r>
              <a:t>Antioxidant, Fitness</a:t>
            </a:r>
          </a:p>
        </p:txBody>
      </p:sp>
      <p:sp>
        <p:nvSpPr>
          <p:cNvPr id="58" name="Rounded Rectangle 57"/>
          <p:cNvSpPr/>
          <p:nvPr/>
        </p:nvSpPr>
        <p:spPr>
          <a:xfrm>
            <a:off x="6309360" y="2843784"/>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355080" y="3236976"/>
            <a:ext cx="1352417" cy="109728"/>
          </a:xfrm>
          <a:prstGeom prst="roundRect">
            <a:avLst>
              <a:gd name="adj" fmla="val 30000"/>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0" y="2889504"/>
            <a:ext cx="274320" cy="320040"/>
          </a:xfrm>
          <a:prstGeom prst="rect">
            <a:avLst/>
          </a:prstGeom>
          <a:noFill/>
        </p:spPr>
        <p:txBody>
          <a:bodyPr wrap="square">
            <a:spAutoFit/>
          </a:bodyPr>
          <a:lstStyle/>
          <a:p>
            <a:pPr algn="l">
              <a:defRPr sz="1000" b="1">
                <a:solidFill>
                  <a:srgbClr val="5A6380"/>
                </a:solidFill>
                <a:latin typeface="Calibri"/>
              </a:defRPr>
            </a:pPr>
            <a:r>
              <a:t>#10</a:t>
            </a:r>
          </a:p>
        </p:txBody>
      </p:sp>
      <p:sp>
        <p:nvSpPr>
          <p:cNvPr id="61" name="TextBox 60"/>
          <p:cNvSpPr txBox="1"/>
          <p:nvPr/>
        </p:nvSpPr>
        <p:spPr>
          <a:xfrm>
            <a:off x="6720840" y="2889504"/>
            <a:ext cx="2743200" cy="320040"/>
          </a:xfrm>
          <a:prstGeom prst="rect">
            <a:avLst/>
          </a:prstGeom>
          <a:noFill/>
        </p:spPr>
        <p:txBody>
          <a:bodyPr wrap="square">
            <a:spAutoFit/>
          </a:bodyPr>
          <a:lstStyle/>
          <a:p>
            <a:pPr algn="l">
              <a:defRPr sz="1200" b="1">
                <a:solidFill>
                  <a:srgbClr val="F0F2F8"/>
                </a:solidFill>
                <a:latin typeface="Calibri"/>
              </a:defRPr>
            </a:pPr>
            <a:r>
              <a:t>Magneziu Bisglicinat</a:t>
            </a:r>
          </a:p>
        </p:txBody>
      </p:sp>
      <p:sp>
        <p:nvSpPr>
          <p:cNvPr id="62" name="TextBox 61"/>
          <p:cNvSpPr txBox="1"/>
          <p:nvPr/>
        </p:nvSpPr>
        <p:spPr>
          <a:xfrm>
            <a:off x="9784080" y="2889504"/>
            <a:ext cx="914400" cy="320040"/>
          </a:xfrm>
          <a:prstGeom prst="rect">
            <a:avLst/>
          </a:prstGeom>
          <a:noFill/>
        </p:spPr>
        <p:txBody>
          <a:bodyPr wrap="square">
            <a:spAutoFit/>
          </a:bodyPr>
          <a:lstStyle/>
          <a:p>
            <a:pPr algn="r">
              <a:defRPr sz="1200" b="1">
                <a:solidFill>
                  <a:srgbClr val="A855F7"/>
                </a:solidFill>
                <a:latin typeface="Calibri"/>
              </a:defRPr>
            </a:pPr>
            <a:r>
              <a:t>4,706</a:t>
            </a:r>
          </a:p>
        </p:txBody>
      </p:sp>
      <p:sp>
        <p:nvSpPr>
          <p:cNvPr id="63" name="TextBox 62"/>
          <p:cNvSpPr txBox="1"/>
          <p:nvPr/>
        </p:nvSpPr>
        <p:spPr>
          <a:xfrm>
            <a:off x="10789920" y="2916936"/>
            <a:ext cx="1005840" cy="274320"/>
          </a:xfrm>
          <a:prstGeom prst="rect">
            <a:avLst/>
          </a:prstGeom>
          <a:noFill/>
        </p:spPr>
        <p:txBody>
          <a:bodyPr wrap="square">
            <a:spAutoFit/>
          </a:bodyPr>
          <a:lstStyle/>
          <a:p>
            <a:pPr algn="l">
              <a:defRPr sz="900" b="0">
                <a:solidFill>
                  <a:srgbClr val="8B95B0"/>
                </a:solidFill>
                <a:latin typeface="Calibri"/>
              </a:defRPr>
            </a:pPr>
            <a:r>
              <a:t>Somn, Mușchi</a:t>
            </a:r>
          </a:p>
        </p:txBody>
      </p:sp>
      <p:sp>
        <p:nvSpPr>
          <p:cNvPr id="64" name="Rounded Rectangle 63"/>
          <p:cNvSpPr/>
          <p:nvPr/>
        </p:nvSpPr>
        <p:spPr>
          <a:xfrm>
            <a:off x="6309360" y="3557015"/>
            <a:ext cx="5577840" cy="5943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6355080" y="3950207"/>
            <a:ext cx="1244074" cy="10972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00800" y="3602735"/>
            <a:ext cx="274320" cy="320040"/>
          </a:xfrm>
          <a:prstGeom prst="rect">
            <a:avLst/>
          </a:prstGeom>
          <a:noFill/>
        </p:spPr>
        <p:txBody>
          <a:bodyPr wrap="square">
            <a:spAutoFit/>
          </a:bodyPr>
          <a:lstStyle/>
          <a:p>
            <a:pPr algn="l">
              <a:defRPr sz="1000" b="1">
                <a:solidFill>
                  <a:srgbClr val="5A6380"/>
                </a:solidFill>
                <a:latin typeface="Calibri"/>
              </a:defRPr>
            </a:pPr>
            <a:r>
              <a:t>#11</a:t>
            </a:r>
          </a:p>
        </p:txBody>
      </p:sp>
      <p:sp>
        <p:nvSpPr>
          <p:cNvPr id="67" name="TextBox 66"/>
          <p:cNvSpPr txBox="1"/>
          <p:nvPr/>
        </p:nvSpPr>
        <p:spPr>
          <a:xfrm>
            <a:off x="6720840" y="3602735"/>
            <a:ext cx="2743200" cy="320040"/>
          </a:xfrm>
          <a:prstGeom prst="rect">
            <a:avLst/>
          </a:prstGeom>
          <a:noFill/>
        </p:spPr>
        <p:txBody>
          <a:bodyPr wrap="square">
            <a:spAutoFit/>
          </a:bodyPr>
          <a:lstStyle/>
          <a:p>
            <a:pPr algn="l">
              <a:defRPr sz="1200" b="1">
                <a:solidFill>
                  <a:srgbClr val="F0F2F8"/>
                </a:solidFill>
                <a:latin typeface="Calibri"/>
              </a:defRPr>
            </a:pPr>
            <a:r>
              <a:t>Antiacid Natural 225mg</a:t>
            </a:r>
          </a:p>
        </p:txBody>
      </p:sp>
      <p:sp>
        <p:nvSpPr>
          <p:cNvPr id="68" name="TextBox 67"/>
          <p:cNvSpPr txBox="1"/>
          <p:nvPr/>
        </p:nvSpPr>
        <p:spPr>
          <a:xfrm>
            <a:off x="9784080" y="3602735"/>
            <a:ext cx="914400" cy="320040"/>
          </a:xfrm>
          <a:prstGeom prst="rect">
            <a:avLst/>
          </a:prstGeom>
          <a:noFill/>
        </p:spPr>
        <p:txBody>
          <a:bodyPr wrap="square">
            <a:spAutoFit/>
          </a:bodyPr>
          <a:lstStyle/>
          <a:p>
            <a:pPr algn="r">
              <a:defRPr sz="1200" b="1">
                <a:solidFill>
                  <a:srgbClr val="6366F1"/>
                </a:solidFill>
                <a:latin typeface="Calibri"/>
              </a:defRPr>
            </a:pPr>
            <a:r>
              <a:t>4,329</a:t>
            </a:r>
          </a:p>
        </p:txBody>
      </p:sp>
      <p:sp>
        <p:nvSpPr>
          <p:cNvPr id="69" name="TextBox 68"/>
          <p:cNvSpPr txBox="1"/>
          <p:nvPr/>
        </p:nvSpPr>
        <p:spPr>
          <a:xfrm>
            <a:off x="10789920" y="3630168"/>
            <a:ext cx="1005840" cy="274320"/>
          </a:xfrm>
          <a:prstGeom prst="rect">
            <a:avLst/>
          </a:prstGeom>
          <a:noFill/>
        </p:spPr>
        <p:txBody>
          <a:bodyPr wrap="square">
            <a:spAutoFit/>
          </a:bodyPr>
          <a:lstStyle/>
          <a:p>
            <a:pPr algn="l">
              <a:defRPr sz="900" b="0">
                <a:solidFill>
                  <a:srgbClr val="8B95B0"/>
                </a:solidFill>
                <a:latin typeface="Calibri"/>
              </a:defRPr>
            </a:pPr>
            <a:r>
              <a:t>Digestie</a:t>
            </a:r>
          </a:p>
        </p:txBody>
      </p:sp>
      <p:sp>
        <p:nvSpPr>
          <p:cNvPr id="70" name="Rounded Rectangle 69"/>
          <p:cNvSpPr/>
          <p:nvPr/>
        </p:nvSpPr>
        <p:spPr>
          <a:xfrm>
            <a:off x="6309360" y="4270248"/>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6355080" y="4663440"/>
            <a:ext cx="1158147" cy="10972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400800" y="4315968"/>
            <a:ext cx="274320" cy="320040"/>
          </a:xfrm>
          <a:prstGeom prst="rect">
            <a:avLst/>
          </a:prstGeom>
          <a:noFill/>
        </p:spPr>
        <p:txBody>
          <a:bodyPr wrap="square">
            <a:spAutoFit/>
          </a:bodyPr>
          <a:lstStyle/>
          <a:p>
            <a:pPr algn="l">
              <a:defRPr sz="1000" b="1">
                <a:solidFill>
                  <a:srgbClr val="5A6380"/>
                </a:solidFill>
                <a:latin typeface="Calibri"/>
              </a:defRPr>
            </a:pPr>
            <a:r>
              <a:t>#12</a:t>
            </a:r>
          </a:p>
        </p:txBody>
      </p:sp>
      <p:sp>
        <p:nvSpPr>
          <p:cNvPr id="73" name="TextBox 72"/>
          <p:cNvSpPr txBox="1"/>
          <p:nvPr/>
        </p:nvSpPr>
        <p:spPr>
          <a:xfrm>
            <a:off x="6720840" y="4315968"/>
            <a:ext cx="2743200" cy="320040"/>
          </a:xfrm>
          <a:prstGeom prst="rect">
            <a:avLst/>
          </a:prstGeom>
          <a:noFill/>
        </p:spPr>
        <p:txBody>
          <a:bodyPr wrap="square">
            <a:spAutoFit/>
          </a:bodyPr>
          <a:lstStyle/>
          <a:p>
            <a:pPr algn="l">
              <a:defRPr sz="1200" b="1">
                <a:solidFill>
                  <a:srgbClr val="F0F2F8"/>
                </a:solidFill>
                <a:latin typeface="Calibri"/>
              </a:defRPr>
            </a:pPr>
            <a:r>
              <a:t>Fier 2.4mg</a:t>
            </a:r>
          </a:p>
        </p:txBody>
      </p:sp>
      <p:sp>
        <p:nvSpPr>
          <p:cNvPr id="74" name="TextBox 73"/>
          <p:cNvSpPr txBox="1"/>
          <p:nvPr/>
        </p:nvSpPr>
        <p:spPr>
          <a:xfrm>
            <a:off x="9784080" y="4315968"/>
            <a:ext cx="914400" cy="320040"/>
          </a:xfrm>
          <a:prstGeom prst="rect">
            <a:avLst/>
          </a:prstGeom>
          <a:noFill/>
        </p:spPr>
        <p:txBody>
          <a:bodyPr wrap="square">
            <a:spAutoFit/>
          </a:bodyPr>
          <a:lstStyle/>
          <a:p>
            <a:pPr algn="r">
              <a:defRPr sz="1200" b="1">
                <a:solidFill>
                  <a:srgbClr val="8B5CF6"/>
                </a:solidFill>
                <a:latin typeface="Calibri"/>
              </a:defRPr>
            </a:pPr>
            <a:r>
              <a:t>4,030</a:t>
            </a:r>
          </a:p>
        </p:txBody>
      </p:sp>
      <p:sp>
        <p:nvSpPr>
          <p:cNvPr id="75" name="TextBox 74"/>
          <p:cNvSpPr txBox="1"/>
          <p:nvPr/>
        </p:nvSpPr>
        <p:spPr>
          <a:xfrm>
            <a:off x="10789920" y="4343400"/>
            <a:ext cx="1005840" cy="274320"/>
          </a:xfrm>
          <a:prstGeom prst="rect">
            <a:avLst/>
          </a:prstGeom>
          <a:noFill/>
        </p:spPr>
        <p:txBody>
          <a:bodyPr wrap="square">
            <a:spAutoFit/>
          </a:bodyPr>
          <a:lstStyle/>
          <a:p>
            <a:pPr algn="l">
              <a:defRPr sz="900" b="0">
                <a:solidFill>
                  <a:srgbClr val="8B95B0"/>
                </a:solidFill>
                <a:latin typeface="Calibri"/>
              </a:defRPr>
            </a:pPr>
            <a:r>
              <a:t>Imunitate, Oboseală</a:t>
            </a:r>
          </a:p>
        </p:txBody>
      </p:sp>
      <p:sp>
        <p:nvSpPr>
          <p:cNvPr id="76" name="Rounded Rectangle 75"/>
          <p:cNvSpPr/>
          <p:nvPr/>
        </p:nvSpPr>
        <p:spPr>
          <a:xfrm>
            <a:off x="6309360" y="4983480"/>
            <a:ext cx="5577840" cy="5943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6355080" y="5376672"/>
            <a:ext cx="920482" cy="109728"/>
          </a:xfrm>
          <a:prstGeom prst="roundRect">
            <a:avLst>
              <a:gd name="adj" fmla="val 30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00800" y="5029200"/>
            <a:ext cx="274320" cy="320040"/>
          </a:xfrm>
          <a:prstGeom prst="rect">
            <a:avLst/>
          </a:prstGeom>
          <a:noFill/>
        </p:spPr>
        <p:txBody>
          <a:bodyPr wrap="square">
            <a:spAutoFit/>
          </a:bodyPr>
          <a:lstStyle/>
          <a:p>
            <a:pPr algn="l">
              <a:defRPr sz="1000" b="1">
                <a:solidFill>
                  <a:srgbClr val="5A6380"/>
                </a:solidFill>
                <a:latin typeface="Calibri"/>
              </a:defRPr>
            </a:pPr>
            <a:r>
              <a:t>#13</a:t>
            </a:r>
          </a:p>
        </p:txBody>
      </p:sp>
      <p:sp>
        <p:nvSpPr>
          <p:cNvPr id="79" name="TextBox 78"/>
          <p:cNvSpPr txBox="1"/>
          <p:nvPr/>
        </p:nvSpPr>
        <p:spPr>
          <a:xfrm>
            <a:off x="6720840" y="5029200"/>
            <a:ext cx="2743200" cy="320040"/>
          </a:xfrm>
          <a:prstGeom prst="rect">
            <a:avLst/>
          </a:prstGeom>
          <a:noFill/>
        </p:spPr>
        <p:txBody>
          <a:bodyPr wrap="square">
            <a:spAutoFit/>
          </a:bodyPr>
          <a:lstStyle/>
          <a:p>
            <a:pPr algn="l">
              <a:defRPr sz="1200" b="1">
                <a:solidFill>
                  <a:srgbClr val="F0F2F8"/>
                </a:solidFill>
                <a:latin typeface="Calibri"/>
              </a:defRPr>
            </a:pPr>
            <a:r>
              <a:t>Ashwagandha KSM-66</a:t>
            </a:r>
          </a:p>
        </p:txBody>
      </p:sp>
      <p:sp>
        <p:nvSpPr>
          <p:cNvPr id="80" name="TextBox 79"/>
          <p:cNvSpPr txBox="1"/>
          <p:nvPr/>
        </p:nvSpPr>
        <p:spPr>
          <a:xfrm>
            <a:off x="9784080" y="5029200"/>
            <a:ext cx="914400" cy="320040"/>
          </a:xfrm>
          <a:prstGeom prst="rect">
            <a:avLst/>
          </a:prstGeom>
          <a:noFill/>
        </p:spPr>
        <p:txBody>
          <a:bodyPr wrap="square">
            <a:spAutoFit/>
          </a:bodyPr>
          <a:lstStyle/>
          <a:p>
            <a:pPr algn="r">
              <a:defRPr sz="1200" b="1">
                <a:solidFill>
                  <a:srgbClr val="EC4899"/>
                </a:solidFill>
                <a:latin typeface="Calibri"/>
              </a:defRPr>
            </a:pPr>
            <a:r>
              <a:t>3,203</a:t>
            </a:r>
          </a:p>
        </p:txBody>
      </p:sp>
      <p:sp>
        <p:nvSpPr>
          <p:cNvPr id="81" name="TextBox 80"/>
          <p:cNvSpPr txBox="1"/>
          <p:nvPr/>
        </p:nvSpPr>
        <p:spPr>
          <a:xfrm>
            <a:off x="10789920" y="5056632"/>
            <a:ext cx="1005840" cy="274320"/>
          </a:xfrm>
          <a:prstGeom prst="rect">
            <a:avLst/>
          </a:prstGeom>
          <a:noFill/>
        </p:spPr>
        <p:txBody>
          <a:bodyPr wrap="square">
            <a:spAutoFit/>
          </a:bodyPr>
          <a:lstStyle/>
          <a:p>
            <a:pPr algn="l">
              <a:defRPr sz="900" b="0">
                <a:solidFill>
                  <a:srgbClr val="8B95B0"/>
                </a:solidFill>
                <a:latin typeface="Calibri"/>
              </a:defRPr>
            </a:pPr>
            <a:r>
              <a:t>Stres, Energie</a:t>
            </a:r>
          </a:p>
        </p:txBody>
      </p:sp>
      <p:sp>
        <p:nvSpPr>
          <p:cNvPr id="82" name="Rounded Rectangle 81"/>
          <p:cNvSpPr/>
          <p:nvPr/>
        </p:nvSpPr>
        <p:spPr>
          <a:xfrm>
            <a:off x="6309360" y="5696712"/>
            <a:ext cx="5577840" cy="594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6355080" y="6089903"/>
            <a:ext cx="667587" cy="109728"/>
          </a:xfrm>
          <a:prstGeom prst="roundRect">
            <a:avLst>
              <a:gd name="adj" fmla="val 30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400800" y="5742431"/>
            <a:ext cx="274320" cy="320040"/>
          </a:xfrm>
          <a:prstGeom prst="rect">
            <a:avLst/>
          </a:prstGeom>
          <a:noFill/>
        </p:spPr>
        <p:txBody>
          <a:bodyPr wrap="square">
            <a:spAutoFit/>
          </a:bodyPr>
          <a:lstStyle/>
          <a:p>
            <a:pPr algn="l">
              <a:defRPr sz="1000" b="1">
                <a:solidFill>
                  <a:srgbClr val="5A6380"/>
                </a:solidFill>
                <a:latin typeface="Calibri"/>
              </a:defRPr>
            </a:pPr>
            <a:r>
              <a:t>#14</a:t>
            </a:r>
          </a:p>
        </p:txBody>
      </p:sp>
      <p:sp>
        <p:nvSpPr>
          <p:cNvPr id="85" name="TextBox 84"/>
          <p:cNvSpPr txBox="1"/>
          <p:nvPr/>
        </p:nvSpPr>
        <p:spPr>
          <a:xfrm>
            <a:off x="6720840" y="5742431"/>
            <a:ext cx="2743200" cy="320040"/>
          </a:xfrm>
          <a:prstGeom prst="rect">
            <a:avLst/>
          </a:prstGeom>
          <a:noFill/>
        </p:spPr>
        <p:txBody>
          <a:bodyPr wrap="square">
            <a:spAutoFit/>
          </a:bodyPr>
          <a:lstStyle/>
          <a:p>
            <a:pPr algn="l">
              <a:defRPr sz="1200" b="1">
                <a:solidFill>
                  <a:srgbClr val="F0F2F8"/>
                </a:solidFill>
                <a:latin typeface="Calibri"/>
              </a:defRPr>
            </a:pPr>
            <a:r>
              <a:t>Zinc 25mg</a:t>
            </a:r>
          </a:p>
        </p:txBody>
      </p:sp>
      <p:sp>
        <p:nvSpPr>
          <p:cNvPr id="86" name="TextBox 85"/>
          <p:cNvSpPr txBox="1"/>
          <p:nvPr/>
        </p:nvSpPr>
        <p:spPr>
          <a:xfrm>
            <a:off x="9784080" y="5742431"/>
            <a:ext cx="914400" cy="320040"/>
          </a:xfrm>
          <a:prstGeom prst="rect">
            <a:avLst/>
          </a:prstGeom>
          <a:noFill/>
        </p:spPr>
        <p:txBody>
          <a:bodyPr wrap="square">
            <a:spAutoFit/>
          </a:bodyPr>
          <a:lstStyle/>
          <a:p>
            <a:pPr algn="r">
              <a:defRPr sz="1200" b="1">
                <a:solidFill>
                  <a:srgbClr val="14B8A6"/>
                </a:solidFill>
                <a:latin typeface="Calibri"/>
              </a:defRPr>
            </a:pPr>
            <a:r>
              <a:t>2,323</a:t>
            </a:r>
          </a:p>
        </p:txBody>
      </p:sp>
      <p:sp>
        <p:nvSpPr>
          <p:cNvPr id="87" name="TextBox 86"/>
          <p:cNvSpPr txBox="1"/>
          <p:nvPr/>
        </p:nvSpPr>
        <p:spPr>
          <a:xfrm>
            <a:off x="10789920" y="5769864"/>
            <a:ext cx="1005840" cy="274320"/>
          </a:xfrm>
          <a:prstGeom prst="rect">
            <a:avLst/>
          </a:prstGeom>
          <a:noFill/>
        </p:spPr>
        <p:txBody>
          <a:bodyPr wrap="square">
            <a:spAutoFit/>
          </a:bodyPr>
          <a:lstStyle/>
          <a:p>
            <a:pPr algn="l">
              <a:defRPr sz="900" b="0">
                <a:solidFill>
                  <a:srgbClr val="8B95B0"/>
                </a:solidFill>
                <a:latin typeface="Calibri"/>
              </a:defRPr>
            </a:pPr>
            <a:r>
              <a:t>Imunitate, Păr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STIL DE VIAȚĂ</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Ce ne spun clienții despre ei?</a:t>
            </a:r>
          </a:p>
        </p:txBody>
      </p:sp>
      <p:sp>
        <p:nvSpPr>
          <p:cNvPr id="4" name="Rounded Rectangle 3"/>
          <p:cNvSpPr/>
          <p:nvPr/>
        </p:nvSpPr>
        <p:spPr>
          <a:xfrm>
            <a:off x="457200" y="137160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426464"/>
            <a:ext cx="5212080" cy="228600"/>
          </a:xfrm>
          <a:prstGeom prst="rect">
            <a:avLst/>
          </a:prstGeom>
          <a:noFill/>
        </p:spPr>
        <p:txBody>
          <a:bodyPr wrap="square">
            <a:spAutoFit/>
          </a:bodyPr>
          <a:lstStyle/>
          <a:p>
            <a:pPr algn="l">
              <a:defRPr sz="1000" b="1">
                <a:solidFill>
                  <a:srgbClr val="F0F2F8"/>
                </a:solidFill>
                <a:latin typeface="Calibri"/>
              </a:defRPr>
            </a:pPr>
            <a:r>
              <a:t>❓ În ultimul timp mă simt:</a:t>
            </a:r>
          </a:p>
        </p:txBody>
      </p:sp>
      <p:sp>
        <p:nvSpPr>
          <p:cNvPr id="6" name="Rounded Rectangle 5"/>
          <p:cNvSpPr/>
          <p:nvPr/>
        </p:nvSpPr>
        <p:spPr>
          <a:xfrm>
            <a:off x="594360" y="1691640"/>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691640"/>
            <a:ext cx="1521561" cy="1554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0" y="1673352"/>
            <a:ext cx="1828800" cy="182880"/>
          </a:xfrm>
          <a:prstGeom prst="rect">
            <a:avLst/>
          </a:prstGeom>
          <a:noFill/>
        </p:spPr>
        <p:txBody>
          <a:bodyPr wrap="square">
            <a:spAutoFit/>
          </a:bodyPr>
          <a:lstStyle/>
          <a:p>
            <a:pPr algn="l">
              <a:defRPr sz="800" b="0">
                <a:solidFill>
                  <a:srgbClr val="8B95B0"/>
                </a:solidFill>
                <a:latin typeface="Calibri"/>
              </a:defRPr>
            </a:pPr>
            <a:r>
              <a:t>OK, mai am și zile proaste</a:t>
            </a:r>
          </a:p>
        </p:txBody>
      </p:sp>
      <p:sp>
        <p:nvSpPr>
          <p:cNvPr id="9" name="TextBox 8"/>
          <p:cNvSpPr txBox="1"/>
          <p:nvPr/>
        </p:nvSpPr>
        <p:spPr>
          <a:xfrm>
            <a:off x="5303520" y="1673352"/>
            <a:ext cx="457200" cy="182880"/>
          </a:xfrm>
          <a:prstGeom prst="rect">
            <a:avLst/>
          </a:prstGeom>
          <a:noFill/>
        </p:spPr>
        <p:txBody>
          <a:bodyPr wrap="square">
            <a:spAutoFit/>
          </a:bodyPr>
          <a:lstStyle/>
          <a:p>
            <a:pPr algn="r">
              <a:defRPr sz="900" b="1">
                <a:solidFill>
                  <a:srgbClr val="F59E0B"/>
                </a:solidFill>
                <a:latin typeface="Calibri"/>
              </a:defRPr>
            </a:pPr>
            <a:r>
              <a:t>52%</a:t>
            </a:r>
          </a:p>
        </p:txBody>
      </p:sp>
      <p:sp>
        <p:nvSpPr>
          <p:cNvPr id="10" name="Rounded Rectangle 9"/>
          <p:cNvSpPr/>
          <p:nvPr/>
        </p:nvSpPr>
        <p:spPr>
          <a:xfrm>
            <a:off x="594360" y="1892808"/>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4360" y="1892808"/>
            <a:ext cx="1287475" cy="1554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0" y="1874520"/>
            <a:ext cx="1828800" cy="182880"/>
          </a:xfrm>
          <a:prstGeom prst="rect">
            <a:avLst/>
          </a:prstGeom>
          <a:noFill/>
        </p:spPr>
        <p:txBody>
          <a:bodyPr wrap="square">
            <a:spAutoFit/>
          </a:bodyPr>
          <a:lstStyle/>
          <a:p>
            <a:pPr algn="l">
              <a:defRPr sz="800" b="0">
                <a:solidFill>
                  <a:srgbClr val="8B95B0"/>
                </a:solidFill>
                <a:latin typeface="Calibri"/>
              </a:defRPr>
            </a:pPr>
            <a:r>
              <a:t>Nu prea am chef de nimic</a:t>
            </a:r>
          </a:p>
        </p:txBody>
      </p:sp>
      <p:sp>
        <p:nvSpPr>
          <p:cNvPr id="13" name="TextBox 12"/>
          <p:cNvSpPr txBox="1"/>
          <p:nvPr/>
        </p:nvSpPr>
        <p:spPr>
          <a:xfrm>
            <a:off x="5303520" y="1874520"/>
            <a:ext cx="457200" cy="182880"/>
          </a:xfrm>
          <a:prstGeom prst="rect">
            <a:avLst/>
          </a:prstGeom>
          <a:noFill/>
        </p:spPr>
        <p:txBody>
          <a:bodyPr wrap="square">
            <a:spAutoFit/>
          </a:bodyPr>
          <a:lstStyle/>
          <a:p>
            <a:pPr algn="r">
              <a:defRPr sz="900" b="1">
                <a:solidFill>
                  <a:srgbClr val="EF4444"/>
                </a:solidFill>
                <a:latin typeface="Calibri"/>
              </a:defRPr>
            </a:pPr>
            <a:r>
              <a:t>44%</a:t>
            </a:r>
          </a:p>
        </p:txBody>
      </p:sp>
      <p:sp>
        <p:nvSpPr>
          <p:cNvPr id="14" name="Rounded Rectangle 13"/>
          <p:cNvSpPr/>
          <p:nvPr/>
        </p:nvSpPr>
        <p:spPr>
          <a:xfrm>
            <a:off x="594360" y="2093976"/>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94360" y="2093976"/>
            <a:ext cx="117043" cy="155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2075688"/>
            <a:ext cx="1828800" cy="182880"/>
          </a:xfrm>
          <a:prstGeom prst="rect">
            <a:avLst/>
          </a:prstGeom>
          <a:noFill/>
        </p:spPr>
        <p:txBody>
          <a:bodyPr wrap="square">
            <a:spAutoFit/>
          </a:bodyPr>
          <a:lstStyle/>
          <a:p>
            <a:pPr algn="l">
              <a:defRPr sz="800" b="0">
                <a:solidFill>
                  <a:srgbClr val="8B95B0"/>
                </a:solidFill>
                <a:latin typeface="Calibri"/>
              </a:defRPr>
            </a:pPr>
            <a:r>
              <a:t>Bucuros și vesel</a:t>
            </a:r>
          </a:p>
        </p:txBody>
      </p:sp>
      <p:sp>
        <p:nvSpPr>
          <p:cNvPr id="17" name="TextBox 16"/>
          <p:cNvSpPr txBox="1"/>
          <p:nvPr/>
        </p:nvSpPr>
        <p:spPr>
          <a:xfrm>
            <a:off x="5303520" y="2075688"/>
            <a:ext cx="457200" cy="182880"/>
          </a:xfrm>
          <a:prstGeom prst="rect">
            <a:avLst/>
          </a:prstGeom>
          <a:noFill/>
        </p:spPr>
        <p:txBody>
          <a:bodyPr wrap="square">
            <a:spAutoFit/>
          </a:bodyPr>
          <a:lstStyle/>
          <a:p>
            <a:pPr algn="r">
              <a:defRPr sz="900" b="1">
                <a:solidFill>
                  <a:srgbClr val="10B981"/>
                </a:solidFill>
                <a:latin typeface="Calibri"/>
              </a:defRPr>
            </a:pPr>
            <a:r>
              <a:t>4%</a:t>
            </a:r>
          </a:p>
        </p:txBody>
      </p:sp>
      <p:sp>
        <p:nvSpPr>
          <p:cNvPr id="18" name="Rounded Rectangle 17"/>
          <p:cNvSpPr/>
          <p:nvPr/>
        </p:nvSpPr>
        <p:spPr>
          <a:xfrm>
            <a:off x="457200" y="269748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2752344"/>
            <a:ext cx="5212080" cy="228600"/>
          </a:xfrm>
          <a:prstGeom prst="rect">
            <a:avLst/>
          </a:prstGeom>
          <a:noFill/>
        </p:spPr>
        <p:txBody>
          <a:bodyPr wrap="square">
            <a:spAutoFit/>
          </a:bodyPr>
          <a:lstStyle/>
          <a:p>
            <a:pPr algn="l">
              <a:defRPr sz="1000" b="1">
                <a:solidFill>
                  <a:srgbClr val="F0F2F8"/>
                </a:solidFill>
                <a:latin typeface="Calibri"/>
              </a:defRPr>
            </a:pPr>
            <a:r>
              <a:t>❓ Ai energie zi de zi?</a:t>
            </a:r>
          </a:p>
        </p:txBody>
      </p:sp>
      <p:sp>
        <p:nvSpPr>
          <p:cNvPr id="20" name="Rounded Rectangle 19"/>
          <p:cNvSpPr/>
          <p:nvPr/>
        </p:nvSpPr>
        <p:spPr>
          <a:xfrm>
            <a:off x="594360" y="3017520"/>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3017520"/>
            <a:ext cx="2048256" cy="1554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0" y="2999232"/>
            <a:ext cx="1828800" cy="182880"/>
          </a:xfrm>
          <a:prstGeom prst="rect">
            <a:avLst/>
          </a:prstGeom>
          <a:noFill/>
        </p:spPr>
        <p:txBody>
          <a:bodyPr wrap="square">
            <a:spAutoFit/>
          </a:bodyPr>
          <a:lstStyle/>
          <a:p>
            <a:pPr algn="l">
              <a:defRPr sz="800" b="0">
                <a:solidFill>
                  <a:srgbClr val="8B95B0"/>
                </a:solidFill>
                <a:latin typeface="Calibri"/>
              </a:defRPr>
            </a:pPr>
            <a:r>
              <a:t>Nu mereu, des mă simt obosit</a:t>
            </a:r>
          </a:p>
        </p:txBody>
      </p:sp>
      <p:sp>
        <p:nvSpPr>
          <p:cNvPr id="23" name="TextBox 22"/>
          <p:cNvSpPr txBox="1"/>
          <p:nvPr/>
        </p:nvSpPr>
        <p:spPr>
          <a:xfrm>
            <a:off x="5303520" y="2999232"/>
            <a:ext cx="457200" cy="182880"/>
          </a:xfrm>
          <a:prstGeom prst="rect">
            <a:avLst/>
          </a:prstGeom>
          <a:noFill/>
        </p:spPr>
        <p:txBody>
          <a:bodyPr wrap="square">
            <a:spAutoFit/>
          </a:bodyPr>
          <a:lstStyle/>
          <a:p>
            <a:pPr algn="r">
              <a:defRPr sz="900" b="1">
                <a:solidFill>
                  <a:srgbClr val="F59E0B"/>
                </a:solidFill>
                <a:latin typeface="Calibri"/>
              </a:defRPr>
            </a:pPr>
            <a:r>
              <a:t>70%</a:t>
            </a:r>
          </a:p>
        </p:txBody>
      </p:sp>
      <p:sp>
        <p:nvSpPr>
          <p:cNvPr id="24" name="Rounded Rectangle 23"/>
          <p:cNvSpPr/>
          <p:nvPr/>
        </p:nvSpPr>
        <p:spPr>
          <a:xfrm>
            <a:off x="594360" y="3218688"/>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94360" y="3218688"/>
            <a:ext cx="526694" cy="1554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0" y="3200400"/>
            <a:ext cx="1828800" cy="182880"/>
          </a:xfrm>
          <a:prstGeom prst="rect">
            <a:avLst/>
          </a:prstGeom>
          <a:noFill/>
        </p:spPr>
        <p:txBody>
          <a:bodyPr wrap="square">
            <a:spAutoFit/>
          </a:bodyPr>
          <a:lstStyle/>
          <a:p>
            <a:pPr algn="l">
              <a:defRPr sz="800" b="0">
                <a:solidFill>
                  <a:srgbClr val="8B95B0"/>
                </a:solidFill>
                <a:latin typeface="Calibri"/>
              </a:defRPr>
            </a:pPr>
            <a:r>
              <a:t>Sunt epuizat, burnout</a:t>
            </a:r>
          </a:p>
        </p:txBody>
      </p:sp>
      <p:sp>
        <p:nvSpPr>
          <p:cNvPr id="27" name="TextBox 26"/>
          <p:cNvSpPr txBox="1"/>
          <p:nvPr/>
        </p:nvSpPr>
        <p:spPr>
          <a:xfrm>
            <a:off x="5303520" y="3200400"/>
            <a:ext cx="457200" cy="182880"/>
          </a:xfrm>
          <a:prstGeom prst="rect">
            <a:avLst/>
          </a:prstGeom>
          <a:noFill/>
        </p:spPr>
        <p:txBody>
          <a:bodyPr wrap="square">
            <a:spAutoFit/>
          </a:bodyPr>
          <a:lstStyle/>
          <a:p>
            <a:pPr algn="r">
              <a:defRPr sz="900" b="1">
                <a:solidFill>
                  <a:srgbClr val="EF4444"/>
                </a:solidFill>
                <a:latin typeface="Calibri"/>
              </a:defRPr>
            </a:pPr>
            <a:r>
              <a:t>18%</a:t>
            </a:r>
          </a:p>
        </p:txBody>
      </p:sp>
      <p:sp>
        <p:nvSpPr>
          <p:cNvPr id="28" name="Rounded Rectangle 27"/>
          <p:cNvSpPr/>
          <p:nvPr/>
        </p:nvSpPr>
        <p:spPr>
          <a:xfrm>
            <a:off x="594360" y="3419856"/>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94360" y="3419856"/>
            <a:ext cx="351129" cy="155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0" y="3401568"/>
            <a:ext cx="1828800" cy="182880"/>
          </a:xfrm>
          <a:prstGeom prst="rect">
            <a:avLst/>
          </a:prstGeom>
          <a:noFill/>
        </p:spPr>
        <p:txBody>
          <a:bodyPr wrap="square">
            <a:spAutoFit/>
          </a:bodyPr>
          <a:lstStyle/>
          <a:p>
            <a:pPr algn="l">
              <a:defRPr sz="800" b="0">
                <a:solidFill>
                  <a:srgbClr val="8B95B0"/>
                </a:solidFill>
                <a:latin typeface="Calibri"/>
              </a:defRPr>
            </a:pPr>
            <a:r>
              <a:t>Da, rezolv orice</a:t>
            </a:r>
          </a:p>
        </p:txBody>
      </p:sp>
      <p:sp>
        <p:nvSpPr>
          <p:cNvPr id="31" name="TextBox 30"/>
          <p:cNvSpPr txBox="1"/>
          <p:nvPr/>
        </p:nvSpPr>
        <p:spPr>
          <a:xfrm>
            <a:off x="5303520" y="3401568"/>
            <a:ext cx="457200" cy="182880"/>
          </a:xfrm>
          <a:prstGeom prst="rect">
            <a:avLst/>
          </a:prstGeom>
          <a:noFill/>
        </p:spPr>
        <p:txBody>
          <a:bodyPr wrap="square">
            <a:spAutoFit/>
          </a:bodyPr>
          <a:lstStyle/>
          <a:p>
            <a:pPr algn="r">
              <a:defRPr sz="900" b="1">
                <a:solidFill>
                  <a:srgbClr val="10B981"/>
                </a:solidFill>
                <a:latin typeface="Calibri"/>
              </a:defRPr>
            </a:pPr>
            <a:r>
              <a:t>12%</a:t>
            </a:r>
          </a:p>
        </p:txBody>
      </p:sp>
      <p:sp>
        <p:nvSpPr>
          <p:cNvPr id="32" name="Rounded Rectangle 31"/>
          <p:cNvSpPr/>
          <p:nvPr/>
        </p:nvSpPr>
        <p:spPr>
          <a:xfrm>
            <a:off x="457200" y="402336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 y="4078224"/>
            <a:ext cx="5212080" cy="228600"/>
          </a:xfrm>
          <a:prstGeom prst="rect">
            <a:avLst/>
          </a:prstGeom>
          <a:noFill/>
        </p:spPr>
        <p:txBody>
          <a:bodyPr wrap="square">
            <a:spAutoFit/>
          </a:bodyPr>
          <a:lstStyle/>
          <a:p>
            <a:pPr algn="l">
              <a:defRPr sz="1000" b="1">
                <a:solidFill>
                  <a:srgbClr val="F0F2F8"/>
                </a:solidFill>
                <a:latin typeface="Calibri"/>
              </a:defRPr>
            </a:pPr>
            <a:r>
              <a:t>❓ Cum dormi?</a:t>
            </a:r>
          </a:p>
        </p:txBody>
      </p:sp>
      <p:sp>
        <p:nvSpPr>
          <p:cNvPr id="34" name="Rounded Rectangle 33"/>
          <p:cNvSpPr/>
          <p:nvPr/>
        </p:nvSpPr>
        <p:spPr>
          <a:xfrm>
            <a:off x="594360" y="4343400"/>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94360" y="4343400"/>
            <a:ext cx="877824" cy="1554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0" y="4325112"/>
            <a:ext cx="1828800" cy="182880"/>
          </a:xfrm>
          <a:prstGeom prst="rect">
            <a:avLst/>
          </a:prstGeom>
          <a:noFill/>
        </p:spPr>
        <p:txBody>
          <a:bodyPr wrap="square">
            <a:spAutoFit/>
          </a:bodyPr>
          <a:lstStyle/>
          <a:p>
            <a:pPr algn="l">
              <a:defRPr sz="800" b="0">
                <a:solidFill>
                  <a:srgbClr val="8B95B0"/>
                </a:solidFill>
                <a:latin typeface="Calibri"/>
              </a:defRPr>
            </a:pPr>
            <a:r>
              <a:t>Agitat, mă trezesc noaptea</a:t>
            </a:r>
          </a:p>
        </p:txBody>
      </p:sp>
      <p:sp>
        <p:nvSpPr>
          <p:cNvPr id="37" name="TextBox 36"/>
          <p:cNvSpPr txBox="1"/>
          <p:nvPr/>
        </p:nvSpPr>
        <p:spPr>
          <a:xfrm>
            <a:off x="5303520" y="4325112"/>
            <a:ext cx="457200" cy="182880"/>
          </a:xfrm>
          <a:prstGeom prst="rect">
            <a:avLst/>
          </a:prstGeom>
          <a:noFill/>
        </p:spPr>
        <p:txBody>
          <a:bodyPr wrap="square">
            <a:spAutoFit/>
          </a:bodyPr>
          <a:lstStyle/>
          <a:p>
            <a:pPr algn="r">
              <a:defRPr sz="900" b="1">
                <a:solidFill>
                  <a:srgbClr val="EF4444"/>
                </a:solidFill>
                <a:latin typeface="Calibri"/>
              </a:defRPr>
            </a:pPr>
            <a:r>
              <a:t>30%</a:t>
            </a:r>
          </a:p>
        </p:txBody>
      </p:sp>
      <p:sp>
        <p:nvSpPr>
          <p:cNvPr id="38" name="Rounded Rectangle 37"/>
          <p:cNvSpPr/>
          <p:nvPr/>
        </p:nvSpPr>
        <p:spPr>
          <a:xfrm>
            <a:off x="594360" y="4544568"/>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94360" y="4544568"/>
            <a:ext cx="848563" cy="1554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0" y="4526280"/>
            <a:ext cx="1828800" cy="182880"/>
          </a:xfrm>
          <a:prstGeom prst="rect">
            <a:avLst/>
          </a:prstGeom>
          <a:noFill/>
        </p:spPr>
        <p:txBody>
          <a:bodyPr wrap="square">
            <a:spAutoFit/>
          </a:bodyPr>
          <a:lstStyle/>
          <a:p>
            <a:pPr algn="l">
              <a:defRPr sz="800" b="0">
                <a:solidFill>
                  <a:srgbClr val="8B95B0"/>
                </a:solidFill>
                <a:latin typeface="Calibri"/>
              </a:defRPr>
            </a:pPr>
            <a:r>
              <a:t>Mai puțin de 7 ore</a:t>
            </a:r>
          </a:p>
        </p:txBody>
      </p:sp>
      <p:sp>
        <p:nvSpPr>
          <p:cNvPr id="41" name="TextBox 40"/>
          <p:cNvSpPr txBox="1"/>
          <p:nvPr/>
        </p:nvSpPr>
        <p:spPr>
          <a:xfrm>
            <a:off x="5303520" y="4526280"/>
            <a:ext cx="457200" cy="182880"/>
          </a:xfrm>
          <a:prstGeom prst="rect">
            <a:avLst/>
          </a:prstGeom>
          <a:noFill/>
        </p:spPr>
        <p:txBody>
          <a:bodyPr wrap="square">
            <a:spAutoFit/>
          </a:bodyPr>
          <a:lstStyle/>
          <a:p>
            <a:pPr algn="r">
              <a:defRPr sz="900" b="1">
                <a:solidFill>
                  <a:srgbClr val="F59E0B"/>
                </a:solidFill>
                <a:latin typeface="Calibri"/>
              </a:defRPr>
            </a:pPr>
            <a:r>
              <a:t>29%</a:t>
            </a:r>
          </a:p>
        </p:txBody>
      </p:sp>
      <p:sp>
        <p:nvSpPr>
          <p:cNvPr id="42" name="Rounded Rectangle 41"/>
          <p:cNvSpPr/>
          <p:nvPr/>
        </p:nvSpPr>
        <p:spPr>
          <a:xfrm>
            <a:off x="594360" y="4745736"/>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94360" y="4745736"/>
            <a:ext cx="702259" cy="155448"/>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0" y="4727448"/>
            <a:ext cx="1828800" cy="182880"/>
          </a:xfrm>
          <a:prstGeom prst="rect">
            <a:avLst/>
          </a:prstGeom>
          <a:noFill/>
        </p:spPr>
        <p:txBody>
          <a:bodyPr wrap="square">
            <a:spAutoFit/>
          </a:bodyPr>
          <a:lstStyle/>
          <a:p>
            <a:pPr algn="l">
              <a:defRPr sz="800" b="0">
                <a:solidFill>
                  <a:srgbClr val="8B95B0"/>
                </a:solidFill>
                <a:latin typeface="Calibri"/>
              </a:defRPr>
            </a:pPr>
            <a:r>
              <a:t>Adorm greu</a:t>
            </a:r>
          </a:p>
        </p:txBody>
      </p:sp>
      <p:sp>
        <p:nvSpPr>
          <p:cNvPr id="45" name="TextBox 44"/>
          <p:cNvSpPr txBox="1"/>
          <p:nvPr/>
        </p:nvSpPr>
        <p:spPr>
          <a:xfrm>
            <a:off x="5303520" y="4727448"/>
            <a:ext cx="457200" cy="182880"/>
          </a:xfrm>
          <a:prstGeom prst="rect">
            <a:avLst/>
          </a:prstGeom>
          <a:noFill/>
        </p:spPr>
        <p:txBody>
          <a:bodyPr wrap="square">
            <a:spAutoFit/>
          </a:bodyPr>
          <a:lstStyle/>
          <a:p>
            <a:pPr algn="r">
              <a:defRPr sz="900" b="1">
                <a:solidFill>
                  <a:srgbClr val="EC4899"/>
                </a:solidFill>
                <a:latin typeface="Calibri"/>
              </a:defRPr>
            </a:pPr>
            <a:r>
              <a:t>24%</a:t>
            </a:r>
          </a:p>
        </p:txBody>
      </p:sp>
      <p:sp>
        <p:nvSpPr>
          <p:cNvPr id="46" name="Rounded Rectangle 45"/>
          <p:cNvSpPr/>
          <p:nvPr/>
        </p:nvSpPr>
        <p:spPr>
          <a:xfrm>
            <a:off x="594360" y="4946904"/>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594360" y="4946904"/>
            <a:ext cx="497433" cy="155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657600" y="4928616"/>
            <a:ext cx="1828800" cy="182880"/>
          </a:xfrm>
          <a:prstGeom prst="rect">
            <a:avLst/>
          </a:prstGeom>
          <a:noFill/>
        </p:spPr>
        <p:txBody>
          <a:bodyPr wrap="square">
            <a:spAutoFit/>
          </a:bodyPr>
          <a:lstStyle/>
          <a:p>
            <a:pPr algn="l">
              <a:defRPr sz="800" b="0">
                <a:solidFill>
                  <a:srgbClr val="8B95B0"/>
                </a:solidFill>
                <a:latin typeface="Calibri"/>
              </a:defRPr>
            </a:pPr>
            <a:r>
              <a:t>Fără probleme</a:t>
            </a:r>
          </a:p>
        </p:txBody>
      </p:sp>
      <p:sp>
        <p:nvSpPr>
          <p:cNvPr id="49" name="TextBox 48"/>
          <p:cNvSpPr txBox="1"/>
          <p:nvPr/>
        </p:nvSpPr>
        <p:spPr>
          <a:xfrm>
            <a:off x="5303520" y="4928616"/>
            <a:ext cx="457200" cy="182880"/>
          </a:xfrm>
          <a:prstGeom prst="rect">
            <a:avLst/>
          </a:prstGeom>
          <a:noFill/>
        </p:spPr>
        <p:txBody>
          <a:bodyPr wrap="square">
            <a:spAutoFit/>
          </a:bodyPr>
          <a:lstStyle/>
          <a:p>
            <a:pPr algn="r">
              <a:defRPr sz="900" b="1">
                <a:solidFill>
                  <a:srgbClr val="10B981"/>
                </a:solidFill>
                <a:latin typeface="Calibri"/>
              </a:defRPr>
            </a:pPr>
            <a:r>
              <a:t>17%</a:t>
            </a:r>
          </a:p>
        </p:txBody>
      </p:sp>
      <p:sp>
        <p:nvSpPr>
          <p:cNvPr id="50" name="Rounded Rectangle 49"/>
          <p:cNvSpPr/>
          <p:nvPr/>
        </p:nvSpPr>
        <p:spPr>
          <a:xfrm>
            <a:off x="457200" y="534924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4360" y="5404103"/>
            <a:ext cx="5212080" cy="228600"/>
          </a:xfrm>
          <a:prstGeom prst="rect">
            <a:avLst/>
          </a:prstGeom>
          <a:noFill/>
        </p:spPr>
        <p:txBody>
          <a:bodyPr wrap="square">
            <a:spAutoFit/>
          </a:bodyPr>
          <a:lstStyle/>
          <a:p>
            <a:pPr algn="l">
              <a:defRPr sz="1000" b="1">
                <a:solidFill>
                  <a:srgbClr val="F0F2F8"/>
                </a:solidFill>
                <a:latin typeface="Calibri"/>
              </a:defRPr>
            </a:pPr>
            <a:r>
              <a:t>❓ Faci sport?</a:t>
            </a:r>
          </a:p>
        </p:txBody>
      </p:sp>
      <p:sp>
        <p:nvSpPr>
          <p:cNvPr id="52" name="Rounded Rectangle 51"/>
          <p:cNvSpPr/>
          <p:nvPr/>
        </p:nvSpPr>
        <p:spPr>
          <a:xfrm>
            <a:off x="594360" y="5669279"/>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94360" y="5669279"/>
            <a:ext cx="2077516" cy="1554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657600" y="5650992"/>
            <a:ext cx="1828800" cy="182880"/>
          </a:xfrm>
          <a:prstGeom prst="rect">
            <a:avLst/>
          </a:prstGeom>
          <a:noFill/>
        </p:spPr>
        <p:txBody>
          <a:bodyPr wrap="square">
            <a:spAutoFit/>
          </a:bodyPr>
          <a:lstStyle/>
          <a:p>
            <a:pPr algn="l">
              <a:defRPr sz="800" b="0">
                <a:solidFill>
                  <a:srgbClr val="8B95B0"/>
                </a:solidFill>
                <a:latin typeface="Calibri"/>
              </a:defRPr>
            </a:pPr>
            <a:r>
              <a:t>Foarte rar</a:t>
            </a:r>
          </a:p>
        </p:txBody>
      </p:sp>
      <p:sp>
        <p:nvSpPr>
          <p:cNvPr id="55" name="TextBox 54"/>
          <p:cNvSpPr txBox="1"/>
          <p:nvPr/>
        </p:nvSpPr>
        <p:spPr>
          <a:xfrm>
            <a:off x="5303520" y="5650992"/>
            <a:ext cx="457200" cy="182880"/>
          </a:xfrm>
          <a:prstGeom prst="rect">
            <a:avLst/>
          </a:prstGeom>
          <a:noFill/>
        </p:spPr>
        <p:txBody>
          <a:bodyPr wrap="square">
            <a:spAutoFit/>
          </a:bodyPr>
          <a:lstStyle/>
          <a:p>
            <a:pPr algn="r">
              <a:defRPr sz="900" b="1">
                <a:solidFill>
                  <a:srgbClr val="EF4444"/>
                </a:solidFill>
                <a:latin typeface="Calibri"/>
              </a:defRPr>
            </a:pPr>
            <a:r>
              <a:t>71%</a:t>
            </a:r>
          </a:p>
        </p:txBody>
      </p:sp>
      <p:sp>
        <p:nvSpPr>
          <p:cNvPr id="56" name="Rounded Rectangle 55"/>
          <p:cNvSpPr/>
          <p:nvPr/>
        </p:nvSpPr>
        <p:spPr>
          <a:xfrm>
            <a:off x="594360" y="5870447"/>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594360" y="5870447"/>
            <a:ext cx="614476" cy="1554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657600" y="5852159"/>
            <a:ext cx="1828800" cy="182880"/>
          </a:xfrm>
          <a:prstGeom prst="rect">
            <a:avLst/>
          </a:prstGeom>
          <a:noFill/>
        </p:spPr>
        <p:txBody>
          <a:bodyPr wrap="square">
            <a:spAutoFit/>
          </a:bodyPr>
          <a:lstStyle/>
          <a:p>
            <a:pPr algn="l">
              <a:defRPr sz="800" b="0">
                <a:solidFill>
                  <a:srgbClr val="8B95B0"/>
                </a:solidFill>
                <a:latin typeface="Calibri"/>
              </a:defRPr>
            </a:pPr>
            <a:r>
              <a:t>De 2-3 ori pe săpt.</a:t>
            </a:r>
          </a:p>
        </p:txBody>
      </p:sp>
      <p:sp>
        <p:nvSpPr>
          <p:cNvPr id="59" name="TextBox 58"/>
          <p:cNvSpPr txBox="1"/>
          <p:nvPr/>
        </p:nvSpPr>
        <p:spPr>
          <a:xfrm>
            <a:off x="5303520" y="5852159"/>
            <a:ext cx="457200" cy="182880"/>
          </a:xfrm>
          <a:prstGeom prst="rect">
            <a:avLst/>
          </a:prstGeom>
          <a:noFill/>
        </p:spPr>
        <p:txBody>
          <a:bodyPr wrap="square">
            <a:spAutoFit/>
          </a:bodyPr>
          <a:lstStyle/>
          <a:p>
            <a:pPr algn="r">
              <a:defRPr sz="900" b="1">
                <a:solidFill>
                  <a:srgbClr val="F59E0B"/>
                </a:solidFill>
                <a:latin typeface="Calibri"/>
              </a:defRPr>
            </a:pPr>
            <a:r>
              <a:t>21%</a:t>
            </a:r>
          </a:p>
        </p:txBody>
      </p:sp>
      <p:sp>
        <p:nvSpPr>
          <p:cNvPr id="60" name="Rounded Rectangle 59"/>
          <p:cNvSpPr/>
          <p:nvPr/>
        </p:nvSpPr>
        <p:spPr>
          <a:xfrm>
            <a:off x="594360" y="6071616"/>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594360" y="6071616"/>
            <a:ext cx="234086" cy="155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657600" y="6053328"/>
            <a:ext cx="1828800" cy="182880"/>
          </a:xfrm>
          <a:prstGeom prst="rect">
            <a:avLst/>
          </a:prstGeom>
          <a:noFill/>
        </p:spPr>
        <p:txBody>
          <a:bodyPr wrap="square">
            <a:spAutoFit/>
          </a:bodyPr>
          <a:lstStyle/>
          <a:p>
            <a:pPr algn="l">
              <a:defRPr sz="800" b="0">
                <a:solidFill>
                  <a:srgbClr val="8B95B0"/>
                </a:solidFill>
                <a:latin typeface="Calibri"/>
              </a:defRPr>
            </a:pPr>
            <a:r>
              <a:t>De 4+ ori pe săpt.</a:t>
            </a:r>
          </a:p>
        </p:txBody>
      </p:sp>
      <p:sp>
        <p:nvSpPr>
          <p:cNvPr id="63" name="TextBox 62"/>
          <p:cNvSpPr txBox="1"/>
          <p:nvPr/>
        </p:nvSpPr>
        <p:spPr>
          <a:xfrm>
            <a:off x="5303520" y="6053328"/>
            <a:ext cx="457200" cy="182880"/>
          </a:xfrm>
          <a:prstGeom prst="rect">
            <a:avLst/>
          </a:prstGeom>
          <a:noFill/>
        </p:spPr>
        <p:txBody>
          <a:bodyPr wrap="square">
            <a:spAutoFit/>
          </a:bodyPr>
          <a:lstStyle/>
          <a:p>
            <a:pPr algn="r">
              <a:defRPr sz="900" b="1">
                <a:solidFill>
                  <a:srgbClr val="10B981"/>
                </a:solidFill>
                <a:latin typeface="Calibri"/>
              </a:defRPr>
            </a:pPr>
            <a:r>
              <a:t>8%</a:t>
            </a:r>
          </a:p>
        </p:txBody>
      </p:sp>
      <p:sp>
        <p:nvSpPr>
          <p:cNvPr id="64" name="Rounded Rectangle 63"/>
          <p:cNvSpPr/>
          <p:nvPr/>
        </p:nvSpPr>
        <p:spPr>
          <a:xfrm>
            <a:off x="6217920" y="137160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355080" y="1426464"/>
            <a:ext cx="5212080" cy="228600"/>
          </a:xfrm>
          <a:prstGeom prst="rect">
            <a:avLst/>
          </a:prstGeom>
          <a:noFill/>
        </p:spPr>
        <p:txBody>
          <a:bodyPr wrap="square">
            <a:spAutoFit/>
          </a:bodyPr>
          <a:lstStyle/>
          <a:p>
            <a:pPr algn="l">
              <a:defRPr sz="1000" b="1">
                <a:solidFill>
                  <a:srgbClr val="F0F2F8"/>
                </a:solidFill>
                <a:latin typeface="Calibri"/>
              </a:defRPr>
            </a:pPr>
            <a:r>
              <a:t>❓ Dieta ta este:</a:t>
            </a:r>
          </a:p>
        </p:txBody>
      </p:sp>
      <p:sp>
        <p:nvSpPr>
          <p:cNvPr id="66" name="Rounded Rectangle 65"/>
          <p:cNvSpPr/>
          <p:nvPr/>
        </p:nvSpPr>
        <p:spPr>
          <a:xfrm>
            <a:off x="6355080" y="1691640"/>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6355080" y="1691640"/>
            <a:ext cx="2077516" cy="15544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418320" y="1673352"/>
            <a:ext cx="1828800" cy="182880"/>
          </a:xfrm>
          <a:prstGeom prst="rect">
            <a:avLst/>
          </a:prstGeom>
          <a:noFill/>
        </p:spPr>
        <p:txBody>
          <a:bodyPr wrap="square">
            <a:spAutoFit/>
          </a:bodyPr>
          <a:lstStyle/>
          <a:p>
            <a:pPr algn="l">
              <a:defRPr sz="800" b="0">
                <a:solidFill>
                  <a:srgbClr val="8B95B0"/>
                </a:solidFill>
                <a:latin typeface="Calibri"/>
              </a:defRPr>
            </a:pPr>
            <a:r>
              <a:t>Cu de toate</a:t>
            </a:r>
          </a:p>
        </p:txBody>
      </p:sp>
      <p:sp>
        <p:nvSpPr>
          <p:cNvPr id="69" name="TextBox 68"/>
          <p:cNvSpPr txBox="1"/>
          <p:nvPr/>
        </p:nvSpPr>
        <p:spPr>
          <a:xfrm>
            <a:off x="11064240" y="1673352"/>
            <a:ext cx="457200" cy="182880"/>
          </a:xfrm>
          <a:prstGeom prst="rect">
            <a:avLst/>
          </a:prstGeom>
          <a:noFill/>
        </p:spPr>
        <p:txBody>
          <a:bodyPr wrap="square">
            <a:spAutoFit/>
          </a:bodyPr>
          <a:lstStyle/>
          <a:p>
            <a:pPr algn="r">
              <a:defRPr sz="900" b="1">
                <a:solidFill>
                  <a:srgbClr val="6366F1"/>
                </a:solidFill>
                <a:latin typeface="Calibri"/>
              </a:defRPr>
            </a:pPr>
            <a:r>
              <a:t>71%</a:t>
            </a:r>
          </a:p>
        </p:txBody>
      </p:sp>
      <p:sp>
        <p:nvSpPr>
          <p:cNvPr id="70" name="Rounded Rectangle 69"/>
          <p:cNvSpPr/>
          <p:nvPr/>
        </p:nvSpPr>
        <p:spPr>
          <a:xfrm>
            <a:off x="6355080" y="1892808"/>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6355080" y="1892808"/>
            <a:ext cx="263347" cy="15544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418320" y="1874520"/>
            <a:ext cx="1828800" cy="182880"/>
          </a:xfrm>
          <a:prstGeom prst="rect">
            <a:avLst/>
          </a:prstGeom>
          <a:noFill/>
        </p:spPr>
        <p:txBody>
          <a:bodyPr wrap="square">
            <a:spAutoFit/>
          </a:bodyPr>
          <a:lstStyle/>
          <a:p>
            <a:pPr algn="l">
              <a:defRPr sz="800" b="0">
                <a:solidFill>
                  <a:srgbClr val="8B95B0"/>
                </a:solidFill>
                <a:latin typeface="Calibri"/>
              </a:defRPr>
            </a:pPr>
            <a:r>
              <a:t>Cu mai puțină carne</a:t>
            </a:r>
          </a:p>
        </p:txBody>
      </p:sp>
      <p:sp>
        <p:nvSpPr>
          <p:cNvPr id="73" name="TextBox 72"/>
          <p:cNvSpPr txBox="1"/>
          <p:nvPr/>
        </p:nvSpPr>
        <p:spPr>
          <a:xfrm>
            <a:off x="11064240" y="1874520"/>
            <a:ext cx="457200" cy="182880"/>
          </a:xfrm>
          <a:prstGeom prst="rect">
            <a:avLst/>
          </a:prstGeom>
          <a:noFill/>
        </p:spPr>
        <p:txBody>
          <a:bodyPr wrap="square">
            <a:spAutoFit/>
          </a:bodyPr>
          <a:lstStyle/>
          <a:p>
            <a:pPr algn="r">
              <a:defRPr sz="900" b="1">
                <a:solidFill>
                  <a:srgbClr val="14B8A6"/>
                </a:solidFill>
                <a:latin typeface="Calibri"/>
              </a:defRPr>
            </a:pPr>
            <a:r>
              <a:t>9%</a:t>
            </a:r>
          </a:p>
        </p:txBody>
      </p:sp>
      <p:sp>
        <p:nvSpPr>
          <p:cNvPr id="74" name="Rounded Rectangle 73"/>
          <p:cNvSpPr/>
          <p:nvPr/>
        </p:nvSpPr>
        <p:spPr>
          <a:xfrm>
            <a:off x="6355080" y="2093976"/>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6355080" y="2093976"/>
            <a:ext cx="234086" cy="1554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418320" y="2075688"/>
            <a:ext cx="1828800" cy="182880"/>
          </a:xfrm>
          <a:prstGeom prst="rect">
            <a:avLst/>
          </a:prstGeom>
          <a:noFill/>
        </p:spPr>
        <p:txBody>
          <a:bodyPr wrap="square">
            <a:spAutoFit/>
          </a:bodyPr>
          <a:lstStyle/>
          <a:p>
            <a:pPr algn="l">
              <a:defRPr sz="800" b="0">
                <a:solidFill>
                  <a:srgbClr val="8B95B0"/>
                </a:solidFill>
                <a:latin typeface="Calibri"/>
              </a:defRPr>
            </a:pPr>
            <a:r>
              <a:t>Cu mai multă carne</a:t>
            </a:r>
          </a:p>
        </p:txBody>
      </p:sp>
      <p:sp>
        <p:nvSpPr>
          <p:cNvPr id="77" name="TextBox 76"/>
          <p:cNvSpPr txBox="1"/>
          <p:nvPr/>
        </p:nvSpPr>
        <p:spPr>
          <a:xfrm>
            <a:off x="11064240" y="2075688"/>
            <a:ext cx="457200" cy="182880"/>
          </a:xfrm>
          <a:prstGeom prst="rect">
            <a:avLst/>
          </a:prstGeom>
          <a:noFill/>
        </p:spPr>
        <p:txBody>
          <a:bodyPr wrap="square">
            <a:spAutoFit/>
          </a:bodyPr>
          <a:lstStyle/>
          <a:p>
            <a:pPr algn="r">
              <a:defRPr sz="900" b="1">
                <a:solidFill>
                  <a:srgbClr val="F59E0B"/>
                </a:solidFill>
                <a:latin typeface="Calibri"/>
              </a:defRPr>
            </a:pPr>
            <a:r>
              <a:t>8%</a:t>
            </a:r>
          </a:p>
        </p:txBody>
      </p:sp>
      <p:sp>
        <p:nvSpPr>
          <p:cNvPr id="78" name="Rounded Rectangle 77"/>
          <p:cNvSpPr/>
          <p:nvPr/>
        </p:nvSpPr>
        <p:spPr>
          <a:xfrm>
            <a:off x="6355080" y="2295144"/>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6355080" y="2295144"/>
            <a:ext cx="292608" cy="15544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418320" y="2276856"/>
            <a:ext cx="1828800" cy="182880"/>
          </a:xfrm>
          <a:prstGeom prst="rect">
            <a:avLst/>
          </a:prstGeom>
          <a:noFill/>
        </p:spPr>
        <p:txBody>
          <a:bodyPr wrap="square">
            <a:spAutoFit/>
          </a:bodyPr>
          <a:lstStyle/>
          <a:p>
            <a:pPr algn="l">
              <a:defRPr sz="800" b="0">
                <a:solidFill>
                  <a:srgbClr val="8B95B0"/>
                </a:solidFill>
                <a:latin typeface="Calibri"/>
              </a:defRPr>
            </a:pPr>
            <a:r>
              <a:t>Altfel / Low carb</a:t>
            </a:r>
          </a:p>
        </p:txBody>
      </p:sp>
      <p:sp>
        <p:nvSpPr>
          <p:cNvPr id="81" name="TextBox 80"/>
          <p:cNvSpPr txBox="1"/>
          <p:nvPr/>
        </p:nvSpPr>
        <p:spPr>
          <a:xfrm>
            <a:off x="11064240" y="2276856"/>
            <a:ext cx="457200" cy="182880"/>
          </a:xfrm>
          <a:prstGeom prst="rect">
            <a:avLst/>
          </a:prstGeom>
          <a:noFill/>
        </p:spPr>
        <p:txBody>
          <a:bodyPr wrap="square">
            <a:spAutoFit/>
          </a:bodyPr>
          <a:lstStyle/>
          <a:p>
            <a:pPr algn="r">
              <a:defRPr sz="900" b="1">
                <a:solidFill>
                  <a:srgbClr val="8B5CF6"/>
                </a:solidFill>
                <a:latin typeface="Calibri"/>
              </a:defRPr>
            </a:pPr>
            <a:r>
              <a:t>10%</a:t>
            </a:r>
          </a:p>
        </p:txBody>
      </p:sp>
      <p:sp>
        <p:nvSpPr>
          <p:cNvPr id="82" name="Rounded Rectangle 81"/>
          <p:cNvSpPr/>
          <p:nvPr/>
        </p:nvSpPr>
        <p:spPr>
          <a:xfrm>
            <a:off x="6217920" y="269748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355080" y="2752344"/>
            <a:ext cx="5212080" cy="228600"/>
          </a:xfrm>
          <a:prstGeom prst="rect">
            <a:avLst/>
          </a:prstGeom>
          <a:noFill/>
        </p:spPr>
        <p:txBody>
          <a:bodyPr wrap="square">
            <a:spAutoFit/>
          </a:bodyPr>
          <a:lstStyle/>
          <a:p>
            <a:pPr algn="l">
              <a:defRPr sz="1000" b="1">
                <a:solidFill>
                  <a:srgbClr val="F0F2F8"/>
                </a:solidFill>
                <a:latin typeface="Calibri"/>
              </a:defRPr>
            </a:pPr>
            <a:r>
              <a:t>❓ Mănânci pește?</a:t>
            </a:r>
          </a:p>
        </p:txBody>
      </p:sp>
      <p:sp>
        <p:nvSpPr>
          <p:cNvPr id="84" name="Rounded Rectangle 83"/>
          <p:cNvSpPr/>
          <p:nvPr/>
        </p:nvSpPr>
        <p:spPr>
          <a:xfrm>
            <a:off x="6355080" y="3017520"/>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6355080" y="3017520"/>
            <a:ext cx="2428646" cy="1554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418320" y="2999232"/>
            <a:ext cx="1828800" cy="182880"/>
          </a:xfrm>
          <a:prstGeom prst="rect">
            <a:avLst/>
          </a:prstGeom>
          <a:noFill/>
        </p:spPr>
        <p:txBody>
          <a:bodyPr wrap="square">
            <a:spAutoFit/>
          </a:bodyPr>
          <a:lstStyle/>
          <a:p>
            <a:pPr algn="l">
              <a:defRPr sz="800" b="0">
                <a:solidFill>
                  <a:srgbClr val="8B95B0"/>
                </a:solidFill>
                <a:latin typeface="Calibri"/>
              </a:defRPr>
            </a:pPr>
            <a:r>
              <a:t>Nu prea mănânc</a:t>
            </a:r>
          </a:p>
        </p:txBody>
      </p:sp>
      <p:sp>
        <p:nvSpPr>
          <p:cNvPr id="87" name="TextBox 86"/>
          <p:cNvSpPr txBox="1"/>
          <p:nvPr/>
        </p:nvSpPr>
        <p:spPr>
          <a:xfrm>
            <a:off x="11064240" y="2999232"/>
            <a:ext cx="457200" cy="182880"/>
          </a:xfrm>
          <a:prstGeom prst="rect">
            <a:avLst/>
          </a:prstGeom>
          <a:noFill/>
        </p:spPr>
        <p:txBody>
          <a:bodyPr wrap="square">
            <a:spAutoFit/>
          </a:bodyPr>
          <a:lstStyle/>
          <a:p>
            <a:pPr algn="r">
              <a:defRPr sz="900" b="1">
                <a:solidFill>
                  <a:srgbClr val="EF4444"/>
                </a:solidFill>
                <a:latin typeface="Calibri"/>
              </a:defRPr>
            </a:pPr>
            <a:r>
              <a:t>83%</a:t>
            </a:r>
          </a:p>
        </p:txBody>
      </p:sp>
      <p:sp>
        <p:nvSpPr>
          <p:cNvPr id="88" name="Rounded Rectangle 87"/>
          <p:cNvSpPr/>
          <p:nvPr/>
        </p:nvSpPr>
        <p:spPr>
          <a:xfrm>
            <a:off x="6355080" y="3218688"/>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6355080" y="3218688"/>
            <a:ext cx="409651" cy="1554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9418320" y="3200400"/>
            <a:ext cx="1828800" cy="182880"/>
          </a:xfrm>
          <a:prstGeom prst="rect">
            <a:avLst/>
          </a:prstGeom>
          <a:noFill/>
        </p:spPr>
        <p:txBody>
          <a:bodyPr wrap="square">
            <a:spAutoFit/>
          </a:bodyPr>
          <a:lstStyle/>
          <a:p>
            <a:pPr algn="l">
              <a:defRPr sz="800" b="0">
                <a:solidFill>
                  <a:srgbClr val="8B95B0"/>
                </a:solidFill>
                <a:latin typeface="Calibri"/>
              </a:defRPr>
            </a:pPr>
            <a:r>
              <a:t>De 2-3 ori pe săpt.</a:t>
            </a:r>
          </a:p>
        </p:txBody>
      </p:sp>
      <p:sp>
        <p:nvSpPr>
          <p:cNvPr id="91" name="TextBox 90"/>
          <p:cNvSpPr txBox="1"/>
          <p:nvPr/>
        </p:nvSpPr>
        <p:spPr>
          <a:xfrm>
            <a:off x="11064240" y="3200400"/>
            <a:ext cx="457200" cy="182880"/>
          </a:xfrm>
          <a:prstGeom prst="rect">
            <a:avLst/>
          </a:prstGeom>
          <a:noFill/>
        </p:spPr>
        <p:txBody>
          <a:bodyPr wrap="square">
            <a:spAutoFit/>
          </a:bodyPr>
          <a:lstStyle/>
          <a:p>
            <a:pPr algn="r">
              <a:defRPr sz="900" b="1">
                <a:solidFill>
                  <a:srgbClr val="F59E0B"/>
                </a:solidFill>
                <a:latin typeface="Calibri"/>
              </a:defRPr>
            </a:pPr>
            <a:r>
              <a:t>14%</a:t>
            </a:r>
          </a:p>
        </p:txBody>
      </p:sp>
      <p:sp>
        <p:nvSpPr>
          <p:cNvPr id="92" name="Rounded Rectangle 91"/>
          <p:cNvSpPr/>
          <p:nvPr/>
        </p:nvSpPr>
        <p:spPr>
          <a:xfrm>
            <a:off x="6355080" y="3419856"/>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6355080" y="3419856"/>
            <a:ext cx="36576" cy="155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418320" y="3401568"/>
            <a:ext cx="1828800" cy="182880"/>
          </a:xfrm>
          <a:prstGeom prst="rect">
            <a:avLst/>
          </a:prstGeom>
          <a:noFill/>
        </p:spPr>
        <p:txBody>
          <a:bodyPr wrap="square">
            <a:spAutoFit/>
          </a:bodyPr>
          <a:lstStyle/>
          <a:p>
            <a:pPr algn="l">
              <a:defRPr sz="800" b="0">
                <a:solidFill>
                  <a:srgbClr val="8B95B0"/>
                </a:solidFill>
                <a:latin typeface="Calibri"/>
              </a:defRPr>
            </a:pPr>
            <a:r>
              <a:t>Aproape zilnic</a:t>
            </a:r>
          </a:p>
        </p:txBody>
      </p:sp>
      <p:sp>
        <p:nvSpPr>
          <p:cNvPr id="95" name="TextBox 94"/>
          <p:cNvSpPr txBox="1"/>
          <p:nvPr/>
        </p:nvSpPr>
        <p:spPr>
          <a:xfrm>
            <a:off x="11064240" y="3401568"/>
            <a:ext cx="457200" cy="182880"/>
          </a:xfrm>
          <a:prstGeom prst="rect">
            <a:avLst/>
          </a:prstGeom>
          <a:noFill/>
        </p:spPr>
        <p:txBody>
          <a:bodyPr wrap="square">
            <a:spAutoFit/>
          </a:bodyPr>
          <a:lstStyle/>
          <a:p>
            <a:pPr algn="r">
              <a:defRPr sz="900" b="1">
                <a:solidFill>
                  <a:srgbClr val="10B981"/>
                </a:solidFill>
                <a:latin typeface="Calibri"/>
              </a:defRPr>
            </a:pPr>
            <a:r>
              <a:t>1%</a:t>
            </a:r>
          </a:p>
        </p:txBody>
      </p:sp>
      <p:sp>
        <p:nvSpPr>
          <p:cNvPr id="96" name="Rounded Rectangle 95"/>
          <p:cNvSpPr/>
          <p:nvPr/>
        </p:nvSpPr>
        <p:spPr>
          <a:xfrm>
            <a:off x="6217920" y="402336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355080" y="4078224"/>
            <a:ext cx="5212080" cy="228600"/>
          </a:xfrm>
          <a:prstGeom prst="rect">
            <a:avLst/>
          </a:prstGeom>
          <a:noFill/>
        </p:spPr>
        <p:txBody>
          <a:bodyPr wrap="square">
            <a:spAutoFit/>
          </a:bodyPr>
          <a:lstStyle/>
          <a:p>
            <a:pPr algn="l">
              <a:defRPr sz="1000" b="1">
                <a:solidFill>
                  <a:srgbClr val="F0F2F8"/>
                </a:solidFill>
                <a:latin typeface="Calibri"/>
              </a:defRPr>
            </a:pPr>
            <a:r>
              <a:t>❓ Fumezi?</a:t>
            </a:r>
          </a:p>
        </p:txBody>
      </p:sp>
      <p:sp>
        <p:nvSpPr>
          <p:cNvPr id="98" name="Rounded Rectangle 97"/>
          <p:cNvSpPr/>
          <p:nvPr/>
        </p:nvSpPr>
        <p:spPr>
          <a:xfrm>
            <a:off x="6355080" y="4343400"/>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6355080" y="4343400"/>
            <a:ext cx="1638604" cy="155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9418320" y="4325112"/>
            <a:ext cx="1828800" cy="182880"/>
          </a:xfrm>
          <a:prstGeom prst="rect">
            <a:avLst/>
          </a:prstGeom>
          <a:noFill/>
        </p:spPr>
        <p:txBody>
          <a:bodyPr wrap="square">
            <a:spAutoFit/>
          </a:bodyPr>
          <a:lstStyle/>
          <a:p>
            <a:pPr algn="l">
              <a:defRPr sz="800" b="0">
                <a:solidFill>
                  <a:srgbClr val="8B95B0"/>
                </a:solidFill>
                <a:latin typeface="Calibri"/>
              </a:defRPr>
            </a:pPr>
            <a:r>
              <a:t>Nu</a:t>
            </a:r>
          </a:p>
        </p:txBody>
      </p:sp>
      <p:sp>
        <p:nvSpPr>
          <p:cNvPr id="101" name="TextBox 100"/>
          <p:cNvSpPr txBox="1"/>
          <p:nvPr/>
        </p:nvSpPr>
        <p:spPr>
          <a:xfrm>
            <a:off x="11064240" y="4325112"/>
            <a:ext cx="457200" cy="182880"/>
          </a:xfrm>
          <a:prstGeom prst="rect">
            <a:avLst/>
          </a:prstGeom>
          <a:noFill/>
        </p:spPr>
        <p:txBody>
          <a:bodyPr wrap="square">
            <a:spAutoFit/>
          </a:bodyPr>
          <a:lstStyle/>
          <a:p>
            <a:pPr algn="r">
              <a:defRPr sz="900" b="1">
                <a:solidFill>
                  <a:srgbClr val="10B981"/>
                </a:solidFill>
                <a:latin typeface="Calibri"/>
              </a:defRPr>
            </a:pPr>
            <a:r>
              <a:t>56%</a:t>
            </a:r>
          </a:p>
        </p:txBody>
      </p:sp>
      <p:sp>
        <p:nvSpPr>
          <p:cNvPr id="102" name="Rounded Rectangle 101"/>
          <p:cNvSpPr/>
          <p:nvPr/>
        </p:nvSpPr>
        <p:spPr>
          <a:xfrm>
            <a:off x="6355080" y="4544568"/>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6355080" y="4544568"/>
            <a:ext cx="1082649" cy="1554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9418320" y="4526280"/>
            <a:ext cx="1828800" cy="182880"/>
          </a:xfrm>
          <a:prstGeom prst="rect">
            <a:avLst/>
          </a:prstGeom>
          <a:noFill/>
        </p:spPr>
        <p:txBody>
          <a:bodyPr wrap="square">
            <a:spAutoFit/>
          </a:bodyPr>
          <a:lstStyle/>
          <a:p>
            <a:pPr algn="l">
              <a:defRPr sz="800" b="0">
                <a:solidFill>
                  <a:srgbClr val="8B95B0"/>
                </a:solidFill>
                <a:latin typeface="Calibri"/>
              </a:defRPr>
            </a:pPr>
            <a:r>
              <a:t>Da</a:t>
            </a:r>
          </a:p>
        </p:txBody>
      </p:sp>
      <p:sp>
        <p:nvSpPr>
          <p:cNvPr id="105" name="TextBox 104"/>
          <p:cNvSpPr txBox="1"/>
          <p:nvPr/>
        </p:nvSpPr>
        <p:spPr>
          <a:xfrm>
            <a:off x="11064240" y="4526280"/>
            <a:ext cx="457200" cy="182880"/>
          </a:xfrm>
          <a:prstGeom prst="rect">
            <a:avLst/>
          </a:prstGeom>
          <a:noFill/>
        </p:spPr>
        <p:txBody>
          <a:bodyPr wrap="square">
            <a:spAutoFit/>
          </a:bodyPr>
          <a:lstStyle/>
          <a:p>
            <a:pPr algn="r">
              <a:defRPr sz="900" b="1">
                <a:solidFill>
                  <a:srgbClr val="EF4444"/>
                </a:solidFill>
                <a:latin typeface="Calibri"/>
              </a:defRPr>
            </a:pPr>
            <a:r>
              <a:t>37%</a:t>
            </a:r>
          </a:p>
        </p:txBody>
      </p:sp>
      <p:sp>
        <p:nvSpPr>
          <p:cNvPr id="106" name="Rounded Rectangle 105"/>
          <p:cNvSpPr/>
          <p:nvPr/>
        </p:nvSpPr>
        <p:spPr>
          <a:xfrm>
            <a:off x="6355080" y="4745736"/>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6355080" y="4745736"/>
            <a:ext cx="204825" cy="15544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9418320" y="4727448"/>
            <a:ext cx="1828800" cy="182880"/>
          </a:xfrm>
          <a:prstGeom prst="rect">
            <a:avLst/>
          </a:prstGeom>
          <a:noFill/>
        </p:spPr>
        <p:txBody>
          <a:bodyPr wrap="square">
            <a:spAutoFit/>
          </a:bodyPr>
          <a:lstStyle/>
          <a:p>
            <a:pPr algn="l">
              <a:defRPr sz="800" b="0">
                <a:solidFill>
                  <a:srgbClr val="8B95B0"/>
                </a:solidFill>
                <a:latin typeface="Calibri"/>
              </a:defRPr>
            </a:pPr>
            <a:r>
              <a:t>Pasiv</a:t>
            </a:r>
          </a:p>
        </p:txBody>
      </p:sp>
      <p:sp>
        <p:nvSpPr>
          <p:cNvPr id="109" name="TextBox 108"/>
          <p:cNvSpPr txBox="1"/>
          <p:nvPr/>
        </p:nvSpPr>
        <p:spPr>
          <a:xfrm>
            <a:off x="11064240" y="4727448"/>
            <a:ext cx="457200" cy="182880"/>
          </a:xfrm>
          <a:prstGeom prst="rect">
            <a:avLst/>
          </a:prstGeom>
          <a:noFill/>
        </p:spPr>
        <p:txBody>
          <a:bodyPr wrap="square">
            <a:spAutoFit/>
          </a:bodyPr>
          <a:lstStyle/>
          <a:p>
            <a:pPr algn="r">
              <a:defRPr sz="900" b="1">
                <a:solidFill>
                  <a:srgbClr val="F59E0B"/>
                </a:solidFill>
                <a:latin typeface="Calibri"/>
              </a:defRPr>
            </a:pPr>
            <a:r>
              <a:t>7%</a:t>
            </a:r>
          </a:p>
        </p:txBody>
      </p:sp>
      <p:sp>
        <p:nvSpPr>
          <p:cNvPr id="110" name="Rounded Rectangle 109"/>
          <p:cNvSpPr/>
          <p:nvPr/>
        </p:nvSpPr>
        <p:spPr>
          <a:xfrm>
            <a:off x="6217920" y="534924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355080" y="5404103"/>
            <a:ext cx="5212080" cy="228600"/>
          </a:xfrm>
          <a:prstGeom prst="rect">
            <a:avLst/>
          </a:prstGeom>
          <a:noFill/>
        </p:spPr>
        <p:txBody>
          <a:bodyPr wrap="square">
            <a:spAutoFit/>
          </a:bodyPr>
          <a:lstStyle/>
          <a:p>
            <a:pPr algn="l">
              <a:defRPr sz="1000" b="1">
                <a:solidFill>
                  <a:srgbClr val="F0F2F8"/>
                </a:solidFill>
                <a:latin typeface="Calibri"/>
              </a:defRPr>
            </a:pPr>
            <a:r>
              <a:t>❓ Poftă de dulce?</a:t>
            </a:r>
          </a:p>
        </p:txBody>
      </p:sp>
      <p:sp>
        <p:nvSpPr>
          <p:cNvPr id="112" name="Rounded Rectangle 111"/>
          <p:cNvSpPr/>
          <p:nvPr/>
        </p:nvSpPr>
        <p:spPr>
          <a:xfrm>
            <a:off x="6355080" y="5669279"/>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112"/>
          <p:cNvSpPr/>
          <p:nvPr/>
        </p:nvSpPr>
        <p:spPr>
          <a:xfrm>
            <a:off x="6355080" y="5669279"/>
            <a:ext cx="2018995" cy="15544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9418320" y="5650992"/>
            <a:ext cx="1828800" cy="182880"/>
          </a:xfrm>
          <a:prstGeom prst="rect">
            <a:avLst/>
          </a:prstGeom>
          <a:noFill/>
        </p:spPr>
        <p:txBody>
          <a:bodyPr wrap="square">
            <a:spAutoFit/>
          </a:bodyPr>
          <a:lstStyle/>
          <a:p>
            <a:pPr algn="l">
              <a:defRPr sz="800" b="0">
                <a:solidFill>
                  <a:srgbClr val="8B95B0"/>
                </a:solidFill>
                <a:latin typeface="Calibri"/>
              </a:defRPr>
            </a:pPr>
            <a:r>
              <a:t>Da, vreau să reduc</a:t>
            </a:r>
          </a:p>
        </p:txBody>
      </p:sp>
      <p:sp>
        <p:nvSpPr>
          <p:cNvPr id="115" name="TextBox 114"/>
          <p:cNvSpPr txBox="1"/>
          <p:nvPr/>
        </p:nvSpPr>
        <p:spPr>
          <a:xfrm>
            <a:off x="11064240" y="5650992"/>
            <a:ext cx="457200" cy="182880"/>
          </a:xfrm>
          <a:prstGeom prst="rect">
            <a:avLst/>
          </a:prstGeom>
          <a:noFill/>
        </p:spPr>
        <p:txBody>
          <a:bodyPr wrap="square">
            <a:spAutoFit/>
          </a:bodyPr>
          <a:lstStyle/>
          <a:p>
            <a:pPr algn="r">
              <a:defRPr sz="900" b="1">
                <a:solidFill>
                  <a:srgbClr val="EF4444"/>
                </a:solidFill>
                <a:latin typeface="Calibri"/>
              </a:defRPr>
            </a:pPr>
            <a:r>
              <a:t>69%</a:t>
            </a:r>
          </a:p>
        </p:txBody>
      </p:sp>
      <p:sp>
        <p:nvSpPr>
          <p:cNvPr id="116" name="Rounded Rectangle 115"/>
          <p:cNvSpPr/>
          <p:nvPr/>
        </p:nvSpPr>
        <p:spPr>
          <a:xfrm>
            <a:off x="6355080" y="5870447"/>
            <a:ext cx="2926080" cy="15544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ounded Rectangle 116"/>
          <p:cNvSpPr/>
          <p:nvPr/>
        </p:nvSpPr>
        <p:spPr>
          <a:xfrm>
            <a:off x="6355080" y="5870447"/>
            <a:ext cx="907084" cy="1554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9418320" y="5852159"/>
            <a:ext cx="1828800" cy="182880"/>
          </a:xfrm>
          <a:prstGeom prst="rect">
            <a:avLst/>
          </a:prstGeom>
          <a:noFill/>
        </p:spPr>
        <p:txBody>
          <a:bodyPr wrap="square">
            <a:spAutoFit/>
          </a:bodyPr>
          <a:lstStyle/>
          <a:p>
            <a:pPr algn="l">
              <a:defRPr sz="800" b="0">
                <a:solidFill>
                  <a:srgbClr val="8B95B0"/>
                </a:solidFill>
                <a:latin typeface="Calibri"/>
              </a:defRPr>
            </a:pPr>
            <a:r>
              <a:t>Nu</a:t>
            </a:r>
          </a:p>
        </p:txBody>
      </p:sp>
      <p:sp>
        <p:nvSpPr>
          <p:cNvPr id="119" name="TextBox 118"/>
          <p:cNvSpPr txBox="1"/>
          <p:nvPr/>
        </p:nvSpPr>
        <p:spPr>
          <a:xfrm>
            <a:off x="11064240" y="5852159"/>
            <a:ext cx="457200" cy="182880"/>
          </a:xfrm>
          <a:prstGeom prst="rect">
            <a:avLst/>
          </a:prstGeom>
          <a:noFill/>
        </p:spPr>
        <p:txBody>
          <a:bodyPr wrap="square">
            <a:spAutoFit/>
          </a:bodyPr>
          <a:lstStyle/>
          <a:p>
            <a:pPr algn="r">
              <a:defRPr sz="900" b="1">
                <a:solidFill>
                  <a:srgbClr val="10B981"/>
                </a:solidFill>
                <a:latin typeface="Calibri"/>
              </a:defRPr>
            </a:pPr>
            <a:r>
              <a:t>31%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GEOGRAFIE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De unde sunt clienții Zitamine?</a:t>
            </a:r>
          </a:p>
        </p:txBody>
      </p:sp>
      <p:sp>
        <p:nvSpPr>
          <p:cNvPr id="4" name="Rounded Rectangle 3"/>
          <p:cNvSpPr/>
          <p:nvPr/>
        </p:nvSpPr>
        <p:spPr>
          <a:xfrm>
            <a:off x="457200" y="1463040"/>
            <a:ext cx="5486400" cy="4937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5120640" cy="274320"/>
          </a:xfrm>
          <a:prstGeom prst="rect">
            <a:avLst/>
          </a:prstGeom>
          <a:noFill/>
        </p:spPr>
        <p:txBody>
          <a:bodyPr wrap="square">
            <a:spAutoFit/>
          </a:bodyPr>
          <a:lstStyle/>
          <a:p>
            <a:pPr algn="l">
              <a:defRPr sz="1000" b="1">
                <a:solidFill>
                  <a:srgbClr val="8B95B0"/>
                </a:solidFill>
                <a:latin typeface="Calibri"/>
              </a:defRPr>
            </a:pPr>
            <a:r>
              <a:t>TOP JUDEȚE (clienți unici din comenzi 2025-2026)</a:t>
            </a:r>
          </a:p>
        </p:txBody>
      </p:sp>
      <p:sp>
        <p:nvSpPr>
          <p:cNvPr id="6" name="Rounded Rectangle 5"/>
          <p:cNvSpPr/>
          <p:nvPr/>
        </p:nvSpPr>
        <p:spPr>
          <a:xfrm>
            <a:off x="640080" y="1965960"/>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965960"/>
            <a:ext cx="5029200" cy="29260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75103"/>
            <a:ext cx="1828800" cy="274320"/>
          </a:xfrm>
          <a:prstGeom prst="rect">
            <a:avLst/>
          </a:prstGeom>
          <a:noFill/>
        </p:spPr>
        <p:txBody>
          <a:bodyPr wrap="square">
            <a:spAutoFit/>
          </a:bodyPr>
          <a:lstStyle/>
          <a:p>
            <a:pPr algn="l">
              <a:defRPr sz="1000" b="1">
                <a:solidFill>
                  <a:srgbClr val="F0F2F8"/>
                </a:solidFill>
                <a:latin typeface="Calibri"/>
              </a:defRPr>
            </a:pPr>
            <a:r>
              <a:t>București</a:t>
            </a:r>
          </a:p>
        </p:txBody>
      </p:sp>
      <p:sp>
        <p:nvSpPr>
          <p:cNvPr id="9" name="TextBox 8"/>
          <p:cNvSpPr txBox="1"/>
          <p:nvPr/>
        </p:nvSpPr>
        <p:spPr>
          <a:xfrm>
            <a:off x="4389120" y="1975103"/>
            <a:ext cx="1188720" cy="274320"/>
          </a:xfrm>
          <a:prstGeom prst="rect">
            <a:avLst/>
          </a:prstGeom>
          <a:noFill/>
        </p:spPr>
        <p:txBody>
          <a:bodyPr wrap="square">
            <a:spAutoFit/>
          </a:bodyPr>
          <a:lstStyle/>
          <a:p>
            <a:pPr algn="r">
              <a:defRPr sz="1000" b="0">
                <a:solidFill>
                  <a:srgbClr val="F0F2F8"/>
                </a:solidFill>
                <a:latin typeface="Calibri"/>
              </a:defRPr>
            </a:pPr>
            <a:r>
              <a:t>1,193</a:t>
            </a:r>
          </a:p>
        </p:txBody>
      </p:sp>
      <p:sp>
        <p:nvSpPr>
          <p:cNvPr id="10" name="Rounded Rectangle 9"/>
          <p:cNvSpPr/>
          <p:nvPr/>
        </p:nvSpPr>
        <p:spPr>
          <a:xfrm>
            <a:off x="640080" y="2340864"/>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 y="2340864"/>
            <a:ext cx="1547121" cy="29260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350008"/>
            <a:ext cx="1828800" cy="274320"/>
          </a:xfrm>
          <a:prstGeom prst="rect">
            <a:avLst/>
          </a:prstGeom>
          <a:noFill/>
        </p:spPr>
        <p:txBody>
          <a:bodyPr wrap="square">
            <a:spAutoFit/>
          </a:bodyPr>
          <a:lstStyle/>
          <a:p>
            <a:pPr algn="l">
              <a:defRPr sz="1000" b="1">
                <a:solidFill>
                  <a:srgbClr val="F0F2F8"/>
                </a:solidFill>
                <a:latin typeface="Calibri"/>
              </a:defRPr>
            </a:pPr>
            <a:r>
              <a:t>Cluj</a:t>
            </a:r>
          </a:p>
        </p:txBody>
      </p:sp>
      <p:sp>
        <p:nvSpPr>
          <p:cNvPr id="13" name="TextBox 12"/>
          <p:cNvSpPr txBox="1"/>
          <p:nvPr/>
        </p:nvSpPr>
        <p:spPr>
          <a:xfrm>
            <a:off x="4389120" y="2350008"/>
            <a:ext cx="1188720" cy="274320"/>
          </a:xfrm>
          <a:prstGeom prst="rect">
            <a:avLst/>
          </a:prstGeom>
          <a:noFill/>
        </p:spPr>
        <p:txBody>
          <a:bodyPr wrap="square">
            <a:spAutoFit/>
          </a:bodyPr>
          <a:lstStyle/>
          <a:p>
            <a:pPr algn="r">
              <a:defRPr sz="1000" b="0">
                <a:solidFill>
                  <a:srgbClr val="F0F2F8"/>
                </a:solidFill>
                <a:latin typeface="Calibri"/>
              </a:defRPr>
            </a:pPr>
            <a:r>
              <a:t>367</a:t>
            </a:r>
          </a:p>
        </p:txBody>
      </p:sp>
      <p:sp>
        <p:nvSpPr>
          <p:cNvPr id="14" name="Rounded Rectangle 13"/>
          <p:cNvSpPr/>
          <p:nvPr/>
        </p:nvSpPr>
        <p:spPr>
          <a:xfrm>
            <a:off x="640080" y="2715768"/>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715768"/>
            <a:ext cx="1365851" cy="292608"/>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2724911"/>
            <a:ext cx="1828800" cy="274320"/>
          </a:xfrm>
          <a:prstGeom prst="rect">
            <a:avLst/>
          </a:prstGeom>
          <a:noFill/>
        </p:spPr>
        <p:txBody>
          <a:bodyPr wrap="square">
            <a:spAutoFit/>
          </a:bodyPr>
          <a:lstStyle/>
          <a:p>
            <a:pPr algn="l">
              <a:defRPr sz="1000" b="1">
                <a:solidFill>
                  <a:srgbClr val="F0F2F8"/>
                </a:solidFill>
                <a:latin typeface="Calibri"/>
              </a:defRPr>
            </a:pPr>
            <a:r>
              <a:t>Ilfov</a:t>
            </a:r>
          </a:p>
        </p:txBody>
      </p:sp>
      <p:sp>
        <p:nvSpPr>
          <p:cNvPr id="17" name="TextBox 16"/>
          <p:cNvSpPr txBox="1"/>
          <p:nvPr/>
        </p:nvSpPr>
        <p:spPr>
          <a:xfrm>
            <a:off x="4389120" y="2724911"/>
            <a:ext cx="1188720" cy="274320"/>
          </a:xfrm>
          <a:prstGeom prst="rect">
            <a:avLst/>
          </a:prstGeom>
          <a:noFill/>
        </p:spPr>
        <p:txBody>
          <a:bodyPr wrap="square">
            <a:spAutoFit/>
          </a:bodyPr>
          <a:lstStyle/>
          <a:p>
            <a:pPr algn="r">
              <a:defRPr sz="1000" b="0">
                <a:solidFill>
                  <a:srgbClr val="F0F2F8"/>
                </a:solidFill>
                <a:latin typeface="Calibri"/>
              </a:defRPr>
            </a:pPr>
            <a:r>
              <a:t>324</a:t>
            </a:r>
          </a:p>
        </p:txBody>
      </p:sp>
      <p:sp>
        <p:nvSpPr>
          <p:cNvPr id="18" name="Rounded Rectangle 17"/>
          <p:cNvSpPr/>
          <p:nvPr/>
        </p:nvSpPr>
        <p:spPr>
          <a:xfrm>
            <a:off x="640080" y="3090672"/>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0080" y="3090672"/>
            <a:ext cx="1222521" cy="29260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099815"/>
            <a:ext cx="1828800" cy="274320"/>
          </a:xfrm>
          <a:prstGeom prst="rect">
            <a:avLst/>
          </a:prstGeom>
          <a:noFill/>
        </p:spPr>
        <p:txBody>
          <a:bodyPr wrap="square">
            <a:spAutoFit/>
          </a:bodyPr>
          <a:lstStyle/>
          <a:p>
            <a:pPr algn="l">
              <a:defRPr sz="1000" b="1">
                <a:solidFill>
                  <a:srgbClr val="F0F2F8"/>
                </a:solidFill>
                <a:latin typeface="Calibri"/>
              </a:defRPr>
            </a:pPr>
            <a:r>
              <a:t>Timiș</a:t>
            </a:r>
          </a:p>
        </p:txBody>
      </p:sp>
      <p:sp>
        <p:nvSpPr>
          <p:cNvPr id="21" name="TextBox 20"/>
          <p:cNvSpPr txBox="1"/>
          <p:nvPr/>
        </p:nvSpPr>
        <p:spPr>
          <a:xfrm>
            <a:off x="4389120" y="3099815"/>
            <a:ext cx="1188720" cy="274320"/>
          </a:xfrm>
          <a:prstGeom prst="rect">
            <a:avLst/>
          </a:prstGeom>
          <a:noFill/>
        </p:spPr>
        <p:txBody>
          <a:bodyPr wrap="square">
            <a:spAutoFit/>
          </a:bodyPr>
          <a:lstStyle/>
          <a:p>
            <a:pPr algn="r">
              <a:defRPr sz="1000" b="0">
                <a:solidFill>
                  <a:srgbClr val="F0F2F8"/>
                </a:solidFill>
                <a:latin typeface="Calibri"/>
              </a:defRPr>
            </a:pPr>
            <a:r>
              <a:t>290</a:t>
            </a:r>
          </a:p>
        </p:txBody>
      </p:sp>
      <p:sp>
        <p:nvSpPr>
          <p:cNvPr id="22" name="Rounded Rectangle 21"/>
          <p:cNvSpPr/>
          <p:nvPr/>
        </p:nvSpPr>
        <p:spPr>
          <a:xfrm>
            <a:off x="640080" y="3465576"/>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40080" y="3465576"/>
            <a:ext cx="1015957" cy="29260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474720"/>
            <a:ext cx="1828800" cy="274320"/>
          </a:xfrm>
          <a:prstGeom prst="rect">
            <a:avLst/>
          </a:prstGeom>
          <a:noFill/>
        </p:spPr>
        <p:txBody>
          <a:bodyPr wrap="square">
            <a:spAutoFit/>
          </a:bodyPr>
          <a:lstStyle/>
          <a:p>
            <a:pPr algn="l">
              <a:defRPr sz="1000" b="1">
                <a:solidFill>
                  <a:srgbClr val="F0F2F8"/>
                </a:solidFill>
                <a:latin typeface="Calibri"/>
              </a:defRPr>
            </a:pPr>
            <a:r>
              <a:t>Constanța</a:t>
            </a:r>
          </a:p>
        </p:txBody>
      </p:sp>
      <p:sp>
        <p:nvSpPr>
          <p:cNvPr id="25" name="TextBox 24"/>
          <p:cNvSpPr txBox="1"/>
          <p:nvPr/>
        </p:nvSpPr>
        <p:spPr>
          <a:xfrm>
            <a:off x="4389120" y="3474720"/>
            <a:ext cx="1188720" cy="274320"/>
          </a:xfrm>
          <a:prstGeom prst="rect">
            <a:avLst/>
          </a:prstGeom>
          <a:noFill/>
        </p:spPr>
        <p:txBody>
          <a:bodyPr wrap="square">
            <a:spAutoFit/>
          </a:bodyPr>
          <a:lstStyle/>
          <a:p>
            <a:pPr algn="r">
              <a:defRPr sz="1000" b="0">
                <a:solidFill>
                  <a:srgbClr val="F0F2F8"/>
                </a:solidFill>
                <a:latin typeface="Calibri"/>
              </a:defRPr>
            </a:pPr>
            <a:r>
              <a:t>241</a:t>
            </a:r>
          </a:p>
        </p:txBody>
      </p:sp>
      <p:sp>
        <p:nvSpPr>
          <p:cNvPr id="26" name="Rounded Rectangle 25"/>
          <p:cNvSpPr/>
          <p:nvPr/>
        </p:nvSpPr>
        <p:spPr>
          <a:xfrm>
            <a:off x="640080" y="3840479"/>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40080" y="3840479"/>
            <a:ext cx="918998" cy="29260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3849623"/>
            <a:ext cx="1828800" cy="274320"/>
          </a:xfrm>
          <a:prstGeom prst="rect">
            <a:avLst/>
          </a:prstGeom>
          <a:noFill/>
        </p:spPr>
        <p:txBody>
          <a:bodyPr wrap="square">
            <a:spAutoFit/>
          </a:bodyPr>
          <a:lstStyle/>
          <a:p>
            <a:pPr algn="l">
              <a:defRPr sz="1000" b="1">
                <a:solidFill>
                  <a:srgbClr val="F0F2F8"/>
                </a:solidFill>
                <a:latin typeface="Calibri"/>
              </a:defRPr>
            </a:pPr>
            <a:r>
              <a:t>Brașov</a:t>
            </a:r>
          </a:p>
        </p:txBody>
      </p:sp>
      <p:sp>
        <p:nvSpPr>
          <p:cNvPr id="29" name="TextBox 28"/>
          <p:cNvSpPr txBox="1"/>
          <p:nvPr/>
        </p:nvSpPr>
        <p:spPr>
          <a:xfrm>
            <a:off x="4389120" y="3849623"/>
            <a:ext cx="1188720" cy="274320"/>
          </a:xfrm>
          <a:prstGeom prst="rect">
            <a:avLst/>
          </a:prstGeom>
          <a:noFill/>
        </p:spPr>
        <p:txBody>
          <a:bodyPr wrap="square">
            <a:spAutoFit/>
          </a:bodyPr>
          <a:lstStyle/>
          <a:p>
            <a:pPr algn="r">
              <a:defRPr sz="1000" b="0">
                <a:solidFill>
                  <a:srgbClr val="F0F2F8"/>
                </a:solidFill>
                <a:latin typeface="Calibri"/>
              </a:defRPr>
            </a:pPr>
            <a:r>
              <a:t>218</a:t>
            </a:r>
          </a:p>
        </p:txBody>
      </p:sp>
      <p:sp>
        <p:nvSpPr>
          <p:cNvPr id="30" name="Rounded Rectangle 29"/>
          <p:cNvSpPr/>
          <p:nvPr/>
        </p:nvSpPr>
        <p:spPr>
          <a:xfrm>
            <a:off x="640080" y="4215383"/>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40080" y="4215383"/>
            <a:ext cx="914783" cy="29260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4224527"/>
            <a:ext cx="1828800" cy="274320"/>
          </a:xfrm>
          <a:prstGeom prst="rect">
            <a:avLst/>
          </a:prstGeom>
          <a:noFill/>
        </p:spPr>
        <p:txBody>
          <a:bodyPr wrap="square">
            <a:spAutoFit/>
          </a:bodyPr>
          <a:lstStyle/>
          <a:p>
            <a:pPr algn="l">
              <a:defRPr sz="1000" b="1">
                <a:solidFill>
                  <a:srgbClr val="F0F2F8"/>
                </a:solidFill>
                <a:latin typeface="Calibri"/>
              </a:defRPr>
            </a:pPr>
            <a:r>
              <a:t>Iași</a:t>
            </a:r>
          </a:p>
        </p:txBody>
      </p:sp>
      <p:sp>
        <p:nvSpPr>
          <p:cNvPr id="33" name="TextBox 32"/>
          <p:cNvSpPr txBox="1"/>
          <p:nvPr/>
        </p:nvSpPr>
        <p:spPr>
          <a:xfrm>
            <a:off x="4389120" y="4224527"/>
            <a:ext cx="1188720" cy="274320"/>
          </a:xfrm>
          <a:prstGeom prst="rect">
            <a:avLst/>
          </a:prstGeom>
          <a:noFill/>
        </p:spPr>
        <p:txBody>
          <a:bodyPr wrap="square">
            <a:spAutoFit/>
          </a:bodyPr>
          <a:lstStyle/>
          <a:p>
            <a:pPr algn="r">
              <a:defRPr sz="1000" b="0">
                <a:solidFill>
                  <a:srgbClr val="F0F2F8"/>
                </a:solidFill>
                <a:latin typeface="Calibri"/>
              </a:defRPr>
            </a:pPr>
            <a:r>
              <a:t>217</a:t>
            </a:r>
          </a:p>
        </p:txBody>
      </p:sp>
      <p:sp>
        <p:nvSpPr>
          <p:cNvPr id="34" name="Rounded Rectangle 33"/>
          <p:cNvSpPr/>
          <p:nvPr/>
        </p:nvSpPr>
        <p:spPr>
          <a:xfrm>
            <a:off x="640080" y="4590288"/>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40080" y="4590288"/>
            <a:ext cx="666063" cy="29260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599431"/>
            <a:ext cx="1828800" cy="274320"/>
          </a:xfrm>
          <a:prstGeom prst="rect">
            <a:avLst/>
          </a:prstGeom>
          <a:noFill/>
        </p:spPr>
        <p:txBody>
          <a:bodyPr wrap="square">
            <a:spAutoFit/>
          </a:bodyPr>
          <a:lstStyle/>
          <a:p>
            <a:pPr algn="l">
              <a:defRPr sz="1000" b="1">
                <a:solidFill>
                  <a:srgbClr val="F0F2F8"/>
                </a:solidFill>
                <a:latin typeface="Calibri"/>
              </a:defRPr>
            </a:pPr>
            <a:r>
              <a:t>Prahova</a:t>
            </a:r>
          </a:p>
        </p:txBody>
      </p:sp>
      <p:sp>
        <p:nvSpPr>
          <p:cNvPr id="37" name="TextBox 36"/>
          <p:cNvSpPr txBox="1"/>
          <p:nvPr/>
        </p:nvSpPr>
        <p:spPr>
          <a:xfrm>
            <a:off x="4389120" y="4599431"/>
            <a:ext cx="1188720" cy="274320"/>
          </a:xfrm>
          <a:prstGeom prst="rect">
            <a:avLst/>
          </a:prstGeom>
          <a:noFill/>
        </p:spPr>
        <p:txBody>
          <a:bodyPr wrap="square">
            <a:spAutoFit/>
          </a:bodyPr>
          <a:lstStyle/>
          <a:p>
            <a:pPr algn="r">
              <a:defRPr sz="1000" b="0">
                <a:solidFill>
                  <a:srgbClr val="F0F2F8"/>
                </a:solidFill>
                <a:latin typeface="Calibri"/>
              </a:defRPr>
            </a:pPr>
            <a:r>
              <a:t>158</a:t>
            </a:r>
          </a:p>
        </p:txBody>
      </p:sp>
      <p:sp>
        <p:nvSpPr>
          <p:cNvPr id="38" name="Rounded Rectangle 37"/>
          <p:cNvSpPr/>
          <p:nvPr/>
        </p:nvSpPr>
        <p:spPr>
          <a:xfrm>
            <a:off x="640080" y="4965192"/>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640080" y="4965192"/>
            <a:ext cx="590182" cy="292608"/>
          </a:xfrm>
          <a:prstGeom prst="roundRect">
            <a:avLst/>
          </a:prstGeom>
          <a:solidFill>
            <a:srgbClr val="F97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1520" y="4974336"/>
            <a:ext cx="1828800" cy="274320"/>
          </a:xfrm>
          <a:prstGeom prst="rect">
            <a:avLst/>
          </a:prstGeom>
          <a:noFill/>
        </p:spPr>
        <p:txBody>
          <a:bodyPr wrap="square">
            <a:spAutoFit/>
          </a:bodyPr>
          <a:lstStyle/>
          <a:p>
            <a:pPr algn="l">
              <a:defRPr sz="1000" b="1">
                <a:solidFill>
                  <a:srgbClr val="F0F2F8"/>
                </a:solidFill>
                <a:latin typeface="Calibri"/>
              </a:defRPr>
            </a:pPr>
            <a:r>
              <a:t>Bihor</a:t>
            </a:r>
          </a:p>
        </p:txBody>
      </p:sp>
      <p:sp>
        <p:nvSpPr>
          <p:cNvPr id="41" name="TextBox 40"/>
          <p:cNvSpPr txBox="1"/>
          <p:nvPr/>
        </p:nvSpPr>
        <p:spPr>
          <a:xfrm>
            <a:off x="4389120" y="4974336"/>
            <a:ext cx="1188720" cy="274320"/>
          </a:xfrm>
          <a:prstGeom prst="rect">
            <a:avLst/>
          </a:prstGeom>
          <a:noFill/>
        </p:spPr>
        <p:txBody>
          <a:bodyPr wrap="square">
            <a:spAutoFit/>
          </a:bodyPr>
          <a:lstStyle/>
          <a:p>
            <a:pPr algn="r">
              <a:defRPr sz="1000" b="0">
                <a:solidFill>
                  <a:srgbClr val="F0F2F8"/>
                </a:solidFill>
                <a:latin typeface="Calibri"/>
              </a:defRPr>
            </a:pPr>
            <a:r>
              <a:t>140</a:t>
            </a:r>
          </a:p>
        </p:txBody>
      </p:sp>
      <p:sp>
        <p:nvSpPr>
          <p:cNvPr id="42" name="Rounded Rectangle 41"/>
          <p:cNvSpPr/>
          <p:nvPr/>
        </p:nvSpPr>
        <p:spPr>
          <a:xfrm>
            <a:off x="640080" y="5340096"/>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40080" y="5340096"/>
            <a:ext cx="552242" cy="292608"/>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20" y="5349240"/>
            <a:ext cx="1828800" cy="274320"/>
          </a:xfrm>
          <a:prstGeom prst="rect">
            <a:avLst/>
          </a:prstGeom>
          <a:noFill/>
        </p:spPr>
        <p:txBody>
          <a:bodyPr wrap="square">
            <a:spAutoFit/>
          </a:bodyPr>
          <a:lstStyle/>
          <a:p>
            <a:pPr algn="l">
              <a:defRPr sz="1000" b="1">
                <a:solidFill>
                  <a:srgbClr val="F0F2F8"/>
                </a:solidFill>
                <a:latin typeface="Calibri"/>
              </a:defRPr>
            </a:pPr>
            <a:r>
              <a:t>Sibiu</a:t>
            </a:r>
          </a:p>
        </p:txBody>
      </p:sp>
      <p:sp>
        <p:nvSpPr>
          <p:cNvPr id="45" name="TextBox 44"/>
          <p:cNvSpPr txBox="1"/>
          <p:nvPr/>
        </p:nvSpPr>
        <p:spPr>
          <a:xfrm>
            <a:off x="4389120" y="5349240"/>
            <a:ext cx="1188720" cy="274320"/>
          </a:xfrm>
          <a:prstGeom prst="rect">
            <a:avLst/>
          </a:prstGeom>
          <a:noFill/>
        </p:spPr>
        <p:txBody>
          <a:bodyPr wrap="square">
            <a:spAutoFit/>
          </a:bodyPr>
          <a:lstStyle/>
          <a:p>
            <a:pPr algn="r">
              <a:defRPr sz="1000" b="0">
                <a:solidFill>
                  <a:srgbClr val="F0F2F8"/>
                </a:solidFill>
                <a:latin typeface="Calibri"/>
              </a:defRPr>
            </a:pPr>
            <a:r>
              <a:t>131</a:t>
            </a:r>
          </a:p>
        </p:txBody>
      </p:sp>
      <p:sp>
        <p:nvSpPr>
          <p:cNvPr id="46" name="Rounded Rectangle 45"/>
          <p:cNvSpPr/>
          <p:nvPr/>
        </p:nvSpPr>
        <p:spPr>
          <a:xfrm>
            <a:off x="640080" y="5715000"/>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40080" y="5715000"/>
            <a:ext cx="484792" cy="29260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 y="5724144"/>
            <a:ext cx="1828800" cy="274320"/>
          </a:xfrm>
          <a:prstGeom prst="rect">
            <a:avLst/>
          </a:prstGeom>
          <a:noFill/>
        </p:spPr>
        <p:txBody>
          <a:bodyPr wrap="square">
            <a:spAutoFit/>
          </a:bodyPr>
          <a:lstStyle/>
          <a:p>
            <a:pPr algn="l">
              <a:defRPr sz="1000" b="1">
                <a:solidFill>
                  <a:srgbClr val="F0F2F8"/>
                </a:solidFill>
                <a:latin typeface="Calibri"/>
              </a:defRPr>
            </a:pPr>
            <a:r>
              <a:t>Mureș</a:t>
            </a:r>
          </a:p>
        </p:txBody>
      </p:sp>
      <p:sp>
        <p:nvSpPr>
          <p:cNvPr id="49" name="TextBox 48"/>
          <p:cNvSpPr txBox="1"/>
          <p:nvPr/>
        </p:nvSpPr>
        <p:spPr>
          <a:xfrm>
            <a:off x="4389120" y="5724144"/>
            <a:ext cx="1188720" cy="274320"/>
          </a:xfrm>
          <a:prstGeom prst="rect">
            <a:avLst/>
          </a:prstGeom>
          <a:noFill/>
        </p:spPr>
        <p:txBody>
          <a:bodyPr wrap="square">
            <a:spAutoFit/>
          </a:bodyPr>
          <a:lstStyle/>
          <a:p>
            <a:pPr algn="r">
              <a:defRPr sz="1000" b="0">
                <a:solidFill>
                  <a:srgbClr val="F0F2F8"/>
                </a:solidFill>
                <a:latin typeface="Calibri"/>
              </a:defRPr>
            </a:pPr>
            <a:r>
              <a:t>115</a:t>
            </a:r>
          </a:p>
        </p:txBody>
      </p:sp>
      <p:sp>
        <p:nvSpPr>
          <p:cNvPr id="50" name="Rounded Rectangle 49"/>
          <p:cNvSpPr/>
          <p:nvPr/>
        </p:nvSpPr>
        <p:spPr>
          <a:xfrm>
            <a:off x="640080" y="6089904"/>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640080" y="6089904"/>
            <a:ext cx="476361" cy="29260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31520" y="6099048"/>
            <a:ext cx="1828800" cy="274320"/>
          </a:xfrm>
          <a:prstGeom prst="rect">
            <a:avLst/>
          </a:prstGeom>
          <a:noFill/>
        </p:spPr>
        <p:txBody>
          <a:bodyPr wrap="square">
            <a:spAutoFit/>
          </a:bodyPr>
          <a:lstStyle/>
          <a:p>
            <a:pPr algn="l">
              <a:defRPr sz="1000" b="1">
                <a:solidFill>
                  <a:srgbClr val="F0F2F8"/>
                </a:solidFill>
                <a:latin typeface="Calibri"/>
              </a:defRPr>
            </a:pPr>
            <a:r>
              <a:t>Maramureș</a:t>
            </a:r>
          </a:p>
        </p:txBody>
      </p:sp>
      <p:sp>
        <p:nvSpPr>
          <p:cNvPr id="53" name="TextBox 52"/>
          <p:cNvSpPr txBox="1"/>
          <p:nvPr/>
        </p:nvSpPr>
        <p:spPr>
          <a:xfrm>
            <a:off x="4389120" y="6099048"/>
            <a:ext cx="1188720" cy="274320"/>
          </a:xfrm>
          <a:prstGeom prst="rect">
            <a:avLst/>
          </a:prstGeom>
          <a:noFill/>
        </p:spPr>
        <p:txBody>
          <a:bodyPr wrap="square">
            <a:spAutoFit/>
          </a:bodyPr>
          <a:lstStyle/>
          <a:p>
            <a:pPr algn="r">
              <a:defRPr sz="1000" b="0">
                <a:solidFill>
                  <a:srgbClr val="F0F2F8"/>
                </a:solidFill>
                <a:latin typeface="Calibri"/>
              </a:defRPr>
            </a:pPr>
            <a:r>
              <a:t>113</a:t>
            </a:r>
          </a:p>
        </p:txBody>
      </p:sp>
      <p:sp>
        <p:nvSpPr>
          <p:cNvPr id="54" name="Rounded Rectangle 53"/>
          <p:cNvSpPr/>
          <p:nvPr/>
        </p:nvSpPr>
        <p:spPr>
          <a:xfrm>
            <a:off x="6217920" y="1463040"/>
            <a:ext cx="5394960" cy="4937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0" y="1554480"/>
            <a:ext cx="5029200" cy="274320"/>
          </a:xfrm>
          <a:prstGeom prst="rect">
            <a:avLst/>
          </a:prstGeom>
          <a:noFill/>
        </p:spPr>
        <p:txBody>
          <a:bodyPr wrap="square">
            <a:spAutoFit/>
          </a:bodyPr>
          <a:lstStyle/>
          <a:p>
            <a:pPr algn="l">
              <a:defRPr sz="1000" b="1">
                <a:solidFill>
                  <a:srgbClr val="8B95B0"/>
                </a:solidFill>
                <a:latin typeface="Calibri"/>
              </a:defRPr>
            </a:pPr>
            <a:r>
              <a:t>TOP ORAȘE</a:t>
            </a:r>
          </a:p>
        </p:txBody>
      </p:sp>
      <p:sp>
        <p:nvSpPr>
          <p:cNvPr id="56" name="Rounded Rectangle 55"/>
          <p:cNvSpPr/>
          <p:nvPr/>
        </p:nvSpPr>
        <p:spPr>
          <a:xfrm>
            <a:off x="6400800" y="1965960"/>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6400800" y="1965960"/>
            <a:ext cx="5029200" cy="29260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92240" y="1975103"/>
            <a:ext cx="1828800" cy="274320"/>
          </a:xfrm>
          <a:prstGeom prst="rect">
            <a:avLst/>
          </a:prstGeom>
          <a:noFill/>
        </p:spPr>
        <p:txBody>
          <a:bodyPr wrap="square">
            <a:spAutoFit/>
          </a:bodyPr>
          <a:lstStyle/>
          <a:p>
            <a:pPr algn="l">
              <a:defRPr sz="1000" b="1">
                <a:solidFill>
                  <a:srgbClr val="F0F2F8"/>
                </a:solidFill>
                <a:latin typeface="Calibri"/>
              </a:defRPr>
            </a:pPr>
            <a:r>
              <a:t>București</a:t>
            </a:r>
          </a:p>
        </p:txBody>
      </p:sp>
      <p:sp>
        <p:nvSpPr>
          <p:cNvPr id="59" name="TextBox 58"/>
          <p:cNvSpPr txBox="1"/>
          <p:nvPr/>
        </p:nvSpPr>
        <p:spPr>
          <a:xfrm>
            <a:off x="10241280" y="1975103"/>
            <a:ext cx="1097280" cy="274320"/>
          </a:xfrm>
          <a:prstGeom prst="rect">
            <a:avLst/>
          </a:prstGeom>
          <a:noFill/>
        </p:spPr>
        <p:txBody>
          <a:bodyPr wrap="square">
            <a:spAutoFit/>
          </a:bodyPr>
          <a:lstStyle/>
          <a:p>
            <a:pPr algn="r">
              <a:defRPr sz="1000" b="0">
                <a:solidFill>
                  <a:srgbClr val="F0F2F8"/>
                </a:solidFill>
                <a:latin typeface="Calibri"/>
              </a:defRPr>
            </a:pPr>
            <a:r>
              <a:t>1,068</a:t>
            </a:r>
          </a:p>
        </p:txBody>
      </p:sp>
      <p:sp>
        <p:nvSpPr>
          <p:cNvPr id="60" name="Rounded Rectangle 59"/>
          <p:cNvSpPr/>
          <p:nvPr/>
        </p:nvSpPr>
        <p:spPr>
          <a:xfrm>
            <a:off x="6400800" y="2340864"/>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6400800" y="2340864"/>
            <a:ext cx="1064231" cy="29260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92240" y="2350008"/>
            <a:ext cx="1828800" cy="274320"/>
          </a:xfrm>
          <a:prstGeom prst="rect">
            <a:avLst/>
          </a:prstGeom>
          <a:noFill/>
        </p:spPr>
        <p:txBody>
          <a:bodyPr wrap="square">
            <a:spAutoFit/>
          </a:bodyPr>
          <a:lstStyle/>
          <a:p>
            <a:pPr algn="l">
              <a:defRPr sz="1000" b="1">
                <a:solidFill>
                  <a:srgbClr val="F0F2F8"/>
                </a:solidFill>
                <a:latin typeface="Calibri"/>
              </a:defRPr>
            </a:pPr>
            <a:r>
              <a:t>Cluj-Napoca</a:t>
            </a:r>
          </a:p>
        </p:txBody>
      </p:sp>
      <p:sp>
        <p:nvSpPr>
          <p:cNvPr id="63" name="TextBox 62"/>
          <p:cNvSpPr txBox="1"/>
          <p:nvPr/>
        </p:nvSpPr>
        <p:spPr>
          <a:xfrm>
            <a:off x="10241280" y="2350008"/>
            <a:ext cx="1097280" cy="274320"/>
          </a:xfrm>
          <a:prstGeom prst="rect">
            <a:avLst/>
          </a:prstGeom>
          <a:noFill/>
        </p:spPr>
        <p:txBody>
          <a:bodyPr wrap="square">
            <a:spAutoFit/>
          </a:bodyPr>
          <a:lstStyle/>
          <a:p>
            <a:pPr algn="r">
              <a:defRPr sz="1000" b="0">
                <a:solidFill>
                  <a:srgbClr val="F0F2F8"/>
                </a:solidFill>
                <a:latin typeface="Calibri"/>
              </a:defRPr>
            </a:pPr>
            <a:r>
              <a:t>226</a:t>
            </a:r>
          </a:p>
        </p:txBody>
      </p:sp>
      <p:sp>
        <p:nvSpPr>
          <p:cNvPr id="64" name="Rounded Rectangle 63"/>
          <p:cNvSpPr/>
          <p:nvPr/>
        </p:nvSpPr>
        <p:spPr>
          <a:xfrm>
            <a:off x="6400800" y="2715768"/>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6400800" y="2715768"/>
            <a:ext cx="729893" cy="292608"/>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92240" y="2724911"/>
            <a:ext cx="1828800" cy="274320"/>
          </a:xfrm>
          <a:prstGeom prst="rect">
            <a:avLst/>
          </a:prstGeom>
          <a:noFill/>
        </p:spPr>
        <p:txBody>
          <a:bodyPr wrap="square">
            <a:spAutoFit/>
          </a:bodyPr>
          <a:lstStyle/>
          <a:p>
            <a:pPr algn="l">
              <a:defRPr sz="1000" b="1">
                <a:solidFill>
                  <a:srgbClr val="F0F2F8"/>
                </a:solidFill>
                <a:latin typeface="Calibri"/>
              </a:defRPr>
            </a:pPr>
            <a:r>
              <a:t>Iași</a:t>
            </a:r>
          </a:p>
        </p:txBody>
      </p:sp>
      <p:sp>
        <p:nvSpPr>
          <p:cNvPr id="67" name="TextBox 66"/>
          <p:cNvSpPr txBox="1"/>
          <p:nvPr/>
        </p:nvSpPr>
        <p:spPr>
          <a:xfrm>
            <a:off x="10241280" y="2724911"/>
            <a:ext cx="1097280" cy="274320"/>
          </a:xfrm>
          <a:prstGeom prst="rect">
            <a:avLst/>
          </a:prstGeom>
          <a:noFill/>
        </p:spPr>
        <p:txBody>
          <a:bodyPr wrap="square">
            <a:spAutoFit/>
          </a:bodyPr>
          <a:lstStyle/>
          <a:p>
            <a:pPr algn="r">
              <a:defRPr sz="1000" b="0">
                <a:solidFill>
                  <a:srgbClr val="F0F2F8"/>
                </a:solidFill>
                <a:latin typeface="Calibri"/>
              </a:defRPr>
            </a:pPr>
            <a:r>
              <a:t>155</a:t>
            </a:r>
          </a:p>
        </p:txBody>
      </p:sp>
      <p:sp>
        <p:nvSpPr>
          <p:cNvPr id="68" name="Rounded Rectangle 67"/>
          <p:cNvSpPr/>
          <p:nvPr/>
        </p:nvSpPr>
        <p:spPr>
          <a:xfrm>
            <a:off x="6400800" y="3090672"/>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6400800" y="3090672"/>
            <a:ext cx="720475" cy="29260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92240" y="3099815"/>
            <a:ext cx="1828800" cy="274320"/>
          </a:xfrm>
          <a:prstGeom prst="rect">
            <a:avLst/>
          </a:prstGeom>
          <a:noFill/>
        </p:spPr>
        <p:txBody>
          <a:bodyPr wrap="square">
            <a:spAutoFit/>
          </a:bodyPr>
          <a:lstStyle/>
          <a:p>
            <a:pPr algn="l">
              <a:defRPr sz="1000" b="1">
                <a:solidFill>
                  <a:srgbClr val="F0F2F8"/>
                </a:solidFill>
                <a:latin typeface="Calibri"/>
              </a:defRPr>
            </a:pPr>
            <a:r>
              <a:t>Timișoara</a:t>
            </a:r>
          </a:p>
        </p:txBody>
      </p:sp>
      <p:sp>
        <p:nvSpPr>
          <p:cNvPr id="71" name="TextBox 70"/>
          <p:cNvSpPr txBox="1"/>
          <p:nvPr/>
        </p:nvSpPr>
        <p:spPr>
          <a:xfrm>
            <a:off x="10241280" y="3099815"/>
            <a:ext cx="1097280" cy="274320"/>
          </a:xfrm>
          <a:prstGeom prst="rect">
            <a:avLst/>
          </a:prstGeom>
          <a:noFill/>
        </p:spPr>
        <p:txBody>
          <a:bodyPr wrap="square">
            <a:spAutoFit/>
          </a:bodyPr>
          <a:lstStyle/>
          <a:p>
            <a:pPr algn="r">
              <a:defRPr sz="1000" b="0">
                <a:solidFill>
                  <a:srgbClr val="F0F2F8"/>
                </a:solidFill>
                <a:latin typeface="Calibri"/>
              </a:defRPr>
            </a:pPr>
            <a:r>
              <a:t>153</a:t>
            </a:r>
          </a:p>
        </p:txBody>
      </p:sp>
      <p:sp>
        <p:nvSpPr>
          <p:cNvPr id="72" name="Rounded Rectangle 71"/>
          <p:cNvSpPr/>
          <p:nvPr/>
        </p:nvSpPr>
        <p:spPr>
          <a:xfrm>
            <a:off x="6400800" y="3465576"/>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6400800" y="3465576"/>
            <a:ext cx="668676" cy="29260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492240" y="3474720"/>
            <a:ext cx="1828800" cy="274320"/>
          </a:xfrm>
          <a:prstGeom prst="rect">
            <a:avLst/>
          </a:prstGeom>
          <a:noFill/>
        </p:spPr>
        <p:txBody>
          <a:bodyPr wrap="square">
            <a:spAutoFit/>
          </a:bodyPr>
          <a:lstStyle/>
          <a:p>
            <a:pPr algn="l">
              <a:defRPr sz="1000" b="1">
                <a:solidFill>
                  <a:srgbClr val="F0F2F8"/>
                </a:solidFill>
                <a:latin typeface="Calibri"/>
              </a:defRPr>
            </a:pPr>
            <a:r>
              <a:t>Constanța</a:t>
            </a:r>
          </a:p>
        </p:txBody>
      </p:sp>
      <p:sp>
        <p:nvSpPr>
          <p:cNvPr id="75" name="TextBox 74"/>
          <p:cNvSpPr txBox="1"/>
          <p:nvPr/>
        </p:nvSpPr>
        <p:spPr>
          <a:xfrm>
            <a:off x="10241280" y="3474720"/>
            <a:ext cx="1097280" cy="274320"/>
          </a:xfrm>
          <a:prstGeom prst="rect">
            <a:avLst/>
          </a:prstGeom>
          <a:noFill/>
        </p:spPr>
        <p:txBody>
          <a:bodyPr wrap="square">
            <a:spAutoFit/>
          </a:bodyPr>
          <a:lstStyle/>
          <a:p>
            <a:pPr algn="r">
              <a:defRPr sz="1000" b="0">
                <a:solidFill>
                  <a:srgbClr val="F0F2F8"/>
                </a:solidFill>
                <a:latin typeface="Calibri"/>
              </a:defRPr>
            </a:pPr>
            <a:r>
              <a:t>142</a:t>
            </a:r>
          </a:p>
        </p:txBody>
      </p:sp>
      <p:sp>
        <p:nvSpPr>
          <p:cNvPr id="76" name="Rounded Rectangle 75"/>
          <p:cNvSpPr/>
          <p:nvPr/>
        </p:nvSpPr>
        <p:spPr>
          <a:xfrm>
            <a:off x="6400800" y="3840479"/>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6400800" y="3840479"/>
            <a:ext cx="593332" cy="29260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92240" y="3849623"/>
            <a:ext cx="1828800" cy="274320"/>
          </a:xfrm>
          <a:prstGeom prst="rect">
            <a:avLst/>
          </a:prstGeom>
          <a:noFill/>
        </p:spPr>
        <p:txBody>
          <a:bodyPr wrap="square">
            <a:spAutoFit/>
          </a:bodyPr>
          <a:lstStyle/>
          <a:p>
            <a:pPr algn="l">
              <a:defRPr sz="1000" b="1">
                <a:solidFill>
                  <a:srgbClr val="F0F2F8"/>
                </a:solidFill>
                <a:latin typeface="Calibri"/>
              </a:defRPr>
            </a:pPr>
            <a:r>
              <a:t>Brașov</a:t>
            </a:r>
          </a:p>
        </p:txBody>
      </p:sp>
      <p:sp>
        <p:nvSpPr>
          <p:cNvPr id="79" name="TextBox 78"/>
          <p:cNvSpPr txBox="1"/>
          <p:nvPr/>
        </p:nvSpPr>
        <p:spPr>
          <a:xfrm>
            <a:off x="10241280" y="3849623"/>
            <a:ext cx="1097280" cy="274320"/>
          </a:xfrm>
          <a:prstGeom prst="rect">
            <a:avLst/>
          </a:prstGeom>
          <a:noFill/>
        </p:spPr>
        <p:txBody>
          <a:bodyPr wrap="square">
            <a:spAutoFit/>
          </a:bodyPr>
          <a:lstStyle/>
          <a:p>
            <a:pPr algn="r">
              <a:defRPr sz="1000" b="0">
                <a:solidFill>
                  <a:srgbClr val="F0F2F8"/>
                </a:solidFill>
                <a:latin typeface="Calibri"/>
              </a:defRPr>
            </a:pPr>
            <a:r>
              <a:t>126</a:t>
            </a:r>
          </a:p>
        </p:txBody>
      </p:sp>
      <p:sp>
        <p:nvSpPr>
          <p:cNvPr id="80" name="Rounded Rectangle 79"/>
          <p:cNvSpPr/>
          <p:nvPr/>
        </p:nvSpPr>
        <p:spPr>
          <a:xfrm>
            <a:off x="6400800" y="4215383"/>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6400800" y="4215383"/>
            <a:ext cx="404973" cy="29260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492240" y="4224527"/>
            <a:ext cx="1828800" cy="274320"/>
          </a:xfrm>
          <a:prstGeom prst="rect">
            <a:avLst/>
          </a:prstGeom>
          <a:noFill/>
        </p:spPr>
        <p:txBody>
          <a:bodyPr wrap="square">
            <a:spAutoFit/>
          </a:bodyPr>
          <a:lstStyle/>
          <a:p>
            <a:pPr algn="l">
              <a:defRPr sz="1000" b="1">
                <a:solidFill>
                  <a:srgbClr val="F0F2F8"/>
                </a:solidFill>
                <a:latin typeface="Calibri"/>
              </a:defRPr>
            </a:pPr>
            <a:r>
              <a:t>Oradea</a:t>
            </a:r>
          </a:p>
        </p:txBody>
      </p:sp>
      <p:sp>
        <p:nvSpPr>
          <p:cNvPr id="83" name="TextBox 82"/>
          <p:cNvSpPr txBox="1"/>
          <p:nvPr/>
        </p:nvSpPr>
        <p:spPr>
          <a:xfrm>
            <a:off x="10241280" y="4224527"/>
            <a:ext cx="1097280" cy="274320"/>
          </a:xfrm>
          <a:prstGeom prst="rect">
            <a:avLst/>
          </a:prstGeom>
          <a:noFill/>
        </p:spPr>
        <p:txBody>
          <a:bodyPr wrap="square">
            <a:spAutoFit/>
          </a:bodyPr>
          <a:lstStyle/>
          <a:p>
            <a:pPr algn="r">
              <a:defRPr sz="1000" b="0">
                <a:solidFill>
                  <a:srgbClr val="F0F2F8"/>
                </a:solidFill>
                <a:latin typeface="Calibri"/>
              </a:defRPr>
            </a:pPr>
            <a:r>
              <a:t>86</a:t>
            </a:r>
          </a:p>
        </p:txBody>
      </p:sp>
      <p:sp>
        <p:nvSpPr>
          <p:cNvPr id="84" name="Rounded Rectangle 83"/>
          <p:cNvSpPr/>
          <p:nvPr/>
        </p:nvSpPr>
        <p:spPr>
          <a:xfrm>
            <a:off x="6400800" y="4590288"/>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6400800" y="4590288"/>
            <a:ext cx="353174" cy="29260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492240" y="4599431"/>
            <a:ext cx="1828800" cy="274320"/>
          </a:xfrm>
          <a:prstGeom prst="rect">
            <a:avLst/>
          </a:prstGeom>
          <a:noFill/>
        </p:spPr>
        <p:txBody>
          <a:bodyPr wrap="square">
            <a:spAutoFit/>
          </a:bodyPr>
          <a:lstStyle/>
          <a:p>
            <a:pPr algn="l">
              <a:defRPr sz="1000" b="1">
                <a:solidFill>
                  <a:srgbClr val="F0F2F8"/>
                </a:solidFill>
                <a:latin typeface="Calibri"/>
              </a:defRPr>
            </a:pPr>
            <a:r>
              <a:t>Ploiești</a:t>
            </a:r>
          </a:p>
        </p:txBody>
      </p:sp>
      <p:sp>
        <p:nvSpPr>
          <p:cNvPr id="87" name="TextBox 86"/>
          <p:cNvSpPr txBox="1"/>
          <p:nvPr/>
        </p:nvSpPr>
        <p:spPr>
          <a:xfrm>
            <a:off x="10241280" y="4599431"/>
            <a:ext cx="1097280" cy="274320"/>
          </a:xfrm>
          <a:prstGeom prst="rect">
            <a:avLst/>
          </a:prstGeom>
          <a:noFill/>
        </p:spPr>
        <p:txBody>
          <a:bodyPr wrap="square">
            <a:spAutoFit/>
          </a:bodyPr>
          <a:lstStyle/>
          <a:p>
            <a:pPr algn="r">
              <a:defRPr sz="1000" b="0">
                <a:solidFill>
                  <a:srgbClr val="F0F2F8"/>
                </a:solidFill>
                <a:latin typeface="Calibri"/>
              </a:defRPr>
            </a:pPr>
            <a:r>
              <a:t>75</a:t>
            </a:r>
          </a:p>
        </p:txBody>
      </p:sp>
      <p:sp>
        <p:nvSpPr>
          <p:cNvPr id="88" name="Rounded Rectangle 87"/>
          <p:cNvSpPr/>
          <p:nvPr/>
        </p:nvSpPr>
        <p:spPr>
          <a:xfrm>
            <a:off x="6400800" y="4965192"/>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6400800" y="4965192"/>
            <a:ext cx="339047" cy="292608"/>
          </a:xfrm>
          <a:prstGeom prst="roundRect">
            <a:avLst/>
          </a:prstGeom>
          <a:solidFill>
            <a:srgbClr val="F97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492240" y="4974336"/>
            <a:ext cx="1828800" cy="274320"/>
          </a:xfrm>
          <a:prstGeom prst="rect">
            <a:avLst/>
          </a:prstGeom>
          <a:noFill/>
        </p:spPr>
        <p:txBody>
          <a:bodyPr wrap="square">
            <a:spAutoFit/>
          </a:bodyPr>
          <a:lstStyle/>
          <a:p>
            <a:pPr algn="l">
              <a:defRPr sz="1000" b="1">
                <a:solidFill>
                  <a:srgbClr val="F0F2F8"/>
                </a:solidFill>
                <a:latin typeface="Calibri"/>
              </a:defRPr>
            </a:pPr>
            <a:r>
              <a:t>Arad</a:t>
            </a:r>
          </a:p>
        </p:txBody>
      </p:sp>
      <p:sp>
        <p:nvSpPr>
          <p:cNvPr id="91" name="TextBox 90"/>
          <p:cNvSpPr txBox="1"/>
          <p:nvPr/>
        </p:nvSpPr>
        <p:spPr>
          <a:xfrm>
            <a:off x="10241280" y="4974336"/>
            <a:ext cx="1097280" cy="274320"/>
          </a:xfrm>
          <a:prstGeom prst="rect">
            <a:avLst/>
          </a:prstGeom>
          <a:noFill/>
        </p:spPr>
        <p:txBody>
          <a:bodyPr wrap="square">
            <a:spAutoFit/>
          </a:bodyPr>
          <a:lstStyle/>
          <a:p>
            <a:pPr algn="r">
              <a:defRPr sz="1000" b="0">
                <a:solidFill>
                  <a:srgbClr val="F0F2F8"/>
                </a:solidFill>
                <a:latin typeface="Calibri"/>
              </a:defRPr>
            </a:pPr>
            <a:r>
              <a:t>72</a:t>
            </a:r>
          </a:p>
        </p:txBody>
      </p:sp>
      <p:sp>
        <p:nvSpPr>
          <p:cNvPr id="92" name="Rounded Rectangle 91"/>
          <p:cNvSpPr/>
          <p:nvPr/>
        </p:nvSpPr>
        <p:spPr>
          <a:xfrm>
            <a:off x="6400800" y="5340096"/>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6400800" y="5340096"/>
            <a:ext cx="310793" cy="292608"/>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492240" y="5349240"/>
            <a:ext cx="1828800" cy="274320"/>
          </a:xfrm>
          <a:prstGeom prst="rect">
            <a:avLst/>
          </a:prstGeom>
          <a:noFill/>
        </p:spPr>
        <p:txBody>
          <a:bodyPr wrap="square">
            <a:spAutoFit/>
          </a:bodyPr>
          <a:lstStyle/>
          <a:p>
            <a:pPr algn="l">
              <a:defRPr sz="1000" b="1">
                <a:solidFill>
                  <a:srgbClr val="F0F2F8"/>
                </a:solidFill>
                <a:latin typeface="Calibri"/>
              </a:defRPr>
            </a:pPr>
            <a:r>
              <a:t>Sibiu</a:t>
            </a:r>
          </a:p>
        </p:txBody>
      </p:sp>
      <p:sp>
        <p:nvSpPr>
          <p:cNvPr id="95" name="TextBox 94"/>
          <p:cNvSpPr txBox="1"/>
          <p:nvPr/>
        </p:nvSpPr>
        <p:spPr>
          <a:xfrm>
            <a:off x="10241280" y="5349240"/>
            <a:ext cx="1097280" cy="274320"/>
          </a:xfrm>
          <a:prstGeom prst="rect">
            <a:avLst/>
          </a:prstGeom>
          <a:noFill/>
        </p:spPr>
        <p:txBody>
          <a:bodyPr wrap="square">
            <a:spAutoFit/>
          </a:bodyPr>
          <a:lstStyle/>
          <a:p>
            <a:pPr algn="r">
              <a:defRPr sz="1000" b="0">
                <a:solidFill>
                  <a:srgbClr val="F0F2F8"/>
                </a:solidFill>
                <a:latin typeface="Calibri"/>
              </a:defRPr>
            </a:pPr>
            <a:r>
              <a:t>66</a:t>
            </a:r>
          </a:p>
        </p:txBody>
      </p:sp>
      <p:sp>
        <p:nvSpPr>
          <p:cNvPr id="96" name="Rounded Rectangle 95"/>
          <p:cNvSpPr/>
          <p:nvPr/>
        </p:nvSpPr>
        <p:spPr>
          <a:xfrm>
            <a:off x="6400800" y="5715000"/>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96"/>
          <p:cNvSpPr/>
          <p:nvPr/>
        </p:nvSpPr>
        <p:spPr>
          <a:xfrm>
            <a:off x="6400800" y="5715000"/>
            <a:ext cx="306084" cy="29260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492240" y="5724144"/>
            <a:ext cx="1828800" cy="274320"/>
          </a:xfrm>
          <a:prstGeom prst="rect">
            <a:avLst/>
          </a:prstGeom>
          <a:noFill/>
        </p:spPr>
        <p:txBody>
          <a:bodyPr wrap="square">
            <a:spAutoFit/>
          </a:bodyPr>
          <a:lstStyle/>
          <a:p>
            <a:pPr algn="l">
              <a:defRPr sz="1000" b="1">
                <a:solidFill>
                  <a:srgbClr val="F0F2F8"/>
                </a:solidFill>
                <a:latin typeface="Calibri"/>
              </a:defRPr>
            </a:pPr>
            <a:r>
              <a:t>Galați</a:t>
            </a:r>
          </a:p>
        </p:txBody>
      </p:sp>
      <p:sp>
        <p:nvSpPr>
          <p:cNvPr id="99" name="TextBox 98"/>
          <p:cNvSpPr txBox="1"/>
          <p:nvPr/>
        </p:nvSpPr>
        <p:spPr>
          <a:xfrm>
            <a:off x="10241280" y="5724144"/>
            <a:ext cx="1097280" cy="274320"/>
          </a:xfrm>
          <a:prstGeom prst="rect">
            <a:avLst/>
          </a:prstGeom>
          <a:noFill/>
        </p:spPr>
        <p:txBody>
          <a:bodyPr wrap="square">
            <a:spAutoFit/>
          </a:bodyPr>
          <a:lstStyle/>
          <a:p>
            <a:pPr algn="r">
              <a:defRPr sz="1000" b="0">
                <a:solidFill>
                  <a:srgbClr val="F0F2F8"/>
                </a:solidFill>
                <a:latin typeface="Calibri"/>
              </a:defRPr>
            </a:pPr>
            <a:r>
              <a:t>65</a:t>
            </a:r>
          </a:p>
        </p:txBody>
      </p:sp>
      <p:sp>
        <p:nvSpPr>
          <p:cNvPr id="100" name="Rounded Rectangle 99"/>
          <p:cNvSpPr/>
          <p:nvPr/>
        </p:nvSpPr>
        <p:spPr>
          <a:xfrm>
            <a:off x="6400800" y="6089904"/>
            <a:ext cx="5029200" cy="29260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6400800" y="6089904"/>
            <a:ext cx="268412" cy="29260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492240" y="6099048"/>
            <a:ext cx="1828800" cy="274320"/>
          </a:xfrm>
          <a:prstGeom prst="rect">
            <a:avLst/>
          </a:prstGeom>
          <a:noFill/>
        </p:spPr>
        <p:txBody>
          <a:bodyPr wrap="square">
            <a:spAutoFit/>
          </a:bodyPr>
          <a:lstStyle/>
          <a:p>
            <a:pPr algn="l">
              <a:defRPr sz="1000" b="1">
                <a:solidFill>
                  <a:srgbClr val="F0F2F8"/>
                </a:solidFill>
                <a:latin typeface="Calibri"/>
              </a:defRPr>
            </a:pPr>
            <a:r>
              <a:t>Craiova</a:t>
            </a:r>
          </a:p>
        </p:txBody>
      </p:sp>
      <p:sp>
        <p:nvSpPr>
          <p:cNvPr id="103" name="TextBox 102"/>
          <p:cNvSpPr txBox="1"/>
          <p:nvPr/>
        </p:nvSpPr>
        <p:spPr>
          <a:xfrm>
            <a:off x="10241280" y="6099048"/>
            <a:ext cx="1097280" cy="274320"/>
          </a:xfrm>
          <a:prstGeom prst="rect">
            <a:avLst/>
          </a:prstGeom>
          <a:noFill/>
        </p:spPr>
        <p:txBody>
          <a:bodyPr wrap="square">
            <a:spAutoFit/>
          </a:bodyPr>
          <a:lstStyle/>
          <a:p>
            <a:pPr algn="r">
              <a:defRPr sz="1000" b="0">
                <a:solidFill>
                  <a:srgbClr val="F0F2F8"/>
                </a:solidFill>
                <a:latin typeface="Calibri"/>
              </a:defRPr>
            </a:pPr>
            <a:r>
              <a:t>57</a:t>
            </a:r>
          </a:p>
        </p:txBody>
      </p:sp>
      <p:sp>
        <p:nvSpPr>
          <p:cNvPr id="104" name="Rounded Rectangle 103"/>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640080" y="6473952"/>
            <a:ext cx="10972800" cy="274320"/>
          </a:xfrm>
          <a:prstGeom prst="rect">
            <a:avLst/>
          </a:prstGeom>
          <a:noFill/>
        </p:spPr>
        <p:txBody>
          <a:bodyPr wrap="square">
            <a:spAutoFit/>
          </a:bodyPr>
          <a:lstStyle/>
          <a:p>
            <a:pPr algn="l">
              <a:defRPr sz="1000" b="0">
                <a:solidFill>
                  <a:srgbClr val="F59E0B"/>
                </a:solidFill>
                <a:latin typeface="Calibri"/>
              </a:defRPr>
            </a:pPr>
            <a:r>
              <a:t>💡 București = 26% din clienți. Top 5 județe = 51% din total. Acoperire solidă în orașele mari din Transilvania și Moldova.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VOLUM CHESTIONARE &amp; CONVERSIE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Evoluție lunară + conversie quiz → comandă</a:t>
            </a:r>
          </a:p>
        </p:txBody>
      </p:sp>
      <p:sp>
        <p:nvSpPr>
          <p:cNvPr id="4" name="Rounded Rectangle 3"/>
          <p:cNvSpPr/>
          <p:nvPr/>
        </p:nvSpPr>
        <p:spPr>
          <a:xfrm>
            <a:off x="457200" y="1371600"/>
            <a:ext cx="11247120" cy="3657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389888"/>
            <a:ext cx="1097280" cy="320040"/>
          </a:xfrm>
          <a:prstGeom prst="rect">
            <a:avLst/>
          </a:prstGeom>
          <a:noFill/>
        </p:spPr>
        <p:txBody>
          <a:bodyPr wrap="square">
            <a:spAutoFit/>
          </a:bodyPr>
          <a:lstStyle/>
          <a:p>
            <a:pPr algn="l">
              <a:defRPr sz="900" b="1">
                <a:solidFill>
                  <a:srgbClr val="F0F2F8"/>
                </a:solidFill>
                <a:latin typeface="Calibri"/>
              </a:defRPr>
            </a:pPr>
            <a:r>
              <a:t>LUNĂ</a:t>
            </a:r>
          </a:p>
        </p:txBody>
      </p:sp>
      <p:sp>
        <p:nvSpPr>
          <p:cNvPr id="6" name="TextBox 5"/>
          <p:cNvSpPr txBox="1"/>
          <p:nvPr/>
        </p:nvSpPr>
        <p:spPr>
          <a:xfrm>
            <a:off x="1737360" y="1389888"/>
            <a:ext cx="914400" cy="320040"/>
          </a:xfrm>
          <a:prstGeom prst="rect">
            <a:avLst/>
          </a:prstGeom>
          <a:noFill/>
        </p:spPr>
        <p:txBody>
          <a:bodyPr wrap="square">
            <a:spAutoFit/>
          </a:bodyPr>
          <a:lstStyle/>
          <a:p>
            <a:pPr algn="r">
              <a:defRPr sz="900" b="1">
                <a:solidFill>
                  <a:srgbClr val="F0F2F8"/>
                </a:solidFill>
                <a:latin typeface="Calibri"/>
              </a:defRPr>
            </a:pPr>
            <a:r>
              <a:t>TOTAL</a:t>
            </a:r>
          </a:p>
        </p:txBody>
      </p:sp>
      <p:sp>
        <p:nvSpPr>
          <p:cNvPr id="7" name="TextBox 6"/>
          <p:cNvSpPr txBox="1"/>
          <p:nvPr/>
        </p:nvSpPr>
        <p:spPr>
          <a:xfrm>
            <a:off x="2743200" y="1389888"/>
            <a:ext cx="1097280" cy="320040"/>
          </a:xfrm>
          <a:prstGeom prst="rect">
            <a:avLst/>
          </a:prstGeom>
          <a:noFill/>
        </p:spPr>
        <p:txBody>
          <a:bodyPr wrap="square">
            <a:spAutoFit/>
          </a:bodyPr>
          <a:lstStyle/>
          <a:p>
            <a:pPr algn="r">
              <a:defRPr sz="900" b="1">
                <a:solidFill>
                  <a:srgbClr val="F0F2F8"/>
                </a:solidFill>
                <a:latin typeface="Calibri"/>
              </a:defRPr>
            </a:pPr>
            <a:r>
              <a:t>COMPLET.</a:t>
            </a:r>
          </a:p>
        </p:txBody>
      </p:sp>
      <p:sp>
        <p:nvSpPr>
          <p:cNvPr id="8" name="TextBox 7"/>
          <p:cNvSpPr txBox="1"/>
          <p:nvPr/>
        </p:nvSpPr>
        <p:spPr>
          <a:xfrm>
            <a:off x="3931920" y="1389888"/>
            <a:ext cx="731520" cy="320040"/>
          </a:xfrm>
          <a:prstGeom prst="rect">
            <a:avLst/>
          </a:prstGeom>
          <a:noFill/>
        </p:spPr>
        <p:txBody>
          <a:bodyPr wrap="square">
            <a:spAutoFit/>
          </a:bodyPr>
          <a:lstStyle/>
          <a:p>
            <a:pPr algn="r">
              <a:defRPr sz="900" b="1">
                <a:solidFill>
                  <a:srgbClr val="F0F2F8"/>
                </a:solidFill>
                <a:latin typeface="Calibri"/>
              </a:defRPr>
            </a:pPr>
            <a:r>
              <a:t>RATA</a:t>
            </a:r>
          </a:p>
        </p:txBody>
      </p:sp>
      <p:sp>
        <p:nvSpPr>
          <p:cNvPr id="9" name="TextBox 8"/>
          <p:cNvSpPr txBox="1"/>
          <p:nvPr/>
        </p:nvSpPr>
        <p:spPr>
          <a:xfrm>
            <a:off x="4846320" y="1389888"/>
            <a:ext cx="6675120" cy="320040"/>
          </a:xfrm>
          <a:prstGeom prst="rect">
            <a:avLst/>
          </a:prstGeom>
          <a:noFill/>
        </p:spPr>
        <p:txBody>
          <a:bodyPr wrap="square">
            <a:spAutoFit/>
          </a:bodyPr>
          <a:lstStyle/>
          <a:p>
            <a:pPr algn="l">
              <a:defRPr sz="900" b="1">
                <a:solidFill>
                  <a:srgbClr val="F0F2F8"/>
                </a:solidFill>
                <a:latin typeface="Calibri"/>
              </a:defRPr>
            </a:pPr>
            <a:r>
              <a:t>VIZUAL</a:t>
            </a:r>
          </a:p>
        </p:txBody>
      </p:sp>
      <p:sp>
        <p:nvSpPr>
          <p:cNvPr id="10" name="Rounded Rectangle 9"/>
          <p:cNvSpPr/>
          <p:nvPr/>
        </p:nvSpPr>
        <p:spPr>
          <a:xfrm>
            <a:off x="457200" y="1783080"/>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792224"/>
            <a:ext cx="1097280" cy="228600"/>
          </a:xfrm>
          <a:prstGeom prst="rect">
            <a:avLst/>
          </a:prstGeom>
          <a:noFill/>
        </p:spPr>
        <p:txBody>
          <a:bodyPr wrap="square">
            <a:spAutoFit/>
          </a:bodyPr>
          <a:lstStyle/>
          <a:p>
            <a:pPr algn="l">
              <a:defRPr sz="900" b="1">
                <a:solidFill>
                  <a:srgbClr val="F0F2F8"/>
                </a:solidFill>
                <a:latin typeface="Calibri"/>
              </a:defRPr>
            </a:pPr>
            <a:r>
              <a:t>Ian 25</a:t>
            </a:r>
          </a:p>
        </p:txBody>
      </p:sp>
      <p:sp>
        <p:nvSpPr>
          <p:cNvPr id="12" name="TextBox 11"/>
          <p:cNvSpPr txBox="1"/>
          <p:nvPr/>
        </p:nvSpPr>
        <p:spPr>
          <a:xfrm>
            <a:off x="1737360" y="1792224"/>
            <a:ext cx="914400" cy="228600"/>
          </a:xfrm>
          <a:prstGeom prst="rect">
            <a:avLst/>
          </a:prstGeom>
          <a:noFill/>
        </p:spPr>
        <p:txBody>
          <a:bodyPr wrap="square">
            <a:spAutoFit/>
          </a:bodyPr>
          <a:lstStyle/>
          <a:p>
            <a:pPr algn="r">
              <a:defRPr sz="900" b="0">
                <a:solidFill>
                  <a:srgbClr val="F0F2F8"/>
                </a:solidFill>
                <a:latin typeface="Calibri"/>
              </a:defRPr>
            </a:pPr>
            <a:r>
              <a:t>4,704</a:t>
            </a:r>
          </a:p>
        </p:txBody>
      </p:sp>
      <p:sp>
        <p:nvSpPr>
          <p:cNvPr id="13" name="TextBox 12"/>
          <p:cNvSpPr txBox="1"/>
          <p:nvPr/>
        </p:nvSpPr>
        <p:spPr>
          <a:xfrm>
            <a:off x="2743200" y="1792224"/>
            <a:ext cx="1097280" cy="228600"/>
          </a:xfrm>
          <a:prstGeom prst="rect">
            <a:avLst/>
          </a:prstGeom>
          <a:noFill/>
        </p:spPr>
        <p:txBody>
          <a:bodyPr wrap="square">
            <a:spAutoFit/>
          </a:bodyPr>
          <a:lstStyle/>
          <a:p>
            <a:pPr algn="r">
              <a:defRPr sz="900" b="0">
                <a:solidFill>
                  <a:srgbClr val="10B981"/>
                </a:solidFill>
                <a:latin typeface="Calibri"/>
              </a:defRPr>
            </a:pPr>
            <a:r>
              <a:t>3,219</a:t>
            </a:r>
          </a:p>
        </p:txBody>
      </p:sp>
      <p:sp>
        <p:nvSpPr>
          <p:cNvPr id="14" name="TextBox 13"/>
          <p:cNvSpPr txBox="1"/>
          <p:nvPr/>
        </p:nvSpPr>
        <p:spPr>
          <a:xfrm>
            <a:off x="3931920" y="1792224"/>
            <a:ext cx="731520" cy="228600"/>
          </a:xfrm>
          <a:prstGeom prst="rect">
            <a:avLst/>
          </a:prstGeom>
          <a:noFill/>
        </p:spPr>
        <p:txBody>
          <a:bodyPr wrap="square">
            <a:spAutoFit/>
          </a:bodyPr>
          <a:lstStyle/>
          <a:p>
            <a:pPr algn="r">
              <a:defRPr sz="900" b="1">
                <a:solidFill>
                  <a:srgbClr val="10B981"/>
                </a:solidFill>
                <a:latin typeface="Calibri"/>
              </a:defRPr>
            </a:pPr>
            <a:r>
              <a:t>68%</a:t>
            </a:r>
          </a:p>
        </p:txBody>
      </p:sp>
      <p:sp>
        <p:nvSpPr>
          <p:cNvPr id="15" name="Rounded Rectangle 14"/>
          <p:cNvSpPr/>
          <p:nvPr/>
        </p:nvSpPr>
        <p:spPr>
          <a:xfrm>
            <a:off x="4937760" y="1810512"/>
            <a:ext cx="4061697"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937760" y="1810512"/>
            <a:ext cx="2779465"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7200" y="2075688"/>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2084831"/>
            <a:ext cx="1097280" cy="228600"/>
          </a:xfrm>
          <a:prstGeom prst="rect">
            <a:avLst/>
          </a:prstGeom>
          <a:noFill/>
        </p:spPr>
        <p:txBody>
          <a:bodyPr wrap="square">
            <a:spAutoFit/>
          </a:bodyPr>
          <a:lstStyle/>
          <a:p>
            <a:pPr algn="l">
              <a:defRPr sz="900" b="1">
                <a:solidFill>
                  <a:srgbClr val="F0F2F8"/>
                </a:solidFill>
                <a:latin typeface="Calibri"/>
              </a:defRPr>
            </a:pPr>
            <a:r>
              <a:t>Feb</a:t>
            </a:r>
          </a:p>
        </p:txBody>
      </p:sp>
      <p:sp>
        <p:nvSpPr>
          <p:cNvPr id="19" name="TextBox 18"/>
          <p:cNvSpPr txBox="1"/>
          <p:nvPr/>
        </p:nvSpPr>
        <p:spPr>
          <a:xfrm>
            <a:off x="1737360" y="2084831"/>
            <a:ext cx="914400" cy="228600"/>
          </a:xfrm>
          <a:prstGeom prst="rect">
            <a:avLst/>
          </a:prstGeom>
          <a:noFill/>
        </p:spPr>
        <p:txBody>
          <a:bodyPr wrap="square">
            <a:spAutoFit/>
          </a:bodyPr>
          <a:lstStyle/>
          <a:p>
            <a:pPr algn="r">
              <a:defRPr sz="900" b="0">
                <a:solidFill>
                  <a:srgbClr val="F0F2F8"/>
                </a:solidFill>
                <a:latin typeface="Calibri"/>
              </a:defRPr>
            </a:pPr>
            <a:r>
              <a:t>4,321</a:t>
            </a:r>
          </a:p>
        </p:txBody>
      </p:sp>
      <p:sp>
        <p:nvSpPr>
          <p:cNvPr id="20" name="TextBox 19"/>
          <p:cNvSpPr txBox="1"/>
          <p:nvPr/>
        </p:nvSpPr>
        <p:spPr>
          <a:xfrm>
            <a:off x="2743200" y="2084831"/>
            <a:ext cx="1097280" cy="228600"/>
          </a:xfrm>
          <a:prstGeom prst="rect">
            <a:avLst/>
          </a:prstGeom>
          <a:noFill/>
        </p:spPr>
        <p:txBody>
          <a:bodyPr wrap="square">
            <a:spAutoFit/>
          </a:bodyPr>
          <a:lstStyle/>
          <a:p>
            <a:pPr algn="r">
              <a:defRPr sz="900" b="0">
                <a:solidFill>
                  <a:srgbClr val="10B981"/>
                </a:solidFill>
                <a:latin typeface="Calibri"/>
              </a:defRPr>
            </a:pPr>
            <a:r>
              <a:t>2,892</a:t>
            </a:r>
          </a:p>
        </p:txBody>
      </p:sp>
      <p:sp>
        <p:nvSpPr>
          <p:cNvPr id="21" name="TextBox 20"/>
          <p:cNvSpPr txBox="1"/>
          <p:nvPr/>
        </p:nvSpPr>
        <p:spPr>
          <a:xfrm>
            <a:off x="3931920" y="2084831"/>
            <a:ext cx="731520" cy="228600"/>
          </a:xfrm>
          <a:prstGeom prst="rect">
            <a:avLst/>
          </a:prstGeom>
          <a:noFill/>
        </p:spPr>
        <p:txBody>
          <a:bodyPr wrap="square">
            <a:spAutoFit/>
          </a:bodyPr>
          <a:lstStyle/>
          <a:p>
            <a:pPr algn="r">
              <a:defRPr sz="900" b="1">
                <a:solidFill>
                  <a:srgbClr val="10B981"/>
                </a:solidFill>
                <a:latin typeface="Calibri"/>
              </a:defRPr>
            </a:pPr>
            <a:r>
              <a:t>67%</a:t>
            </a:r>
          </a:p>
        </p:txBody>
      </p:sp>
      <p:sp>
        <p:nvSpPr>
          <p:cNvPr id="22" name="Rounded Rectangle 21"/>
          <p:cNvSpPr/>
          <p:nvPr/>
        </p:nvSpPr>
        <p:spPr>
          <a:xfrm>
            <a:off x="4937760" y="2103120"/>
            <a:ext cx="3730993"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937760" y="2103120"/>
            <a:ext cx="2497115"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57200" y="2368296"/>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2377439"/>
            <a:ext cx="1097280" cy="228600"/>
          </a:xfrm>
          <a:prstGeom prst="rect">
            <a:avLst/>
          </a:prstGeom>
          <a:noFill/>
        </p:spPr>
        <p:txBody>
          <a:bodyPr wrap="square">
            <a:spAutoFit/>
          </a:bodyPr>
          <a:lstStyle/>
          <a:p>
            <a:pPr algn="l">
              <a:defRPr sz="900" b="1">
                <a:solidFill>
                  <a:srgbClr val="F0F2F8"/>
                </a:solidFill>
                <a:latin typeface="Calibri"/>
              </a:defRPr>
            </a:pPr>
            <a:r>
              <a:t>Mar</a:t>
            </a:r>
          </a:p>
        </p:txBody>
      </p:sp>
      <p:sp>
        <p:nvSpPr>
          <p:cNvPr id="26" name="TextBox 25"/>
          <p:cNvSpPr txBox="1"/>
          <p:nvPr/>
        </p:nvSpPr>
        <p:spPr>
          <a:xfrm>
            <a:off x="1737360" y="2377439"/>
            <a:ext cx="914400" cy="228600"/>
          </a:xfrm>
          <a:prstGeom prst="rect">
            <a:avLst/>
          </a:prstGeom>
          <a:noFill/>
        </p:spPr>
        <p:txBody>
          <a:bodyPr wrap="square">
            <a:spAutoFit/>
          </a:bodyPr>
          <a:lstStyle/>
          <a:p>
            <a:pPr algn="r">
              <a:defRPr sz="900" b="0">
                <a:solidFill>
                  <a:srgbClr val="F0F2F8"/>
                </a:solidFill>
                <a:latin typeface="Calibri"/>
              </a:defRPr>
            </a:pPr>
            <a:r>
              <a:t>4,568</a:t>
            </a:r>
          </a:p>
        </p:txBody>
      </p:sp>
      <p:sp>
        <p:nvSpPr>
          <p:cNvPr id="27" name="TextBox 26"/>
          <p:cNvSpPr txBox="1"/>
          <p:nvPr/>
        </p:nvSpPr>
        <p:spPr>
          <a:xfrm>
            <a:off x="2743200" y="2377439"/>
            <a:ext cx="1097280" cy="228600"/>
          </a:xfrm>
          <a:prstGeom prst="rect">
            <a:avLst/>
          </a:prstGeom>
          <a:noFill/>
        </p:spPr>
        <p:txBody>
          <a:bodyPr wrap="square">
            <a:spAutoFit/>
          </a:bodyPr>
          <a:lstStyle/>
          <a:p>
            <a:pPr algn="r">
              <a:defRPr sz="900" b="0">
                <a:solidFill>
                  <a:srgbClr val="10B981"/>
                </a:solidFill>
                <a:latin typeface="Calibri"/>
              </a:defRPr>
            </a:pPr>
            <a:r>
              <a:t>2,945</a:t>
            </a:r>
          </a:p>
        </p:txBody>
      </p:sp>
      <p:sp>
        <p:nvSpPr>
          <p:cNvPr id="28" name="TextBox 27"/>
          <p:cNvSpPr txBox="1"/>
          <p:nvPr/>
        </p:nvSpPr>
        <p:spPr>
          <a:xfrm>
            <a:off x="3931920" y="2377439"/>
            <a:ext cx="731520" cy="228600"/>
          </a:xfrm>
          <a:prstGeom prst="rect">
            <a:avLst/>
          </a:prstGeom>
          <a:noFill/>
        </p:spPr>
        <p:txBody>
          <a:bodyPr wrap="square">
            <a:spAutoFit/>
          </a:bodyPr>
          <a:lstStyle/>
          <a:p>
            <a:pPr algn="r">
              <a:defRPr sz="900" b="1">
                <a:solidFill>
                  <a:srgbClr val="F59E0B"/>
                </a:solidFill>
                <a:latin typeface="Calibri"/>
              </a:defRPr>
            </a:pPr>
            <a:r>
              <a:t>64%</a:t>
            </a:r>
          </a:p>
        </p:txBody>
      </p:sp>
      <p:sp>
        <p:nvSpPr>
          <p:cNvPr id="29" name="Rounded Rectangle 28"/>
          <p:cNvSpPr/>
          <p:nvPr/>
        </p:nvSpPr>
        <p:spPr>
          <a:xfrm>
            <a:off x="4937760" y="2395727"/>
            <a:ext cx="3944267"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937760" y="2395727"/>
            <a:ext cx="2542878"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57200" y="2660904"/>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2670048"/>
            <a:ext cx="1097280" cy="228600"/>
          </a:xfrm>
          <a:prstGeom prst="rect">
            <a:avLst/>
          </a:prstGeom>
          <a:noFill/>
        </p:spPr>
        <p:txBody>
          <a:bodyPr wrap="square">
            <a:spAutoFit/>
          </a:bodyPr>
          <a:lstStyle/>
          <a:p>
            <a:pPr algn="l">
              <a:defRPr sz="900" b="1">
                <a:solidFill>
                  <a:srgbClr val="F0F2F8"/>
                </a:solidFill>
                <a:latin typeface="Calibri"/>
              </a:defRPr>
            </a:pPr>
            <a:r>
              <a:t>Apr</a:t>
            </a:r>
          </a:p>
        </p:txBody>
      </p:sp>
      <p:sp>
        <p:nvSpPr>
          <p:cNvPr id="33" name="TextBox 32"/>
          <p:cNvSpPr txBox="1"/>
          <p:nvPr/>
        </p:nvSpPr>
        <p:spPr>
          <a:xfrm>
            <a:off x="1737360" y="2670048"/>
            <a:ext cx="914400" cy="228600"/>
          </a:xfrm>
          <a:prstGeom prst="rect">
            <a:avLst/>
          </a:prstGeom>
          <a:noFill/>
        </p:spPr>
        <p:txBody>
          <a:bodyPr wrap="square">
            <a:spAutoFit/>
          </a:bodyPr>
          <a:lstStyle/>
          <a:p>
            <a:pPr algn="r">
              <a:defRPr sz="900" b="0">
                <a:solidFill>
                  <a:srgbClr val="F0F2F8"/>
                </a:solidFill>
                <a:latin typeface="Calibri"/>
              </a:defRPr>
            </a:pPr>
            <a:r>
              <a:t>3,807</a:t>
            </a:r>
          </a:p>
        </p:txBody>
      </p:sp>
      <p:sp>
        <p:nvSpPr>
          <p:cNvPr id="34" name="TextBox 33"/>
          <p:cNvSpPr txBox="1"/>
          <p:nvPr/>
        </p:nvSpPr>
        <p:spPr>
          <a:xfrm>
            <a:off x="2743200" y="2670048"/>
            <a:ext cx="1097280" cy="228600"/>
          </a:xfrm>
          <a:prstGeom prst="rect">
            <a:avLst/>
          </a:prstGeom>
          <a:noFill/>
        </p:spPr>
        <p:txBody>
          <a:bodyPr wrap="square">
            <a:spAutoFit/>
          </a:bodyPr>
          <a:lstStyle/>
          <a:p>
            <a:pPr algn="r">
              <a:defRPr sz="900" b="0">
                <a:solidFill>
                  <a:srgbClr val="10B981"/>
                </a:solidFill>
                <a:latin typeface="Calibri"/>
              </a:defRPr>
            </a:pPr>
            <a:r>
              <a:t>2,476</a:t>
            </a:r>
          </a:p>
        </p:txBody>
      </p:sp>
      <p:sp>
        <p:nvSpPr>
          <p:cNvPr id="35" name="TextBox 34"/>
          <p:cNvSpPr txBox="1"/>
          <p:nvPr/>
        </p:nvSpPr>
        <p:spPr>
          <a:xfrm>
            <a:off x="3931920" y="2670048"/>
            <a:ext cx="731520" cy="228600"/>
          </a:xfrm>
          <a:prstGeom prst="rect">
            <a:avLst/>
          </a:prstGeom>
          <a:noFill/>
        </p:spPr>
        <p:txBody>
          <a:bodyPr wrap="square">
            <a:spAutoFit/>
          </a:bodyPr>
          <a:lstStyle/>
          <a:p>
            <a:pPr algn="r">
              <a:defRPr sz="900" b="1">
                <a:solidFill>
                  <a:srgbClr val="10B981"/>
                </a:solidFill>
                <a:latin typeface="Calibri"/>
              </a:defRPr>
            </a:pPr>
            <a:r>
              <a:t>65%</a:t>
            </a:r>
          </a:p>
        </p:txBody>
      </p:sp>
      <p:sp>
        <p:nvSpPr>
          <p:cNvPr id="36" name="Rounded Rectangle 35"/>
          <p:cNvSpPr/>
          <p:nvPr/>
        </p:nvSpPr>
        <p:spPr>
          <a:xfrm>
            <a:off x="4937760" y="2688336"/>
            <a:ext cx="3287177"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937760" y="2688336"/>
            <a:ext cx="2137917"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457200" y="2953512"/>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2962656"/>
            <a:ext cx="1097280" cy="228600"/>
          </a:xfrm>
          <a:prstGeom prst="rect">
            <a:avLst/>
          </a:prstGeom>
          <a:noFill/>
        </p:spPr>
        <p:txBody>
          <a:bodyPr wrap="square">
            <a:spAutoFit/>
          </a:bodyPr>
          <a:lstStyle/>
          <a:p>
            <a:pPr algn="l">
              <a:defRPr sz="900" b="1">
                <a:solidFill>
                  <a:srgbClr val="F0F2F8"/>
                </a:solidFill>
                <a:latin typeface="Calibri"/>
              </a:defRPr>
            </a:pPr>
            <a:r>
              <a:t>Mai</a:t>
            </a:r>
          </a:p>
        </p:txBody>
      </p:sp>
      <p:sp>
        <p:nvSpPr>
          <p:cNvPr id="40" name="TextBox 39"/>
          <p:cNvSpPr txBox="1"/>
          <p:nvPr/>
        </p:nvSpPr>
        <p:spPr>
          <a:xfrm>
            <a:off x="1737360" y="2962656"/>
            <a:ext cx="914400" cy="228600"/>
          </a:xfrm>
          <a:prstGeom prst="rect">
            <a:avLst/>
          </a:prstGeom>
          <a:noFill/>
        </p:spPr>
        <p:txBody>
          <a:bodyPr wrap="square">
            <a:spAutoFit/>
          </a:bodyPr>
          <a:lstStyle/>
          <a:p>
            <a:pPr algn="r">
              <a:defRPr sz="900" b="0">
                <a:solidFill>
                  <a:srgbClr val="F0F2F8"/>
                </a:solidFill>
                <a:latin typeface="Calibri"/>
              </a:defRPr>
            </a:pPr>
            <a:r>
              <a:t>7,413</a:t>
            </a:r>
          </a:p>
        </p:txBody>
      </p:sp>
      <p:sp>
        <p:nvSpPr>
          <p:cNvPr id="41" name="TextBox 40"/>
          <p:cNvSpPr txBox="1"/>
          <p:nvPr/>
        </p:nvSpPr>
        <p:spPr>
          <a:xfrm>
            <a:off x="2743200" y="2962656"/>
            <a:ext cx="1097280" cy="228600"/>
          </a:xfrm>
          <a:prstGeom prst="rect">
            <a:avLst/>
          </a:prstGeom>
          <a:noFill/>
        </p:spPr>
        <p:txBody>
          <a:bodyPr wrap="square">
            <a:spAutoFit/>
          </a:bodyPr>
          <a:lstStyle/>
          <a:p>
            <a:pPr algn="r">
              <a:defRPr sz="900" b="0">
                <a:solidFill>
                  <a:srgbClr val="10B981"/>
                </a:solidFill>
                <a:latin typeface="Calibri"/>
              </a:defRPr>
            </a:pPr>
            <a:r>
              <a:t>4,766</a:t>
            </a:r>
          </a:p>
        </p:txBody>
      </p:sp>
      <p:sp>
        <p:nvSpPr>
          <p:cNvPr id="42" name="TextBox 41"/>
          <p:cNvSpPr txBox="1"/>
          <p:nvPr/>
        </p:nvSpPr>
        <p:spPr>
          <a:xfrm>
            <a:off x="3931920" y="2962656"/>
            <a:ext cx="731520" cy="228600"/>
          </a:xfrm>
          <a:prstGeom prst="rect">
            <a:avLst/>
          </a:prstGeom>
          <a:noFill/>
        </p:spPr>
        <p:txBody>
          <a:bodyPr wrap="square">
            <a:spAutoFit/>
          </a:bodyPr>
          <a:lstStyle/>
          <a:p>
            <a:pPr algn="r">
              <a:defRPr sz="900" b="1">
                <a:solidFill>
                  <a:srgbClr val="F59E0B"/>
                </a:solidFill>
                <a:latin typeface="Calibri"/>
              </a:defRPr>
            </a:pPr>
            <a:r>
              <a:t>64%</a:t>
            </a:r>
          </a:p>
        </p:txBody>
      </p:sp>
      <p:sp>
        <p:nvSpPr>
          <p:cNvPr id="43" name="Rounded Rectangle 42"/>
          <p:cNvSpPr/>
          <p:nvPr/>
        </p:nvSpPr>
        <p:spPr>
          <a:xfrm>
            <a:off x="4937760" y="2980944"/>
            <a:ext cx="6400800"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4937760" y="2980944"/>
            <a:ext cx="4115231"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457200" y="3246120"/>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3255263"/>
            <a:ext cx="1097280" cy="228600"/>
          </a:xfrm>
          <a:prstGeom prst="rect">
            <a:avLst/>
          </a:prstGeom>
          <a:noFill/>
        </p:spPr>
        <p:txBody>
          <a:bodyPr wrap="square">
            <a:spAutoFit/>
          </a:bodyPr>
          <a:lstStyle/>
          <a:p>
            <a:pPr algn="l">
              <a:defRPr sz="900" b="1">
                <a:solidFill>
                  <a:srgbClr val="F0F2F8"/>
                </a:solidFill>
                <a:latin typeface="Calibri"/>
              </a:defRPr>
            </a:pPr>
            <a:r>
              <a:t>Iun</a:t>
            </a:r>
          </a:p>
        </p:txBody>
      </p:sp>
      <p:sp>
        <p:nvSpPr>
          <p:cNvPr id="47" name="TextBox 46"/>
          <p:cNvSpPr txBox="1"/>
          <p:nvPr/>
        </p:nvSpPr>
        <p:spPr>
          <a:xfrm>
            <a:off x="1737360" y="3255263"/>
            <a:ext cx="914400" cy="228600"/>
          </a:xfrm>
          <a:prstGeom prst="rect">
            <a:avLst/>
          </a:prstGeom>
          <a:noFill/>
        </p:spPr>
        <p:txBody>
          <a:bodyPr wrap="square">
            <a:spAutoFit/>
          </a:bodyPr>
          <a:lstStyle/>
          <a:p>
            <a:pPr algn="r">
              <a:defRPr sz="900" b="0">
                <a:solidFill>
                  <a:srgbClr val="F0F2F8"/>
                </a:solidFill>
                <a:latin typeface="Calibri"/>
              </a:defRPr>
            </a:pPr>
            <a:r>
              <a:t>4,944</a:t>
            </a:r>
          </a:p>
        </p:txBody>
      </p:sp>
      <p:sp>
        <p:nvSpPr>
          <p:cNvPr id="48" name="TextBox 47"/>
          <p:cNvSpPr txBox="1"/>
          <p:nvPr/>
        </p:nvSpPr>
        <p:spPr>
          <a:xfrm>
            <a:off x="2743200" y="3255263"/>
            <a:ext cx="1097280" cy="228600"/>
          </a:xfrm>
          <a:prstGeom prst="rect">
            <a:avLst/>
          </a:prstGeom>
          <a:noFill/>
        </p:spPr>
        <p:txBody>
          <a:bodyPr wrap="square">
            <a:spAutoFit/>
          </a:bodyPr>
          <a:lstStyle/>
          <a:p>
            <a:pPr algn="r">
              <a:defRPr sz="900" b="0">
                <a:solidFill>
                  <a:srgbClr val="10B981"/>
                </a:solidFill>
                <a:latin typeface="Calibri"/>
              </a:defRPr>
            </a:pPr>
            <a:r>
              <a:t>3,229</a:t>
            </a:r>
          </a:p>
        </p:txBody>
      </p:sp>
      <p:sp>
        <p:nvSpPr>
          <p:cNvPr id="49" name="TextBox 48"/>
          <p:cNvSpPr txBox="1"/>
          <p:nvPr/>
        </p:nvSpPr>
        <p:spPr>
          <a:xfrm>
            <a:off x="3931920" y="3255263"/>
            <a:ext cx="731520" cy="228600"/>
          </a:xfrm>
          <a:prstGeom prst="rect">
            <a:avLst/>
          </a:prstGeom>
          <a:noFill/>
        </p:spPr>
        <p:txBody>
          <a:bodyPr wrap="square">
            <a:spAutoFit/>
          </a:bodyPr>
          <a:lstStyle/>
          <a:p>
            <a:pPr algn="r">
              <a:defRPr sz="900" b="1">
                <a:solidFill>
                  <a:srgbClr val="10B981"/>
                </a:solidFill>
                <a:latin typeface="Calibri"/>
              </a:defRPr>
            </a:pPr>
            <a:r>
              <a:t>65%</a:t>
            </a:r>
          </a:p>
        </p:txBody>
      </p:sp>
      <p:sp>
        <p:nvSpPr>
          <p:cNvPr id="50" name="Rounded Rectangle 49"/>
          <p:cNvSpPr/>
          <p:nvPr/>
        </p:nvSpPr>
        <p:spPr>
          <a:xfrm>
            <a:off x="4937760" y="3273551"/>
            <a:ext cx="4268926"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4937760" y="3273551"/>
            <a:ext cx="2788099"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57200" y="3538728"/>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48640" y="3547872"/>
            <a:ext cx="1097280" cy="228600"/>
          </a:xfrm>
          <a:prstGeom prst="rect">
            <a:avLst/>
          </a:prstGeom>
          <a:noFill/>
        </p:spPr>
        <p:txBody>
          <a:bodyPr wrap="square">
            <a:spAutoFit/>
          </a:bodyPr>
          <a:lstStyle/>
          <a:p>
            <a:pPr algn="l">
              <a:defRPr sz="900" b="1">
                <a:solidFill>
                  <a:srgbClr val="F0F2F8"/>
                </a:solidFill>
                <a:latin typeface="Calibri"/>
              </a:defRPr>
            </a:pPr>
            <a:r>
              <a:t>Iul</a:t>
            </a:r>
          </a:p>
        </p:txBody>
      </p:sp>
      <p:sp>
        <p:nvSpPr>
          <p:cNvPr id="54" name="TextBox 53"/>
          <p:cNvSpPr txBox="1"/>
          <p:nvPr/>
        </p:nvSpPr>
        <p:spPr>
          <a:xfrm>
            <a:off x="1737360" y="3547872"/>
            <a:ext cx="914400" cy="228600"/>
          </a:xfrm>
          <a:prstGeom prst="rect">
            <a:avLst/>
          </a:prstGeom>
          <a:noFill/>
        </p:spPr>
        <p:txBody>
          <a:bodyPr wrap="square">
            <a:spAutoFit/>
          </a:bodyPr>
          <a:lstStyle/>
          <a:p>
            <a:pPr algn="r">
              <a:defRPr sz="900" b="0">
                <a:solidFill>
                  <a:srgbClr val="F0F2F8"/>
                </a:solidFill>
                <a:latin typeface="Calibri"/>
              </a:defRPr>
            </a:pPr>
            <a:r>
              <a:t>3,674</a:t>
            </a:r>
          </a:p>
        </p:txBody>
      </p:sp>
      <p:sp>
        <p:nvSpPr>
          <p:cNvPr id="55" name="TextBox 54"/>
          <p:cNvSpPr txBox="1"/>
          <p:nvPr/>
        </p:nvSpPr>
        <p:spPr>
          <a:xfrm>
            <a:off x="2743200" y="3547872"/>
            <a:ext cx="1097280" cy="228600"/>
          </a:xfrm>
          <a:prstGeom prst="rect">
            <a:avLst/>
          </a:prstGeom>
          <a:noFill/>
        </p:spPr>
        <p:txBody>
          <a:bodyPr wrap="square">
            <a:spAutoFit/>
          </a:bodyPr>
          <a:lstStyle/>
          <a:p>
            <a:pPr algn="r">
              <a:defRPr sz="900" b="0">
                <a:solidFill>
                  <a:srgbClr val="10B981"/>
                </a:solidFill>
                <a:latin typeface="Calibri"/>
              </a:defRPr>
            </a:pPr>
            <a:r>
              <a:t>2,356</a:t>
            </a:r>
          </a:p>
        </p:txBody>
      </p:sp>
      <p:sp>
        <p:nvSpPr>
          <p:cNvPr id="56" name="TextBox 55"/>
          <p:cNvSpPr txBox="1"/>
          <p:nvPr/>
        </p:nvSpPr>
        <p:spPr>
          <a:xfrm>
            <a:off x="3931920" y="3547872"/>
            <a:ext cx="731520" cy="228600"/>
          </a:xfrm>
          <a:prstGeom prst="rect">
            <a:avLst/>
          </a:prstGeom>
          <a:noFill/>
        </p:spPr>
        <p:txBody>
          <a:bodyPr wrap="square">
            <a:spAutoFit/>
          </a:bodyPr>
          <a:lstStyle/>
          <a:p>
            <a:pPr algn="r">
              <a:defRPr sz="900" b="1">
                <a:solidFill>
                  <a:srgbClr val="F59E0B"/>
                </a:solidFill>
                <a:latin typeface="Calibri"/>
              </a:defRPr>
            </a:pPr>
            <a:r>
              <a:t>64%</a:t>
            </a:r>
          </a:p>
        </p:txBody>
      </p:sp>
      <p:sp>
        <p:nvSpPr>
          <p:cNvPr id="57" name="Rounded Rectangle 56"/>
          <p:cNvSpPr/>
          <p:nvPr/>
        </p:nvSpPr>
        <p:spPr>
          <a:xfrm>
            <a:off x="4937760" y="3566160"/>
            <a:ext cx="3172337"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4937760" y="3566160"/>
            <a:ext cx="2034302"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457200" y="3831336"/>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8640" y="3840480"/>
            <a:ext cx="1097280" cy="228600"/>
          </a:xfrm>
          <a:prstGeom prst="rect">
            <a:avLst/>
          </a:prstGeom>
          <a:noFill/>
        </p:spPr>
        <p:txBody>
          <a:bodyPr wrap="square">
            <a:spAutoFit/>
          </a:bodyPr>
          <a:lstStyle/>
          <a:p>
            <a:pPr algn="l">
              <a:defRPr sz="900" b="1">
                <a:solidFill>
                  <a:srgbClr val="F0F2F8"/>
                </a:solidFill>
                <a:latin typeface="Calibri"/>
              </a:defRPr>
            </a:pPr>
            <a:r>
              <a:t>Aug</a:t>
            </a:r>
          </a:p>
        </p:txBody>
      </p:sp>
      <p:sp>
        <p:nvSpPr>
          <p:cNvPr id="61" name="TextBox 60"/>
          <p:cNvSpPr txBox="1"/>
          <p:nvPr/>
        </p:nvSpPr>
        <p:spPr>
          <a:xfrm>
            <a:off x="1737360" y="3840480"/>
            <a:ext cx="914400" cy="228600"/>
          </a:xfrm>
          <a:prstGeom prst="rect">
            <a:avLst/>
          </a:prstGeom>
          <a:noFill/>
        </p:spPr>
        <p:txBody>
          <a:bodyPr wrap="square">
            <a:spAutoFit/>
          </a:bodyPr>
          <a:lstStyle/>
          <a:p>
            <a:pPr algn="r">
              <a:defRPr sz="900" b="0">
                <a:solidFill>
                  <a:srgbClr val="F0F2F8"/>
                </a:solidFill>
                <a:latin typeface="Calibri"/>
              </a:defRPr>
            </a:pPr>
            <a:r>
              <a:t>1,652</a:t>
            </a:r>
          </a:p>
        </p:txBody>
      </p:sp>
      <p:sp>
        <p:nvSpPr>
          <p:cNvPr id="62" name="TextBox 61"/>
          <p:cNvSpPr txBox="1"/>
          <p:nvPr/>
        </p:nvSpPr>
        <p:spPr>
          <a:xfrm>
            <a:off x="2743200" y="3840480"/>
            <a:ext cx="1097280" cy="228600"/>
          </a:xfrm>
          <a:prstGeom prst="rect">
            <a:avLst/>
          </a:prstGeom>
          <a:noFill/>
        </p:spPr>
        <p:txBody>
          <a:bodyPr wrap="square">
            <a:spAutoFit/>
          </a:bodyPr>
          <a:lstStyle/>
          <a:p>
            <a:pPr algn="r">
              <a:defRPr sz="900" b="0">
                <a:solidFill>
                  <a:srgbClr val="10B981"/>
                </a:solidFill>
                <a:latin typeface="Calibri"/>
              </a:defRPr>
            </a:pPr>
            <a:r>
              <a:t>1,134</a:t>
            </a:r>
          </a:p>
        </p:txBody>
      </p:sp>
      <p:sp>
        <p:nvSpPr>
          <p:cNvPr id="63" name="TextBox 62"/>
          <p:cNvSpPr txBox="1"/>
          <p:nvPr/>
        </p:nvSpPr>
        <p:spPr>
          <a:xfrm>
            <a:off x="3931920" y="3840480"/>
            <a:ext cx="731520" cy="228600"/>
          </a:xfrm>
          <a:prstGeom prst="rect">
            <a:avLst/>
          </a:prstGeom>
          <a:noFill/>
        </p:spPr>
        <p:txBody>
          <a:bodyPr wrap="square">
            <a:spAutoFit/>
          </a:bodyPr>
          <a:lstStyle/>
          <a:p>
            <a:pPr algn="r">
              <a:defRPr sz="900" b="1">
                <a:solidFill>
                  <a:srgbClr val="10B981"/>
                </a:solidFill>
                <a:latin typeface="Calibri"/>
              </a:defRPr>
            </a:pPr>
            <a:r>
              <a:t>69%</a:t>
            </a:r>
          </a:p>
        </p:txBody>
      </p:sp>
      <p:sp>
        <p:nvSpPr>
          <p:cNvPr id="64" name="Rounded Rectangle 63"/>
          <p:cNvSpPr/>
          <p:nvPr/>
        </p:nvSpPr>
        <p:spPr>
          <a:xfrm>
            <a:off x="4937760" y="3858768"/>
            <a:ext cx="1426429"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4937760" y="3858768"/>
            <a:ext cx="979159"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457200" y="4123944"/>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48640" y="4133087"/>
            <a:ext cx="1097280" cy="228600"/>
          </a:xfrm>
          <a:prstGeom prst="rect">
            <a:avLst/>
          </a:prstGeom>
          <a:noFill/>
        </p:spPr>
        <p:txBody>
          <a:bodyPr wrap="square">
            <a:spAutoFit/>
          </a:bodyPr>
          <a:lstStyle/>
          <a:p>
            <a:pPr algn="l">
              <a:defRPr sz="900" b="1">
                <a:solidFill>
                  <a:srgbClr val="F0F2F8"/>
                </a:solidFill>
                <a:latin typeface="Calibri"/>
              </a:defRPr>
            </a:pPr>
            <a:r>
              <a:t>Sep</a:t>
            </a:r>
          </a:p>
        </p:txBody>
      </p:sp>
      <p:sp>
        <p:nvSpPr>
          <p:cNvPr id="68" name="TextBox 67"/>
          <p:cNvSpPr txBox="1"/>
          <p:nvPr/>
        </p:nvSpPr>
        <p:spPr>
          <a:xfrm>
            <a:off x="1737360" y="4133087"/>
            <a:ext cx="914400" cy="228600"/>
          </a:xfrm>
          <a:prstGeom prst="rect">
            <a:avLst/>
          </a:prstGeom>
          <a:noFill/>
        </p:spPr>
        <p:txBody>
          <a:bodyPr wrap="square">
            <a:spAutoFit/>
          </a:bodyPr>
          <a:lstStyle/>
          <a:p>
            <a:pPr algn="r">
              <a:defRPr sz="900" b="0">
                <a:solidFill>
                  <a:srgbClr val="F0F2F8"/>
                </a:solidFill>
                <a:latin typeface="Calibri"/>
              </a:defRPr>
            </a:pPr>
            <a:r>
              <a:t>1,115</a:t>
            </a:r>
          </a:p>
        </p:txBody>
      </p:sp>
      <p:sp>
        <p:nvSpPr>
          <p:cNvPr id="69" name="TextBox 68"/>
          <p:cNvSpPr txBox="1"/>
          <p:nvPr/>
        </p:nvSpPr>
        <p:spPr>
          <a:xfrm>
            <a:off x="2743200" y="4133087"/>
            <a:ext cx="1097280" cy="228600"/>
          </a:xfrm>
          <a:prstGeom prst="rect">
            <a:avLst/>
          </a:prstGeom>
          <a:noFill/>
        </p:spPr>
        <p:txBody>
          <a:bodyPr wrap="square">
            <a:spAutoFit/>
          </a:bodyPr>
          <a:lstStyle/>
          <a:p>
            <a:pPr algn="r">
              <a:defRPr sz="900" b="0">
                <a:solidFill>
                  <a:srgbClr val="10B981"/>
                </a:solidFill>
                <a:latin typeface="Calibri"/>
              </a:defRPr>
            </a:pPr>
            <a:r>
              <a:t>704</a:t>
            </a:r>
          </a:p>
        </p:txBody>
      </p:sp>
      <p:sp>
        <p:nvSpPr>
          <p:cNvPr id="70" name="TextBox 69"/>
          <p:cNvSpPr txBox="1"/>
          <p:nvPr/>
        </p:nvSpPr>
        <p:spPr>
          <a:xfrm>
            <a:off x="3931920" y="4133087"/>
            <a:ext cx="731520" cy="228600"/>
          </a:xfrm>
          <a:prstGeom prst="rect">
            <a:avLst/>
          </a:prstGeom>
          <a:noFill/>
        </p:spPr>
        <p:txBody>
          <a:bodyPr wrap="square">
            <a:spAutoFit/>
          </a:bodyPr>
          <a:lstStyle/>
          <a:p>
            <a:pPr algn="r">
              <a:defRPr sz="900" b="1">
                <a:solidFill>
                  <a:srgbClr val="F59E0B"/>
                </a:solidFill>
                <a:latin typeface="Calibri"/>
              </a:defRPr>
            </a:pPr>
            <a:r>
              <a:t>63%</a:t>
            </a:r>
          </a:p>
        </p:txBody>
      </p:sp>
      <p:sp>
        <p:nvSpPr>
          <p:cNvPr id="71" name="Rounded Rectangle 70"/>
          <p:cNvSpPr/>
          <p:nvPr/>
        </p:nvSpPr>
        <p:spPr>
          <a:xfrm>
            <a:off x="4937760" y="4151376"/>
            <a:ext cx="962753"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4937760" y="4151376"/>
            <a:ext cx="607873"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457200" y="4416552"/>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48640" y="4425696"/>
            <a:ext cx="1097280" cy="228600"/>
          </a:xfrm>
          <a:prstGeom prst="rect">
            <a:avLst/>
          </a:prstGeom>
          <a:noFill/>
        </p:spPr>
        <p:txBody>
          <a:bodyPr wrap="square">
            <a:spAutoFit/>
          </a:bodyPr>
          <a:lstStyle/>
          <a:p>
            <a:pPr algn="l">
              <a:defRPr sz="900" b="1">
                <a:solidFill>
                  <a:srgbClr val="F0F2F8"/>
                </a:solidFill>
                <a:latin typeface="Calibri"/>
              </a:defRPr>
            </a:pPr>
            <a:r>
              <a:t>Oct</a:t>
            </a:r>
          </a:p>
        </p:txBody>
      </p:sp>
      <p:sp>
        <p:nvSpPr>
          <p:cNvPr id="75" name="TextBox 74"/>
          <p:cNvSpPr txBox="1"/>
          <p:nvPr/>
        </p:nvSpPr>
        <p:spPr>
          <a:xfrm>
            <a:off x="1737360" y="4425696"/>
            <a:ext cx="914400" cy="228600"/>
          </a:xfrm>
          <a:prstGeom prst="rect">
            <a:avLst/>
          </a:prstGeom>
          <a:noFill/>
        </p:spPr>
        <p:txBody>
          <a:bodyPr wrap="square">
            <a:spAutoFit/>
          </a:bodyPr>
          <a:lstStyle/>
          <a:p>
            <a:pPr algn="r">
              <a:defRPr sz="900" b="0">
                <a:solidFill>
                  <a:srgbClr val="F0F2F8"/>
                </a:solidFill>
                <a:latin typeface="Calibri"/>
              </a:defRPr>
            </a:pPr>
            <a:r>
              <a:t>873</a:t>
            </a:r>
          </a:p>
        </p:txBody>
      </p:sp>
      <p:sp>
        <p:nvSpPr>
          <p:cNvPr id="76" name="TextBox 75"/>
          <p:cNvSpPr txBox="1"/>
          <p:nvPr/>
        </p:nvSpPr>
        <p:spPr>
          <a:xfrm>
            <a:off x="2743200" y="4425696"/>
            <a:ext cx="1097280" cy="228600"/>
          </a:xfrm>
          <a:prstGeom prst="rect">
            <a:avLst/>
          </a:prstGeom>
          <a:noFill/>
        </p:spPr>
        <p:txBody>
          <a:bodyPr wrap="square">
            <a:spAutoFit/>
          </a:bodyPr>
          <a:lstStyle/>
          <a:p>
            <a:pPr algn="r">
              <a:defRPr sz="900" b="0">
                <a:solidFill>
                  <a:srgbClr val="10B981"/>
                </a:solidFill>
                <a:latin typeface="Calibri"/>
              </a:defRPr>
            </a:pPr>
            <a:r>
              <a:t>569</a:t>
            </a:r>
          </a:p>
        </p:txBody>
      </p:sp>
      <p:sp>
        <p:nvSpPr>
          <p:cNvPr id="77" name="TextBox 76"/>
          <p:cNvSpPr txBox="1"/>
          <p:nvPr/>
        </p:nvSpPr>
        <p:spPr>
          <a:xfrm>
            <a:off x="3931920" y="4425696"/>
            <a:ext cx="731520" cy="228600"/>
          </a:xfrm>
          <a:prstGeom prst="rect">
            <a:avLst/>
          </a:prstGeom>
          <a:noFill/>
        </p:spPr>
        <p:txBody>
          <a:bodyPr wrap="square">
            <a:spAutoFit/>
          </a:bodyPr>
          <a:lstStyle/>
          <a:p>
            <a:pPr algn="r">
              <a:defRPr sz="900" b="1">
                <a:solidFill>
                  <a:srgbClr val="10B981"/>
                </a:solidFill>
                <a:latin typeface="Calibri"/>
              </a:defRPr>
            </a:pPr>
            <a:r>
              <a:t>65%</a:t>
            </a:r>
          </a:p>
        </p:txBody>
      </p:sp>
      <p:sp>
        <p:nvSpPr>
          <p:cNvPr id="78" name="Rounded Rectangle 77"/>
          <p:cNvSpPr/>
          <p:nvPr/>
        </p:nvSpPr>
        <p:spPr>
          <a:xfrm>
            <a:off x="4937760" y="4443984"/>
            <a:ext cx="753797"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4937760" y="4443984"/>
            <a:ext cx="491306"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457200" y="4709160"/>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48640" y="4718304"/>
            <a:ext cx="1097280" cy="228600"/>
          </a:xfrm>
          <a:prstGeom prst="rect">
            <a:avLst/>
          </a:prstGeom>
          <a:noFill/>
        </p:spPr>
        <p:txBody>
          <a:bodyPr wrap="square">
            <a:spAutoFit/>
          </a:bodyPr>
          <a:lstStyle/>
          <a:p>
            <a:pPr algn="l">
              <a:defRPr sz="900" b="1">
                <a:solidFill>
                  <a:srgbClr val="F0F2F8"/>
                </a:solidFill>
                <a:latin typeface="Calibri"/>
              </a:defRPr>
            </a:pPr>
            <a:r>
              <a:t>Nov</a:t>
            </a:r>
          </a:p>
        </p:txBody>
      </p:sp>
      <p:sp>
        <p:nvSpPr>
          <p:cNvPr id="82" name="TextBox 81"/>
          <p:cNvSpPr txBox="1"/>
          <p:nvPr/>
        </p:nvSpPr>
        <p:spPr>
          <a:xfrm>
            <a:off x="1737360" y="4718304"/>
            <a:ext cx="914400" cy="228600"/>
          </a:xfrm>
          <a:prstGeom prst="rect">
            <a:avLst/>
          </a:prstGeom>
          <a:noFill/>
        </p:spPr>
        <p:txBody>
          <a:bodyPr wrap="square">
            <a:spAutoFit/>
          </a:bodyPr>
          <a:lstStyle/>
          <a:p>
            <a:pPr algn="r">
              <a:defRPr sz="900" b="0">
                <a:solidFill>
                  <a:srgbClr val="F0F2F8"/>
                </a:solidFill>
                <a:latin typeface="Calibri"/>
              </a:defRPr>
            </a:pPr>
            <a:r>
              <a:t>826</a:t>
            </a:r>
          </a:p>
        </p:txBody>
      </p:sp>
      <p:sp>
        <p:nvSpPr>
          <p:cNvPr id="83" name="TextBox 82"/>
          <p:cNvSpPr txBox="1"/>
          <p:nvPr/>
        </p:nvSpPr>
        <p:spPr>
          <a:xfrm>
            <a:off x="2743200" y="4718304"/>
            <a:ext cx="1097280" cy="228600"/>
          </a:xfrm>
          <a:prstGeom prst="rect">
            <a:avLst/>
          </a:prstGeom>
          <a:noFill/>
        </p:spPr>
        <p:txBody>
          <a:bodyPr wrap="square">
            <a:spAutoFit/>
          </a:bodyPr>
          <a:lstStyle/>
          <a:p>
            <a:pPr algn="r">
              <a:defRPr sz="900" b="0">
                <a:solidFill>
                  <a:srgbClr val="10B981"/>
                </a:solidFill>
                <a:latin typeface="Calibri"/>
              </a:defRPr>
            </a:pPr>
            <a:r>
              <a:t>583</a:t>
            </a:r>
          </a:p>
        </p:txBody>
      </p:sp>
      <p:sp>
        <p:nvSpPr>
          <p:cNvPr id="84" name="TextBox 83"/>
          <p:cNvSpPr txBox="1"/>
          <p:nvPr/>
        </p:nvSpPr>
        <p:spPr>
          <a:xfrm>
            <a:off x="3931920" y="4718304"/>
            <a:ext cx="731520" cy="228600"/>
          </a:xfrm>
          <a:prstGeom prst="rect">
            <a:avLst/>
          </a:prstGeom>
          <a:noFill/>
        </p:spPr>
        <p:txBody>
          <a:bodyPr wrap="square">
            <a:spAutoFit/>
          </a:bodyPr>
          <a:lstStyle/>
          <a:p>
            <a:pPr algn="r">
              <a:defRPr sz="900" b="1">
                <a:solidFill>
                  <a:srgbClr val="10B981"/>
                </a:solidFill>
                <a:latin typeface="Calibri"/>
              </a:defRPr>
            </a:pPr>
            <a:r>
              <a:t>71%</a:t>
            </a:r>
          </a:p>
        </p:txBody>
      </p:sp>
      <p:sp>
        <p:nvSpPr>
          <p:cNvPr id="85" name="Rounded Rectangle 84"/>
          <p:cNvSpPr/>
          <p:nvPr/>
        </p:nvSpPr>
        <p:spPr>
          <a:xfrm>
            <a:off x="4937760" y="4736592"/>
            <a:ext cx="713214"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p:cNvSpPr/>
          <p:nvPr/>
        </p:nvSpPr>
        <p:spPr>
          <a:xfrm>
            <a:off x="4937760" y="4736592"/>
            <a:ext cx="503394"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ounded Rectangle 86"/>
          <p:cNvSpPr/>
          <p:nvPr/>
        </p:nvSpPr>
        <p:spPr>
          <a:xfrm>
            <a:off x="457200" y="5001768"/>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48640" y="5010912"/>
            <a:ext cx="1097280" cy="228600"/>
          </a:xfrm>
          <a:prstGeom prst="rect">
            <a:avLst/>
          </a:prstGeom>
          <a:noFill/>
        </p:spPr>
        <p:txBody>
          <a:bodyPr wrap="square">
            <a:spAutoFit/>
          </a:bodyPr>
          <a:lstStyle/>
          <a:p>
            <a:pPr algn="l">
              <a:defRPr sz="900" b="1">
                <a:solidFill>
                  <a:srgbClr val="F0F2F8"/>
                </a:solidFill>
                <a:latin typeface="Calibri"/>
              </a:defRPr>
            </a:pPr>
            <a:r>
              <a:t>Dec</a:t>
            </a:r>
          </a:p>
        </p:txBody>
      </p:sp>
      <p:sp>
        <p:nvSpPr>
          <p:cNvPr id="89" name="TextBox 88"/>
          <p:cNvSpPr txBox="1"/>
          <p:nvPr/>
        </p:nvSpPr>
        <p:spPr>
          <a:xfrm>
            <a:off x="1737360" y="5010912"/>
            <a:ext cx="914400" cy="228600"/>
          </a:xfrm>
          <a:prstGeom prst="rect">
            <a:avLst/>
          </a:prstGeom>
          <a:noFill/>
        </p:spPr>
        <p:txBody>
          <a:bodyPr wrap="square">
            <a:spAutoFit/>
          </a:bodyPr>
          <a:lstStyle/>
          <a:p>
            <a:pPr algn="r">
              <a:defRPr sz="900" b="0">
                <a:solidFill>
                  <a:srgbClr val="F0F2F8"/>
                </a:solidFill>
                <a:latin typeface="Calibri"/>
              </a:defRPr>
            </a:pPr>
            <a:r>
              <a:t>631</a:t>
            </a:r>
          </a:p>
        </p:txBody>
      </p:sp>
      <p:sp>
        <p:nvSpPr>
          <p:cNvPr id="90" name="TextBox 89"/>
          <p:cNvSpPr txBox="1"/>
          <p:nvPr/>
        </p:nvSpPr>
        <p:spPr>
          <a:xfrm>
            <a:off x="2743200" y="5010912"/>
            <a:ext cx="1097280" cy="228600"/>
          </a:xfrm>
          <a:prstGeom prst="rect">
            <a:avLst/>
          </a:prstGeom>
          <a:noFill/>
        </p:spPr>
        <p:txBody>
          <a:bodyPr wrap="square">
            <a:spAutoFit/>
          </a:bodyPr>
          <a:lstStyle/>
          <a:p>
            <a:pPr algn="r">
              <a:defRPr sz="900" b="0">
                <a:solidFill>
                  <a:srgbClr val="10B981"/>
                </a:solidFill>
                <a:latin typeface="Calibri"/>
              </a:defRPr>
            </a:pPr>
            <a:r>
              <a:t>408</a:t>
            </a:r>
          </a:p>
        </p:txBody>
      </p:sp>
      <p:sp>
        <p:nvSpPr>
          <p:cNvPr id="91" name="TextBox 90"/>
          <p:cNvSpPr txBox="1"/>
          <p:nvPr/>
        </p:nvSpPr>
        <p:spPr>
          <a:xfrm>
            <a:off x="3931920" y="5010912"/>
            <a:ext cx="731520" cy="228600"/>
          </a:xfrm>
          <a:prstGeom prst="rect">
            <a:avLst/>
          </a:prstGeom>
          <a:noFill/>
        </p:spPr>
        <p:txBody>
          <a:bodyPr wrap="square">
            <a:spAutoFit/>
          </a:bodyPr>
          <a:lstStyle/>
          <a:p>
            <a:pPr algn="r">
              <a:defRPr sz="900" b="1">
                <a:solidFill>
                  <a:srgbClr val="F59E0B"/>
                </a:solidFill>
                <a:latin typeface="Calibri"/>
              </a:defRPr>
            </a:pPr>
            <a:r>
              <a:t>65%</a:t>
            </a:r>
          </a:p>
        </p:txBody>
      </p:sp>
      <p:sp>
        <p:nvSpPr>
          <p:cNvPr id="92" name="Rounded Rectangle 91"/>
          <p:cNvSpPr/>
          <p:nvPr/>
        </p:nvSpPr>
        <p:spPr>
          <a:xfrm>
            <a:off x="4937760" y="5029200"/>
            <a:ext cx="544840"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4937760" y="5029200"/>
            <a:ext cx="352290"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457200" y="5294376"/>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548640" y="5303520"/>
            <a:ext cx="1097280" cy="228600"/>
          </a:xfrm>
          <a:prstGeom prst="rect">
            <a:avLst/>
          </a:prstGeom>
          <a:noFill/>
        </p:spPr>
        <p:txBody>
          <a:bodyPr wrap="square">
            <a:spAutoFit/>
          </a:bodyPr>
          <a:lstStyle/>
          <a:p>
            <a:pPr algn="l">
              <a:defRPr sz="900" b="1">
                <a:solidFill>
                  <a:srgbClr val="F0F2F8"/>
                </a:solidFill>
                <a:latin typeface="Calibri"/>
              </a:defRPr>
            </a:pPr>
            <a:r>
              <a:t>Ian 26</a:t>
            </a:r>
          </a:p>
        </p:txBody>
      </p:sp>
      <p:sp>
        <p:nvSpPr>
          <p:cNvPr id="96" name="TextBox 95"/>
          <p:cNvSpPr txBox="1"/>
          <p:nvPr/>
        </p:nvSpPr>
        <p:spPr>
          <a:xfrm>
            <a:off x="1737360" y="5303520"/>
            <a:ext cx="914400" cy="228600"/>
          </a:xfrm>
          <a:prstGeom prst="rect">
            <a:avLst/>
          </a:prstGeom>
          <a:noFill/>
        </p:spPr>
        <p:txBody>
          <a:bodyPr wrap="square">
            <a:spAutoFit/>
          </a:bodyPr>
          <a:lstStyle/>
          <a:p>
            <a:pPr algn="r">
              <a:defRPr sz="900" b="0">
                <a:solidFill>
                  <a:srgbClr val="F0F2F8"/>
                </a:solidFill>
                <a:latin typeface="Calibri"/>
              </a:defRPr>
            </a:pPr>
            <a:r>
              <a:t>722</a:t>
            </a:r>
          </a:p>
        </p:txBody>
      </p:sp>
      <p:sp>
        <p:nvSpPr>
          <p:cNvPr id="97" name="TextBox 96"/>
          <p:cNvSpPr txBox="1"/>
          <p:nvPr/>
        </p:nvSpPr>
        <p:spPr>
          <a:xfrm>
            <a:off x="2743200" y="5303520"/>
            <a:ext cx="1097280" cy="228600"/>
          </a:xfrm>
          <a:prstGeom prst="rect">
            <a:avLst/>
          </a:prstGeom>
          <a:noFill/>
        </p:spPr>
        <p:txBody>
          <a:bodyPr wrap="square">
            <a:spAutoFit/>
          </a:bodyPr>
          <a:lstStyle/>
          <a:p>
            <a:pPr algn="r">
              <a:defRPr sz="900" b="0">
                <a:solidFill>
                  <a:srgbClr val="10B981"/>
                </a:solidFill>
                <a:latin typeface="Calibri"/>
              </a:defRPr>
            </a:pPr>
            <a:r>
              <a:t>472</a:t>
            </a:r>
          </a:p>
        </p:txBody>
      </p:sp>
      <p:sp>
        <p:nvSpPr>
          <p:cNvPr id="98" name="TextBox 97"/>
          <p:cNvSpPr txBox="1"/>
          <p:nvPr/>
        </p:nvSpPr>
        <p:spPr>
          <a:xfrm>
            <a:off x="3931920" y="5303520"/>
            <a:ext cx="731520" cy="228600"/>
          </a:xfrm>
          <a:prstGeom prst="rect">
            <a:avLst/>
          </a:prstGeom>
          <a:noFill/>
        </p:spPr>
        <p:txBody>
          <a:bodyPr wrap="square">
            <a:spAutoFit/>
          </a:bodyPr>
          <a:lstStyle/>
          <a:p>
            <a:pPr algn="r">
              <a:defRPr sz="900" b="1">
                <a:solidFill>
                  <a:srgbClr val="10B981"/>
                </a:solidFill>
                <a:latin typeface="Calibri"/>
              </a:defRPr>
            </a:pPr>
            <a:r>
              <a:t>65%</a:t>
            </a:r>
          </a:p>
        </p:txBody>
      </p:sp>
      <p:sp>
        <p:nvSpPr>
          <p:cNvPr id="99" name="Rounded Rectangle 98"/>
          <p:cNvSpPr/>
          <p:nvPr/>
        </p:nvSpPr>
        <p:spPr>
          <a:xfrm>
            <a:off x="4937760" y="5321808"/>
            <a:ext cx="623415"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99"/>
          <p:cNvSpPr/>
          <p:nvPr/>
        </p:nvSpPr>
        <p:spPr>
          <a:xfrm>
            <a:off x="4937760" y="5321808"/>
            <a:ext cx="407551"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457200" y="5586984"/>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8640" y="5596128"/>
            <a:ext cx="1097280" cy="228600"/>
          </a:xfrm>
          <a:prstGeom prst="rect">
            <a:avLst/>
          </a:prstGeom>
          <a:noFill/>
        </p:spPr>
        <p:txBody>
          <a:bodyPr wrap="square">
            <a:spAutoFit/>
          </a:bodyPr>
          <a:lstStyle/>
          <a:p>
            <a:pPr algn="l">
              <a:defRPr sz="900" b="1">
                <a:solidFill>
                  <a:srgbClr val="F0F2F8"/>
                </a:solidFill>
                <a:latin typeface="Calibri"/>
              </a:defRPr>
            </a:pPr>
            <a:r>
              <a:t>Feb</a:t>
            </a:r>
          </a:p>
        </p:txBody>
      </p:sp>
      <p:sp>
        <p:nvSpPr>
          <p:cNvPr id="103" name="TextBox 102"/>
          <p:cNvSpPr txBox="1"/>
          <p:nvPr/>
        </p:nvSpPr>
        <p:spPr>
          <a:xfrm>
            <a:off x="1737360" y="5596128"/>
            <a:ext cx="914400" cy="228600"/>
          </a:xfrm>
          <a:prstGeom prst="rect">
            <a:avLst/>
          </a:prstGeom>
          <a:noFill/>
        </p:spPr>
        <p:txBody>
          <a:bodyPr wrap="square">
            <a:spAutoFit/>
          </a:bodyPr>
          <a:lstStyle/>
          <a:p>
            <a:pPr algn="r">
              <a:defRPr sz="900" b="0">
                <a:solidFill>
                  <a:srgbClr val="F0F2F8"/>
                </a:solidFill>
                <a:latin typeface="Calibri"/>
              </a:defRPr>
            </a:pPr>
            <a:r>
              <a:t>527</a:t>
            </a:r>
          </a:p>
        </p:txBody>
      </p:sp>
      <p:sp>
        <p:nvSpPr>
          <p:cNvPr id="104" name="TextBox 103"/>
          <p:cNvSpPr txBox="1"/>
          <p:nvPr/>
        </p:nvSpPr>
        <p:spPr>
          <a:xfrm>
            <a:off x="2743200" y="5596128"/>
            <a:ext cx="1097280" cy="228600"/>
          </a:xfrm>
          <a:prstGeom prst="rect">
            <a:avLst/>
          </a:prstGeom>
          <a:noFill/>
        </p:spPr>
        <p:txBody>
          <a:bodyPr wrap="square">
            <a:spAutoFit/>
          </a:bodyPr>
          <a:lstStyle/>
          <a:p>
            <a:pPr algn="r">
              <a:defRPr sz="900" b="0">
                <a:solidFill>
                  <a:srgbClr val="10B981"/>
                </a:solidFill>
                <a:latin typeface="Calibri"/>
              </a:defRPr>
            </a:pPr>
            <a:r>
              <a:t>364</a:t>
            </a:r>
          </a:p>
        </p:txBody>
      </p:sp>
      <p:sp>
        <p:nvSpPr>
          <p:cNvPr id="105" name="TextBox 104"/>
          <p:cNvSpPr txBox="1"/>
          <p:nvPr/>
        </p:nvSpPr>
        <p:spPr>
          <a:xfrm>
            <a:off x="3931920" y="5596128"/>
            <a:ext cx="731520" cy="228600"/>
          </a:xfrm>
          <a:prstGeom prst="rect">
            <a:avLst/>
          </a:prstGeom>
          <a:noFill/>
        </p:spPr>
        <p:txBody>
          <a:bodyPr wrap="square">
            <a:spAutoFit/>
          </a:bodyPr>
          <a:lstStyle/>
          <a:p>
            <a:pPr algn="r">
              <a:defRPr sz="900" b="1">
                <a:solidFill>
                  <a:srgbClr val="10B981"/>
                </a:solidFill>
                <a:latin typeface="Calibri"/>
              </a:defRPr>
            </a:pPr>
            <a:r>
              <a:t>69%</a:t>
            </a:r>
          </a:p>
        </p:txBody>
      </p:sp>
      <p:sp>
        <p:nvSpPr>
          <p:cNvPr id="106" name="Rounded Rectangle 105"/>
          <p:cNvSpPr/>
          <p:nvPr/>
        </p:nvSpPr>
        <p:spPr>
          <a:xfrm>
            <a:off x="4937760" y="5614416"/>
            <a:ext cx="455041"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4937760" y="5614416"/>
            <a:ext cx="314298"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p:nvPr/>
        </p:nvSpPr>
        <p:spPr>
          <a:xfrm>
            <a:off x="457200" y="5879592"/>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548640" y="5888736"/>
            <a:ext cx="1097280" cy="228600"/>
          </a:xfrm>
          <a:prstGeom prst="rect">
            <a:avLst/>
          </a:prstGeom>
          <a:noFill/>
        </p:spPr>
        <p:txBody>
          <a:bodyPr wrap="square">
            <a:spAutoFit/>
          </a:bodyPr>
          <a:lstStyle/>
          <a:p>
            <a:pPr algn="l">
              <a:defRPr sz="900" b="1">
                <a:solidFill>
                  <a:srgbClr val="F0F2F8"/>
                </a:solidFill>
                <a:latin typeface="Calibri"/>
              </a:defRPr>
            </a:pPr>
            <a:r>
              <a:t>Mar</a:t>
            </a:r>
          </a:p>
        </p:txBody>
      </p:sp>
      <p:sp>
        <p:nvSpPr>
          <p:cNvPr id="110" name="TextBox 109"/>
          <p:cNvSpPr txBox="1"/>
          <p:nvPr/>
        </p:nvSpPr>
        <p:spPr>
          <a:xfrm>
            <a:off x="1737360" y="5888736"/>
            <a:ext cx="914400" cy="228600"/>
          </a:xfrm>
          <a:prstGeom prst="rect">
            <a:avLst/>
          </a:prstGeom>
          <a:noFill/>
        </p:spPr>
        <p:txBody>
          <a:bodyPr wrap="square">
            <a:spAutoFit/>
          </a:bodyPr>
          <a:lstStyle/>
          <a:p>
            <a:pPr algn="r">
              <a:defRPr sz="900" b="0">
                <a:solidFill>
                  <a:srgbClr val="F0F2F8"/>
                </a:solidFill>
                <a:latin typeface="Calibri"/>
              </a:defRPr>
            </a:pPr>
            <a:r>
              <a:t>676</a:t>
            </a:r>
          </a:p>
        </p:txBody>
      </p:sp>
      <p:sp>
        <p:nvSpPr>
          <p:cNvPr id="111" name="TextBox 110"/>
          <p:cNvSpPr txBox="1"/>
          <p:nvPr/>
        </p:nvSpPr>
        <p:spPr>
          <a:xfrm>
            <a:off x="2743200" y="5888736"/>
            <a:ext cx="1097280" cy="228600"/>
          </a:xfrm>
          <a:prstGeom prst="rect">
            <a:avLst/>
          </a:prstGeom>
          <a:noFill/>
        </p:spPr>
        <p:txBody>
          <a:bodyPr wrap="square">
            <a:spAutoFit/>
          </a:bodyPr>
          <a:lstStyle/>
          <a:p>
            <a:pPr algn="r">
              <a:defRPr sz="900" b="0">
                <a:solidFill>
                  <a:srgbClr val="10B981"/>
                </a:solidFill>
                <a:latin typeface="Calibri"/>
              </a:defRPr>
            </a:pPr>
            <a:r>
              <a:t>452</a:t>
            </a:r>
          </a:p>
        </p:txBody>
      </p:sp>
      <p:sp>
        <p:nvSpPr>
          <p:cNvPr id="112" name="TextBox 111"/>
          <p:cNvSpPr txBox="1"/>
          <p:nvPr/>
        </p:nvSpPr>
        <p:spPr>
          <a:xfrm>
            <a:off x="3931920" y="5888736"/>
            <a:ext cx="731520" cy="228600"/>
          </a:xfrm>
          <a:prstGeom prst="rect">
            <a:avLst/>
          </a:prstGeom>
          <a:noFill/>
        </p:spPr>
        <p:txBody>
          <a:bodyPr wrap="square">
            <a:spAutoFit/>
          </a:bodyPr>
          <a:lstStyle/>
          <a:p>
            <a:pPr algn="r">
              <a:defRPr sz="900" b="1">
                <a:solidFill>
                  <a:srgbClr val="10B981"/>
                </a:solidFill>
                <a:latin typeface="Calibri"/>
              </a:defRPr>
            </a:pPr>
            <a:r>
              <a:t>67%</a:t>
            </a:r>
          </a:p>
        </p:txBody>
      </p:sp>
      <p:sp>
        <p:nvSpPr>
          <p:cNvPr id="113" name="Rounded Rectangle 112"/>
          <p:cNvSpPr/>
          <p:nvPr/>
        </p:nvSpPr>
        <p:spPr>
          <a:xfrm>
            <a:off x="4937760" y="5907024"/>
            <a:ext cx="583696"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4937760" y="5907024"/>
            <a:ext cx="390282"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ounded Rectangle 114"/>
          <p:cNvSpPr/>
          <p:nvPr/>
        </p:nvSpPr>
        <p:spPr>
          <a:xfrm>
            <a:off x="457200" y="6172200"/>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548640" y="6181344"/>
            <a:ext cx="1097280" cy="228600"/>
          </a:xfrm>
          <a:prstGeom prst="rect">
            <a:avLst/>
          </a:prstGeom>
          <a:noFill/>
        </p:spPr>
        <p:txBody>
          <a:bodyPr wrap="square">
            <a:spAutoFit/>
          </a:bodyPr>
          <a:lstStyle/>
          <a:p>
            <a:pPr algn="l">
              <a:defRPr sz="900" b="1">
                <a:solidFill>
                  <a:srgbClr val="F0F2F8"/>
                </a:solidFill>
                <a:latin typeface="Calibri"/>
              </a:defRPr>
            </a:pPr>
            <a:r>
              <a:t>Apr*</a:t>
            </a:r>
          </a:p>
        </p:txBody>
      </p:sp>
      <p:sp>
        <p:nvSpPr>
          <p:cNvPr id="117" name="TextBox 116"/>
          <p:cNvSpPr txBox="1"/>
          <p:nvPr/>
        </p:nvSpPr>
        <p:spPr>
          <a:xfrm>
            <a:off x="1737360" y="6181344"/>
            <a:ext cx="914400" cy="228600"/>
          </a:xfrm>
          <a:prstGeom prst="rect">
            <a:avLst/>
          </a:prstGeom>
          <a:noFill/>
        </p:spPr>
        <p:txBody>
          <a:bodyPr wrap="square">
            <a:spAutoFit/>
          </a:bodyPr>
          <a:lstStyle/>
          <a:p>
            <a:pPr algn="r">
              <a:defRPr sz="900" b="0">
                <a:solidFill>
                  <a:srgbClr val="F0F2F8"/>
                </a:solidFill>
                <a:latin typeface="Calibri"/>
              </a:defRPr>
            </a:pPr>
            <a:r>
              <a:t>286</a:t>
            </a:r>
          </a:p>
        </p:txBody>
      </p:sp>
      <p:sp>
        <p:nvSpPr>
          <p:cNvPr id="118" name="TextBox 117"/>
          <p:cNvSpPr txBox="1"/>
          <p:nvPr/>
        </p:nvSpPr>
        <p:spPr>
          <a:xfrm>
            <a:off x="2743200" y="6181344"/>
            <a:ext cx="1097280" cy="228600"/>
          </a:xfrm>
          <a:prstGeom prst="rect">
            <a:avLst/>
          </a:prstGeom>
          <a:noFill/>
        </p:spPr>
        <p:txBody>
          <a:bodyPr wrap="square">
            <a:spAutoFit/>
          </a:bodyPr>
          <a:lstStyle/>
          <a:p>
            <a:pPr algn="r">
              <a:defRPr sz="900" b="0">
                <a:solidFill>
                  <a:srgbClr val="10B981"/>
                </a:solidFill>
                <a:latin typeface="Calibri"/>
              </a:defRPr>
            </a:pPr>
            <a:r>
              <a:t>184</a:t>
            </a:r>
          </a:p>
        </p:txBody>
      </p:sp>
      <p:sp>
        <p:nvSpPr>
          <p:cNvPr id="119" name="TextBox 118"/>
          <p:cNvSpPr txBox="1"/>
          <p:nvPr/>
        </p:nvSpPr>
        <p:spPr>
          <a:xfrm>
            <a:off x="3931920" y="6181344"/>
            <a:ext cx="731520" cy="228600"/>
          </a:xfrm>
          <a:prstGeom prst="rect">
            <a:avLst/>
          </a:prstGeom>
          <a:noFill/>
        </p:spPr>
        <p:txBody>
          <a:bodyPr wrap="square">
            <a:spAutoFit/>
          </a:bodyPr>
          <a:lstStyle/>
          <a:p>
            <a:pPr algn="r">
              <a:defRPr sz="900" b="1">
                <a:solidFill>
                  <a:srgbClr val="F59E0B"/>
                </a:solidFill>
                <a:latin typeface="Calibri"/>
              </a:defRPr>
            </a:pPr>
            <a:r>
              <a:t>64%</a:t>
            </a:r>
          </a:p>
        </p:txBody>
      </p:sp>
      <p:sp>
        <p:nvSpPr>
          <p:cNvPr id="120" name="Rounded Rectangle 119"/>
          <p:cNvSpPr/>
          <p:nvPr/>
        </p:nvSpPr>
        <p:spPr>
          <a:xfrm>
            <a:off x="4937760" y="6199632"/>
            <a:ext cx="246948" cy="201168"/>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ounded Rectangle 120"/>
          <p:cNvSpPr/>
          <p:nvPr/>
        </p:nvSpPr>
        <p:spPr>
          <a:xfrm>
            <a:off x="4937760" y="6199632"/>
            <a:ext cx="158875" cy="201168"/>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457200" y="6583680"/>
            <a:ext cx="3657600" cy="182880"/>
          </a:xfrm>
          <a:prstGeom prst="rect">
            <a:avLst/>
          </a:prstGeom>
          <a:noFill/>
        </p:spPr>
        <p:txBody>
          <a:bodyPr wrap="square">
            <a:spAutoFit/>
          </a:bodyPr>
          <a:lstStyle/>
          <a:p>
            <a:pPr algn="l">
              <a:defRPr sz="800" b="0">
                <a:solidFill>
                  <a:srgbClr val="5A6380"/>
                </a:solidFill>
                <a:latin typeface="Calibri"/>
              </a:defRPr>
            </a:pPr>
            <a:r>
              <a:t>* Aprilie 2026: doar 14 zile</a:t>
            </a:r>
          </a:p>
        </p:txBody>
      </p:sp>
      <p:sp>
        <p:nvSpPr>
          <p:cNvPr id="123" name="Rounded Rectangle 122"/>
          <p:cNvSpPr/>
          <p:nvPr/>
        </p:nvSpPr>
        <p:spPr>
          <a:xfrm>
            <a:off x="7772400" y="1371600"/>
            <a:ext cx="3931920" cy="109728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7955279" y="1417320"/>
            <a:ext cx="3657600" cy="228600"/>
          </a:xfrm>
          <a:prstGeom prst="rect">
            <a:avLst/>
          </a:prstGeom>
          <a:noFill/>
        </p:spPr>
        <p:txBody>
          <a:bodyPr wrap="square">
            <a:spAutoFit/>
          </a:bodyPr>
          <a:lstStyle/>
          <a:p>
            <a:pPr algn="l">
              <a:defRPr sz="900" b="1">
                <a:solidFill>
                  <a:srgbClr val="10B981"/>
                </a:solidFill>
                <a:latin typeface="Calibri"/>
              </a:defRPr>
            </a:pPr>
            <a:r>
              <a:t>CONVERSIE QUIZ → COMANDĂ</a:t>
            </a:r>
          </a:p>
        </p:txBody>
      </p:sp>
      <p:sp>
        <p:nvSpPr>
          <p:cNvPr id="125" name="TextBox 124"/>
          <p:cNvSpPr txBox="1"/>
          <p:nvPr/>
        </p:nvSpPr>
        <p:spPr>
          <a:xfrm>
            <a:off x="7955279" y="1691640"/>
            <a:ext cx="1371600" cy="365760"/>
          </a:xfrm>
          <a:prstGeom prst="rect">
            <a:avLst/>
          </a:prstGeom>
          <a:noFill/>
        </p:spPr>
        <p:txBody>
          <a:bodyPr wrap="square">
            <a:spAutoFit/>
          </a:bodyPr>
          <a:lstStyle/>
          <a:p>
            <a:pPr algn="l">
              <a:defRPr sz="2800" b="1">
                <a:solidFill>
                  <a:srgbClr val="10B981"/>
                </a:solidFill>
                <a:latin typeface="Calibri"/>
              </a:defRPr>
            </a:pPr>
            <a:r>
              <a:t>5.1%</a:t>
            </a:r>
          </a:p>
        </p:txBody>
      </p:sp>
      <p:sp>
        <p:nvSpPr>
          <p:cNvPr id="126" name="TextBox 125"/>
          <p:cNvSpPr txBox="1"/>
          <p:nvPr/>
        </p:nvSpPr>
        <p:spPr>
          <a:xfrm>
            <a:off x="9418320" y="1737360"/>
            <a:ext cx="2103120" cy="182880"/>
          </a:xfrm>
          <a:prstGeom prst="rect">
            <a:avLst/>
          </a:prstGeom>
          <a:noFill/>
        </p:spPr>
        <p:txBody>
          <a:bodyPr wrap="square">
            <a:spAutoFit/>
          </a:bodyPr>
          <a:lstStyle/>
          <a:p>
            <a:pPr algn="l">
              <a:defRPr sz="900" b="0">
                <a:solidFill>
                  <a:srgbClr val="8B95B0"/>
                </a:solidFill>
                <a:latin typeface="Calibri"/>
              </a:defRPr>
            </a:pPr>
            <a:r>
              <a:t>1,370 comenzi din 26,753 quiz-uri</a:t>
            </a:r>
          </a:p>
        </p:txBody>
      </p:sp>
      <p:sp>
        <p:nvSpPr>
          <p:cNvPr id="127" name="TextBox 126"/>
          <p:cNvSpPr txBox="1"/>
          <p:nvPr/>
        </p:nvSpPr>
        <p:spPr>
          <a:xfrm>
            <a:off x="9418320" y="1965960"/>
            <a:ext cx="2103120" cy="182880"/>
          </a:xfrm>
          <a:prstGeom prst="rect">
            <a:avLst/>
          </a:prstGeom>
          <a:noFill/>
        </p:spPr>
        <p:txBody>
          <a:bodyPr wrap="square">
            <a:spAutoFit/>
          </a:bodyPr>
          <a:lstStyle/>
          <a:p>
            <a:pPr algn="l">
              <a:defRPr sz="900" b="0">
                <a:solidFill>
                  <a:srgbClr val="8B95B0"/>
                </a:solidFill>
                <a:latin typeface="Calibri"/>
              </a:defRPr>
            </a:pPr>
            <a:r>
              <a:t>852 clienți unici (1.6 cmd/client)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CONCLUZII</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800" b="1">
                <a:solidFill>
                  <a:srgbClr val="F0F2F8"/>
                </a:solidFill>
                <a:latin typeface="Calibri"/>
              </a:defRPr>
            </a:pPr>
            <a:r>
              <a:t>📋 Ce ne spun datele din chestionar?</a:t>
            </a:r>
          </a:p>
        </p:txBody>
      </p:sp>
      <p:sp>
        <p:nvSpPr>
          <p:cNvPr id="4" name="Rounded Rectangle 3"/>
          <p:cNvSpPr/>
          <p:nvPr/>
        </p:nvSpPr>
        <p:spPr>
          <a:xfrm>
            <a:off x="457200" y="1371600"/>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371600"/>
            <a:ext cx="54864" cy="10972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63040"/>
            <a:ext cx="5120640" cy="274320"/>
          </a:xfrm>
          <a:prstGeom prst="rect">
            <a:avLst/>
          </a:prstGeom>
          <a:noFill/>
        </p:spPr>
        <p:txBody>
          <a:bodyPr wrap="square">
            <a:spAutoFit/>
          </a:bodyPr>
          <a:lstStyle/>
          <a:p>
            <a:pPr algn="l">
              <a:defRPr sz="1200" b="1">
                <a:solidFill>
                  <a:srgbClr val="10B981"/>
                </a:solidFill>
                <a:latin typeface="Calibri"/>
              </a:defRPr>
            </a:pPr>
            <a:r>
              <a:t>📱 Instagram + Facebook = 53%</a:t>
            </a:r>
          </a:p>
        </p:txBody>
      </p:sp>
      <p:sp>
        <p:nvSpPr>
          <p:cNvPr id="7" name="TextBox 6"/>
          <p:cNvSpPr txBox="1"/>
          <p:nvPr/>
        </p:nvSpPr>
        <p:spPr>
          <a:xfrm>
            <a:off x="640080" y="1783080"/>
            <a:ext cx="5120640" cy="594360"/>
          </a:xfrm>
          <a:prstGeom prst="rect">
            <a:avLst/>
          </a:prstGeom>
          <a:noFill/>
        </p:spPr>
        <p:txBody>
          <a:bodyPr wrap="square">
            <a:spAutoFit/>
          </a:bodyPr>
          <a:lstStyle/>
          <a:p>
            <a:pPr algn="l">
              <a:defRPr sz="1100" b="0">
                <a:solidFill>
                  <a:srgbClr val="8B95B0"/>
                </a:solidFill>
                <a:latin typeface="Calibri"/>
              </a:defRPr>
            </a:pPr>
            <a:r>
              <a:t>Principalele canale de achiziție. Social media e motorul nr. 1 al brandului.</a:t>
            </a:r>
          </a:p>
        </p:txBody>
      </p:sp>
      <p:sp>
        <p:nvSpPr>
          <p:cNvPr id="8" name="Rounded Rectangle 7"/>
          <p:cNvSpPr/>
          <p:nvPr/>
        </p:nvSpPr>
        <p:spPr>
          <a:xfrm>
            <a:off x="6217920" y="1371600"/>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17920" y="1371600"/>
            <a:ext cx="54864" cy="109728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63040"/>
            <a:ext cx="5120640" cy="274320"/>
          </a:xfrm>
          <a:prstGeom prst="rect">
            <a:avLst/>
          </a:prstGeom>
          <a:noFill/>
        </p:spPr>
        <p:txBody>
          <a:bodyPr wrap="square">
            <a:spAutoFit/>
          </a:bodyPr>
          <a:lstStyle/>
          <a:p>
            <a:pPr algn="l">
              <a:defRPr sz="1200" b="1">
                <a:solidFill>
                  <a:srgbClr val="EC4899"/>
                </a:solidFill>
                <a:latin typeface="Calibri"/>
              </a:defRPr>
            </a:pPr>
            <a:r>
              <a:t>👩 75% Femei, 25-39 ani</a:t>
            </a:r>
          </a:p>
        </p:txBody>
      </p:sp>
      <p:sp>
        <p:nvSpPr>
          <p:cNvPr id="11" name="TextBox 10"/>
          <p:cNvSpPr txBox="1"/>
          <p:nvPr/>
        </p:nvSpPr>
        <p:spPr>
          <a:xfrm>
            <a:off x="6400800" y="1783080"/>
            <a:ext cx="5120640" cy="594360"/>
          </a:xfrm>
          <a:prstGeom prst="rect">
            <a:avLst/>
          </a:prstGeom>
          <a:noFill/>
        </p:spPr>
        <p:txBody>
          <a:bodyPr wrap="square">
            <a:spAutoFit/>
          </a:bodyPr>
          <a:lstStyle/>
          <a:p>
            <a:pPr algn="l">
              <a:defRPr sz="1100" b="0">
                <a:solidFill>
                  <a:srgbClr val="8B95B0"/>
                </a:solidFill>
                <a:latin typeface="Calibri"/>
              </a:defRPr>
            </a:pPr>
            <a:r>
              <a:t>Buyer persona clar — conținutul, tonul și ofertele trebuie optimizate pentru acest segment.</a:t>
            </a:r>
          </a:p>
        </p:txBody>
      </p:sp>
      <p:sp>
        <p:nvSpPr>
          <p:cNvPr id="12" name="Rounded Rectangle 11"/>
          <p:cNvSpPr/>
          <p:nvPr/>
        </p:nvSpPr>
        <p:spPr>
          <a:xfrm>
            <a:off x="457200" y="2651760"/>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7200" y="2651760"/>
            <a:ext cx="54864" cy="10972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743200"/>
            <a:ext cx="5120640" cy="274320"/>
          </a:xfrm>
          <a:prstGeom prst="rect">
            <a:avLst/>
          </a:prstGeom>
          <a:noFill/>
        </p:spPr>
        <p:txBody>
          <a:bodyPr wrap="square">
            <a:spAutoFit/>
          </a:bodyPr>
          <a:lstStyle/>
          <a:p>
            <a:pPr algn="l">
              <a:defRPr sz="1200" b="1">
                <a:solidFill>
                  <a:srgbClr val="F59E0B"/>
                </a:solidFill>
                <a:latin typeface="Calibri"/>
              </a:defRPr>
            </a:pPr>
            <a:r>
              <a:t>😴 70% obosiți + 73% dorm prost</a:t>
            </a:r>
          </a:p>
        </p:txBody>
      </p:sp>
      <p:sp>
        <p:nvSpPr>
          <p:cNvPr id="15" name="TextBox 14"/>
          <p:cNvSpPr txBox="1"/>
          <p:nvPr/>
        </p:nvSpPr>
        <p:spPr>
          <a:xfrm>
            <a:off x="640080" y="3063240"/>
            <a:ext cx="5120640" cy="594360"/>
          </a:xfrm>
          <a:prstGeom prst="rect">
            <a:avLst/>
          </a:prstGeom>
          <a:noFill/>
        </p:spPr>
        <p:txBody>
          <a:bodyPr wrap="square">
            <a:spAutoFit/>
          </a:bodyPr>
          <a:lstStyle/>
          <a:p>
            <a:pPr algn="l">
              <a:defRPr sz="1100" b="0">
                <a:solidFill>
                  <a:srgbClr val="8B95B0"/>
                </a:solidFill>
                <a:latin typeface="Calibri"/>
              </a:defRPr>
            </a:pPr>
            <a:r>
              <a:t>Pain point-ul #1. Mesajele marketing pe energie și somn vor rezona cel mai bine.</a:t>
            </a:r>
          </a:p>
        </p:txBody>
      </p:sp>
      <p:sp>
        <p:nvSpPr>
          <p:cNvPr id="16" name="Rounded Rectangle 15"/>
          <p:cNvSpPr/>
          <p:nvPr/>
        </p:nvSpPr>
        <p:spPr>
          <a:xfrm>
            <a:off x="6217920" y="2651760"/>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17920" y="2651760"/>
            <a:ext cx="54864" cy="10972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743200"/>
            <a:ext cx="5120640" cy="274320"/>
          </a:xfrm>
          <a:prstGeom prst="rect">
            <a:avLst/>
          </a:prstGeom>
          <a:noFill/>
        </p:spPr>
        <p:txBody>
          <a:bodyPr wrap="square">
            <a:spAutoFit/>
          </a:bodyPr>
          <a:lstStyle/>
          <a:p>
            <a:pPr algn="l">
              <a:defRPr sz="1200" b="1">
                <a:solidFill>
                  <a:srgbClr val="EF4444"/>
                </a:solidFill>
                <a:latin typeface="Calibri"/>
              </a:defRPr>
            </a:pPr>
            <a:r>
              <a:t>🏃 71% nu fac sport</a:t>
            </a:r>
          </a:p>
        </p:txBody>
      </p:sp>
      <p:sp>
        <p:nvSpPr>
          <p:cNvPr id="19" name="TextBox 18"/>
          <p:cNvSpPr txBox="1"/>
          <p:nvPr/>
        </p:nvSpPr>
        <p:spPr>
          <a:xfrm>
            <a:off x="6400800" y="3063240"/>
            <a:ext cx="5120640" cy="594360"/>
          </a:xfrm>
          <a:prstGeom prst="rect">
            <a:avLst/>
          </a:prstGeom>
          <a:noFill/>
        </p:spPr>
        <p:txBody>
          <a:bodyPr wrap="square">
            <a:spAutoFit/>
          </a:bodyPr>
          <a:lstStyle/>
          <a:p>
            <a:pPr algn="l">
              <a:defRPr sz="1100" b="0">
                <a:solidFill>
                  <a:srgbClr val="8B95B0"/>
                </a:solidFill>
                <a:latin typeface="Calibri"/>
              </a:defRPr>
            </a:pPr>
            <a:r>
              <a:t>Oportunitate: pachet 'Start sănătos' — nu te antrenezi? Ia măcar vitaminele esențiale.</a:t>
            </a:r>
          </a:p>
        </p:txBody>
      </p:sp>
      <p:sp>
        <p:nvSpPr>
          <p:cNvPr id="20" name="Rounded Rectangle 19"/>
          <p:cNvSpPr/>
          <p:nvPr/>
        </p:nvSpPr>
        <p:spPr>
          <a:xfrm>
            <a:off x="457200" y="3931920"/>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7200" y="3931920"/>
            <a:ext cx="54864" cy="10972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023359"/>
            <a:ext cx="5120640" cy="274320"/>
          </a:xfrm>
          <a:prstGeom prst="rect">
            <a:avLst/>
          </a:prstGeom>
          <a:noFill/>
        </p:spPr>
        <p:txBody>
          <a:bodyPr wrap="square">
            <a:spAutoFit/>
          </a:bodyPr>
          <a:lstStyle/>
          <a:p>
            <a:pPr algn="l">
              <a:defRPr sz="1200" b="1">
                <a:solidFill>
                  <a:srgbClr val="14B8A6"/>
                </a:solidFill>
                <a:latin typeface="Calibri"/>
              </a:defRPr>
            </a:pPr>
            <a:r>
              <a:t>🐟 83% nu mănâncă pește</a:t>
            </a:r>
          </a:p>
        </p:txBody>
      </p:sp>
      <p:sp>
        <p:nvSpPr>
          <p:cNvPr id="23" name="TextBox 22"/>
          <p:cNvSpPr txBox="1"/>
          <p:nvPr/>
        </p:nvSpPr>
        <p:spPr>
          <a:xfrm>
            <a:off x="640080" y="4343400"/>
            <a:ext cx="5120640" cy="594360"/>
          </a:xfrm>
          <a:prstGeom prst="rect">
            <a:avLst/>
          </a:prstGeom>
          <a:noFill/>
        </p:spPr>
        <p:txBody>
          <a:bodyPr wrap="square">
            <a:spAutoFit/>
          </a:bodyPr>
          <a:lstStyle/>
          <a:p>
            <a:pPr algn="l">
              <a:defRPr sz="1100" b="0">
                <a:solidFill>
                  <a:srgbClr val="8B95B0"/>
                </a:solidFill>
                <a:latin typeface="Calibri"/>
              </a:defRPr>
            </a:pPr>
            <a:r>
              <a:t>Explică succesul Omega-3 (#4 supliment recomandat) — deficiența e reală.</a:t>
            </a:r>
          </a:p>
        </p:txBody>
      </p:sp>
      <p:sp>
        <p:nvSpPr>
          <p:cNvPr id="24" name="Rounded Rectangle 23"/>
          <p:cNvSpPr/>
          <p:nvPr/>
        </p:nvSpPr>
        <p:spPr>
          <a:xfrm>
            <a:off x="6217920" y="3931920"/>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17920" y="3931920"/>
            <a:ext cx="54864" cy="10972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4023359"/>
            <a:ext cx="5120640" cy="274320"/>
          </a:xfrm>
          <a:prstGeom prst="rect">
            <a:avLst/>
          </a:prstGeom>
          <a:noFill/>
        </p:spPr>
        <p:txBody>
          <a:bodyPr wrap="square">
            <a:spAutoFit/>
          </a:bodyPr>
          <a:lstStyle/>
          <a:p>
            <a:pPr algn="l">
              <a:defRPr sz="1200" b="1">
                <a:solidFill>
                  <a:srgbClr val="8B5CF6"/>
                </a:solidFill>
                <a:latin typeface="Calibri"/>
              </a:defRPr>
            </a:pPr>
            <a:r>
              <a:t>🍬 69% poftă de dulce</a:t>
            </a:r>
          </a:p>
        </p:txBody>
      </p:sp>
      <p:sp>
        <p:nvSpPr>
          <p:cNvPr id="27" name="TextBox 26"/>
          <p:cNvSpPr txBox="1"/>
          <p:nvPr/>
        </p:nvSpPr>
        <p:spPr>
          <a:xfrm>
            <a:off x="6400800" y="4343400"/>
            <a:ext cx="5120640" cy="594360"/>
          </a:xfrm>
          <a:prstGeom prst="rect">
            <a:avLst/>
          </a:prstGeom>
          <a:noFill/>
        </p:spPr>
        <p:txBody>
          <a:bodyPr wrap="square">
            <a:spAutoFit/>
          </a:bodyPr>
          <a:lstStyle/>
          <a:p>
            <a:pPr algn="l">
              <a:defRPr sz="1100" b="0">
                <a:solidFill>
                  <a:srgbClr val="8B95B0"/>
                </a:solidFill>
                <a:latin typeface="Calibri"/>
              </a:defRPr>
            </a:pPr>
            <a:r>
              <a:t>Gymnema (#2 supliment) — validare directă a nevoii. USP puternic în comunicare.</a:t>
            </a:r>
          </a:p>
        </p:txBody>
      </p:sp>
      <p:sp>
        <p:nvSpPr>
          <p:cNvPr id="28" name="Rounded Rectangle 27"/>
          <p:cNvSpPr/>
          <p:nvPr/>
        </p:nvSpPr>
        <p:spPr>
          <a:xfrm>
            <a:off x="457200" y="5212079"/>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57200" y="5212079"/>
            <a:ext cx="54864" cy="10972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303519"/>
            <a:ext cx="5120640" cy="274320"/>
          </a:xfrm>
          <a:prstGeom prst="rect">
            <a:avLst/>
          </a:prstGeom>
          <a:noFill/>
        </p:spPr>
        <p:txBody>
          <a:bodyPr wrap="square">
            <a:spAutoFit/>
          </a:bodyPr>
          <a:lstStyle/>
          <a:p>
            <a:pPr algn="l">
              <a:defRPr sz="1200" b="1">
                <a:solidFill>
                  <a:srgbClr val="6366F1"/>
                </a:solidFill>
                <a:latin typeface="Calibri"/>
              </a:defRPr>
            </a:pPr>
            <a:r>
              <a:t>📍 București = 26%</a:t>
            </a:r>
          </a:p>
        </p:txBody>
      </p:sp>
      <p:sp>
        <p:nvSpPr>
          <p:cNvPr id="31" name="TextBox 30"/>
          <p:cNvSpPr txBox="1"/>
          <p:nvPr/>
        </p:nvSpPr>
        <p:spPr>
          <a:xfrm>
            <a:off x="640080" y="5623559"/>
            <a:ext cx="5120640" cy="594360"/>
          </a:xfrm>
          <a:prstGeom prst="rect">
            <a:avLst/>
          </a:prstGeom>
          <a:noFill/>
        </p:spPr>
        <p:txBody>
          <a:bodyPr wrap="square">
            <a:spAutoFit/>
          </a:bodyPr>
          <a:lstStyle/>
          <a:p>
            <a:pPr algn="l">
              <a:defRPr sz="1100" b="0">
                <a:solidFill>
                  <a:srgbClr val="8B95B0"/>
                </a:solidFill>
                <a:latin typeface="Calibri"/>
              </a:defRPr>
            </a:pPr>
            <a:r>
              <a:t>Piață concentrată urban. Top 5 județe = 51% din clienți.</a:t>
            </a:r>
          </a:p>
        </p:txBody>
      </p:sp>
      <p:sp>
        <p:nvSpPr>
          <p:cNvPr id="32" name="Rounded Rectangle 31"/>
          <p:cNvSpPr/>
          <p:nvPr/>
        </p:nvSpPr>
        <p:spPr>
          <a:xfrm>
            <a:off x="6217920" y="5212079"/>
            <a:ext cx="5486400" cy="10972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217920" y="5212079"/>
            <a:ext cx="54864" cy="10972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5303519"/>
            <a:ext cx="5120640" cy="274320"/>
          </a:xfrm>
          <a:prstGeom prst="rect">
            <a:avLst/>
          </a:prstGeom>
          <a:noFill/>
        </p:spPr>
        <p:txBody>
          <a:bodyPr wrap="square">
            <a:spAutoFit/>
          </a:bodyPr>
          <a:lstStyle/>
          <a:p>
            <a:pPr algn="l">
              <a:defRPr sz="1200" b="1">
                <a:solidFill>
                  <a:srgbClr val="10B981"/>
                </a:solidFill>
                <a:latin typeface="Calibri"/>
              </a:defRPr>
            </a:pPr>
            <a:r>
              <a:t>🔄 Conversie quiz = 5.1%</a:t>
            </a:r>
          </a:p>
        </p:txBody>
      </p:sp>
      <p:sp>
        <p:nvSpPr>
          <p:cNvPr id="35" name="TextBox 34"/>
          <p:cNvSpPr txBox="1"/>
          <p:nvPr/>
        </p:nvSpPr>
        <p:spPr>
          <a:xfrm>
            <a:off x="6400800" y="5623559"/>
            <a:ext cx="5120640" cy="594360"/>
          </a:xfrm>
          <a:prstGeom prst="rect">
            <a:avLst/>
          </a:prstGeom>
          <a:noFill/>
        </p:spPr>
        <p:txBody>
          <a:bodyPr wrap="square">
            <a:spAutoFit/>
          </a:bodyPr>
          <a:lstStyle/>
          <a:p>
            <a:pPr algn="l">
              <a:defRPr sz="1100" b="0">
                <a:solidFill>
                  <a:srgbClr val="8B95B0"/>
                </a:solidFill>
                <a:latin typeface="Calibri"/>
              </a:defRPr>
            </a:pPr>
            <a:r>
              <a:t>Din 26.7K quiz-uri completate, doar 852 au comandat. Oportunitate masivă de follow-up.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Oval 1"/>
          <p:cNvSpPr/>
          <p:nvPr/>
        </p:nvSpPr>
        <p:spPr>
          <a:xfrm>
            <a:off x="8229600" y="457200"/>
            <a:ext cx="5029200" cy="5029200"/>
          </a:xfrm>
          <a:prstGeom prst="ellipse">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9144000" cy="365760"/>
          </a:xfrm>
          <a:prstGeom prst="rect">
            <a:avLst/>
          </a:prstGeom>
          <a:noFill/>
        </p:spPr>
        <p:txBody>
          <a:bodyPr wrap="square">
            <a:spAutoFit/>
          </a:bodyPr>
          <a:lstStyle/>
          <a:p>
            <a:pPr algn="l">
              <a:defRPr sz="1100" b="1">
                <a:solidFill>
                  <a:srgbClr val="14B8A6"/>
                </a:solidFill>
                <a:latin typeface="Calibri"/>
              </a:defRPr>
            </a:pPr>
            <a:r>
              <a:t>ANALIZA TRAFIC · GOOGLE ANALYTICS 4</a:t>
            </a:r>
          </a:p>
        </p:txBody>
      </p:sp>
      <p:sp>
        <p:nvSpPr>
          <p:cNvPr id="4" name="TextBox 3"/>
          <p:cNvSpPr txBox="1"/>
          <p:nvPr/>
        </p:nvSpPr>
        <p:spPr>
          <a:xfrm>
            <a:off x="914400" y="1371600"/>
            <a:ext cx="9144000" cy="822960"/>
          </a:xfrm>
          <a:prstGeom prst="rect">
            <a:avLst/>
          </a:prstGeom>
          <a:noFill/>
        </p:spPr>
        <p:txBody>
          <a:bodyPr wrap="square">
            <a:spAutoFit/>
          </a:bodyPr>
          <a:lstStyle/>
          <a:p>
            <a:pPr algn="l">
              <a:defRPr sz="4200" b="1">
                <a:solidFill>
                  <a:srgbClr val="F0F2F8"/>
                </a:solidFill>
                <a:latin typeface="Calibri"/>
              </a:defRPr>
            </a:pPr>
            <a:r>
              <a:t>Profilul Clientului din GA4</a:t>
            </a:r>
          </a:p>
        </p:txBody>
      </p:sp>
      <p:sp>
        <p:nvSpPr>
          <p:cNvPr id="5" name="TextBox 4"/>
          <p:cNvSpPr txBox="1"/>
          <p:nvPr/>
        </p:nvSpPr>
        <p:spPr>
          <a:xfrm>
            <a:off x="914400" y="2377440"/>
            <a:ext cx="7315200" cy="457200"/>
          </a:xfrm>
          <a:prstGeom prst="rect">
            <a:avLst/>
          </a:prstGeom>
          <a:noFill/>
        </p:spPr>
        <p:txBody>
          <a:bodyPr wrap="square">
            <a:spAutoFit/>
          </a:bodyPr>
          <a:lstStyle/>
          <a:p>
            <a:pPr algn="l">
              <a:defRPr sz="1600" b="0">
                <a:solidFill>
                  <a:srgbClr val="8B95B0"/>
                </a:solidFill>
                <a:latin typeface="Calibri"/>
              </a:defRPr>
            </a:pPr>
            <a:r>
              <a:t>Sesiuni, surse de trafic și landing pages — 2025-2026</a:t>
            </a:r>
          </a:p>
        </p:txBody>
      </p:sp>
      <p:sp>
        <p:nvSpPr>
          <p:cNvPr id="6" name="Rounded Rectangle 5"/>
          <p:cNvSpPr/>
          <p:nvPr/>
        </p:nvSpPr>
        <p:spPr>
          <a:xfrm>
            <a:off x="731520" y="3291840"/>
            <a:ext cx="10698480" cy="2560320"/>
          </a:xfrm>
          <a:prstGeom prst="roundRect">
            <a:avLst/>
          </a:prstGeom>
          <a:solidFill>
            <a:srgbClr val="1A15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3291840"/>
            <a:ext cx="73152" cy="25603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3429000"/>
            <a:ext cx="9144000" cy="320040"/>
          </a:xfrm>
          <a:prstGeom prst="rect">
            <a:avLst/>
          </a:prstGeom>
          <a:noFill/>
        </p:spPr>
        <p:txBody>
          <a:bodyPr wrap="square">
            <a:spAutoFit/>
          </a:bodyPr>
          <a:lstStyle/>
          <a:p>
            <a:pPr algn="l">
              <a:defRPr sz="1400" b="1">
                <a:solidFill>
                  <a:srgbClr val="F59E0B"/>
                </a:solidFill>
                <a:latin typeface="Calibri"/>
              </a:defRPr>
            </a:pPr>
            <a:r>
              <a:t>⚠️  IMPORTANT: CE MĂSOARĂ GA4 vs. REALITATE</a:t>
            </a:r>
          </a:p>
        </p:txBody>
      </p:sp>
      <p:sp>
        <p:nvSpPr>
          <p:cNvPr id="9" name="TextBox 8"/>
          <p:cNvSpPr txBox="1"/>
          <p:nvPr/>
        </p:nvSpPr>
        <p:spPr>
          <a:xfrm>
            <a:off x="1097280" y="3886200"/>
            <a:ext cx="3200400" cy="228600"/>
          </a:xfrm>
          <a:prstGeom prst="rect">
            <a:avLst/>
          </a:prstGeom>
          <a:noFill/>
        </p:spPr>
        <p:txBody>
          <a:bodyPr wrap="square">
            <a:spAutoFit/>
          </a:bodyPr>
          <a:lstStyle/>
          <a:p>
            <a:pPr algn="l">
              <a:defRPr sz="1100" b="1">
                <a:solidFill>
                  <a:srgbClr val="F0F2F8"/>
                </a:solidFill>
                <a:latin typeface="Calibri"/>
              </a:defRPr>
            </a:pPr>
            <a:r>
              <a:t>▸ GA4 = doar vizitatorii care ACCEPTĂ cookies</a:t>
            </a:r>
          </a:p>
        </p:txBody>
      </p:sp>
      <p:sp>
        <p:nvSpPr>
          <p:cNvPr id="10" name="TextBox 9"/>
          <p:cNvSpPr txBox="1"/>
          <p:nvPr/>
        </p:nvSpPr>
        <p:spPr>
          <a:xfrm>
            <a:off x="4389120" y="3886200"/>
            <a:ext cx="6858000" cy="228600"/>
          </a:xfrm>
          <a:prstGeom prst="rect">
            <a:avLst/>
          </a:prstGeom>
          <a:noFill/>
        </p:spPr>
        <p:txBody>
          <a:bodyPr wrap="square">
            <a:spAutoFit/>
          </a:bodyPr>
          <a:lstStyle/>
          <a:p>
            <a:pPr algn="l">
              <a:defRPr sz="1100" b="0">
                <a:solidFill>
                  <a:srgbClr val="8B95B0"/>
                </a:solidFill>
                <a:latin typeface="Calibri"/>
              </a:defRPr>
            </a:pPr>
            <a:r>
              <a:t>Mulți utilizatori refuză cookie-urile → GA4 subcontorizează traficul real cu 30-50%.</a:t>
            </a:r>
          </a:p>
        </p:txBody>
      </p:sp>
      <p:sp>
        <p:nvSpPr>
          <p:cNvPr id="11" name="TextBox 10"/>
          <p:cNvSpPr txBox="1"/>
          <p:nvPr/>
        </p:nvSpPr>
        <p:spPr>
          <a:xfrm>
            <a:off x="1097280" y="4389120"/>
            <a:ext cx="3200400" cy="228600"/>
          </a:xfrm>
          <a:prstGeom prst="rect">
            <a:avLst/>
          </a:prstGeom>
          <a:noFill/>
        </p:spPr>
        <p:txBody>
          <a:bodyPr wrap="square">
            <a:spAutoFit/>
          </a:bodyPr>
          <a:lstStyle/>
          <a:p>
            <a:pPr algn="l">
              <a:defRPr sz="1100" b="1">
                <a:solidFill>
                  <a:srgbClr val="F0F2F8"/>
                </a:solidFill>
                <a:latin typeface="Calibri"/>
              </a:defRPr>
            </a:pPr>
            <a:r>
              <a:t>▸ Shopify raportează TOȚI vizitatorii</a:t>
            </a:r>
          </a:p>
        </p:txBody>
      </p:sp>
      <p:sp>
        <p:nvSpPr>
          <p:cNvPr id="12" name="TextBox 11"/>
          <p:cNvSpPr txBox="1"/>
          <p:nvPr/>
        </p:nvSpPr>
        <p:spPr>
          <a:xfrm>
            <a:off x="4389120" y="4389120"/>
            <a:ext cx="6858000" cy="228600"/>
          </a:xfrm>
          <a:prstGeom prst="rect">
            <a:avLst/>
          </a:prstGeom>
          <a:noFill/>
        </p:spPr>
        <p:txBody>
          <a:bodyPr wrap="square">
            <a:spAutoFit/>
          </a:bodyPr>
          <a:lstStyle/>
          <a:p>
            <a:pPr algn="l">
              <a:defRPr sz="1100" b="0">
                <a:solidFill>
                  <a:srgbClr val="8B95B0"/>
                </a:solidFill>
                <a:latin typeface="Calibri"/>
              </a:defRPr>
            </a:pPr>
            <a:r>
              <a:t>Nu depinde de consimțământ — contorizează orice browser care accesează site-ul.</a:t>
            </a:r>
          </a:p>
        </p:txBody>
      </p:sp>
      <p:sp>
        <p:nvSpPr>
          <p:cNvPr id="13" name="TextBox 12"/>
          <p:cNvSpPr txBox="1"/>
          <p:nvPr/>
        </p:nvSpPr>
        <p:spPr>
          <a:xfrm>
            <a:off x="1097280" y="4892040"/>
            <a:ext cx="3200400" cy="228600"/>
          </a:xfrm>
          <a:prstGeom prst="rect">
            <a:avLst/>
          </a:prstGeom>
          <a:noFill/>
        </p:spPr>
        <p:txBody>
          <a:bodyPr wrap="square">
            <a:spAutoFit/>
          </a:bodyPr>
          <a:lstStyle/>
          <a:p>
            <a:pPr algn="l">
              <a:defRPr sz="1100" b="1">
                <a:solidFill>
                  <a:srgbClr val="F0F2F8"/>
                </a:solidFill>
                <a:latin typeface="Calibri"/>
              </a:defRPr>
            </a:pPr>
            <a:r>
              <a:t>▸ Exemplu: Ianuarie 2025</a:t>
            </a:r>
          </a:p>
        </p:txBody>
      </p:sp>
      <p:sp>
        <p:nvSpPr>
          <p:cNvPr id="14" name="TextBox 13"/>
          <p:cNvSpPr txBox="1"/>
          <p:nvPr/>
        </p:nvSpPr>
        <p:spPr>
          <a:xfrm>
            <a:off x="4389120" y="4892040"/>
            <a:ext cx="6858000" cy="228600"/>
          </a:xfrm>
          <a:prstGeom prst="rect">
            <a:avLst/>
          </a:prstGeom>
          <a:noFill/>
        </p:spPr>
        <p:txBody>
          <a:bodyPr wrap="square">
            <a:spAutoFit/>
          </a:bodyPr>
          <a:lstStyle/>
          <a:p>
            <a:pPr algn="l">
              <a:defRPr sz="1100" b="0">
                <a:solidFill>
                  <a:srgbClr val="8B95B0"/>
                </a:solidFill>
                <a:latin typeface="Calibri"/>
              </a:defRPr>
            </a:pPr>
            <a:r>
              <a:t>Shopify: 72,546 sesiuni vs GA4: ~29,000 sesiuni → GA4 vede doar ~40% din trafic.</a:t>
            </a:r>
          </a:p>
        </p:txBody>
      </p:sp>
      <p:sp>
        <p:nvSpPr>
          <p:cNvPr id="15" name="TextBox 14"/>
          <p:cNvSpPr txBox="1"/>
          <p:nvPr/>
        </p:nvSpPr>
        <p:spPr>
          <a:xfrm>
            <a:off x="1097280" y="5394960"/>
            <a:ext cx="3200400" cy="228600"/>
          </a:xfrm>
          <a:prstGeom prst="rect">
            <a:avLst/>
          </a:prstGeom>
          <a:noFill/>
        </p:spPr>
        <p:txBody>
          <a:bodyPr wrap="square">
            <a:spAutoFit/>
          </a:bodyPr>
          <a:lstStyle/>
          <a:p>
            <a:pPr algn="l">
              <a:defRPr sz="1100" b="1">
                <a:solidFill>
                  <a:srgbClr val="F0F2F8"/>
                </a:solidFill>
                <a:latin typeface="Calibri"/>
              </a:defRPr>
            </a:pPr>
            <a:r>
              <a:t>▸ Concluzie</a:t>
            </a:r>
          </a:p>
        </p:txBody>
      </p:sp>
      <p:sp>
        <p:nvSpPr>
          <p:cNvPr id="16" name="TextBox 15"/>
          <p:cNvSpPr txBox="1"/>
          <p:nvPr/>
        </p:nvSpPr>
        <p:spPr>
          <a:xfrm>
            <a:off x="4389120" y="5394960"/>
            <a:ext cx="6858000" cy="228600"/>
          </a:xfrm>
          <a:prstGeom prst="rect">
            <a:avLst/>
          </a:prstGeom>
          <a:noFill/>
        </p:spPr>
        <p:txBody>
          <a:bodyPr wrap="square">
            <a:spAutoFit/>
          </a:bodyPr>
          <a:lstStyle/>
          <a:p>
            <a:pPr algn="l">
              <a:defRPr sz="1100" b="0">
                <a:solidFill>
                  <a:srgbClr val="8B95B0"/>
                </a:solidFill>
                <a:latin typeface="Calibri"/>
              </a:defRPr>
            </a:pPr>
            <a:r>
              <a:t>GA4 e fiabil pentru proporții (de unde vine traficul %) — NU pentru volume absolute.</a:t>
            </a:r>
          </a:p>
        </p:txBody>
      </p:sp>
      <p:sp>
        <p:nvSpPr>
          <p:cNvPr id="17" name="TextBox 16"/>
          <p:cNvSpPr txBox="1"/>
          <p:nvPr/>
        </p:nvSpPr>
        <p:spPr>
          <a:xfrm>
            <a:off x="914400" y="6035040"/>
            <a:ext cx="7315200" cy="274320"/>
          </a:xfrm>
          <a:prstGeom prst="rect">
            <a:avLst/>
          </a:prstGeom>
          <a:noFill/>
        </p:spPr>
        <p:txBody>
          <a:bodyPr wrap="square">
            <a:spAutoFit/>
          </a:bodyPr>
          <a:lstStyle/>
          <a:p>
            <a:pPr algn="l">
              <a:defRPr sz="1000" b="0">
                <a:solidFill>
                  <a:srgbClr val="5A6380"/>
                </a:solidFill>
                <a:latin typeface="Calibri"/>
              </a:defRPr>
            </a:pPr>
            <a:r>
              <a:t>Sursa: GA4 (ga4_monthly_traffic_2026.json) + Shopify Analytics CSV export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vs SHOPIFY — COMPARAȚIE SESIUNI</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Câți vizitatori vede fiecare sistem?</a:t>
            </a:r>
          </a:p>
        </p:txBody>
      </p:sp>
      <p:sp>
        <p:nvSpPr>
          <p:cNvPr id="4" name="Rounded Rectangle 3"/>
          <p:cNvSpPr/>
          <p:nvPr/>
        </p:nvSpPr>
        <p:spPr>
          <a:xfrm>
            <a:off x="457200" y="1371600"/>
            <a:ext cx="11247120" cy="3657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389888"/>
            <a:ext cx="1188720" cy="320040"/>
          </a:xfrm>
          <a:prstGeom prst="rect">
            <a:avLst/>
          </a:prstGeom>
          <a:noFill/>
        </p:spPr>
        <p:txBody>
          <a:bodyPr wrap="square">
            <a:spAutoFit/>
          </a:bodyPr>
          <a:lstStyle/>
          <a:p>
            <a:pPr algn="l">
              <a:defRPr sz="900" b="1">
                <a:solidFill>
                  <a:srgbClr val="F0F2F8"/>
                </a:solidFill>
                <a:latin typeface="Calibri"/>
              </a:defRPr>
            </a:pPr>
            <a:r>
              <a:t>LUNĂ</a:t>
            </a:r>
          </a:p>
        </p:txBody>
      </p:sp>
      <p:sp>
        <p:nvSpPr>
          <p:cNvPr id="6" name="TextBox 5"/>
          <p:cNvSpPr txBox="1"/>
          <p:nvPr/>
        </p:nvSpPr>
        <p:spPr>
          <a:xfrm>
            <a:off x="1828800" y="1389888"/>
            <a:ext cx="1188720" cy="320040"/>
          </a:xfrm>
          <a:prstGeom prst="rect">
            <a:avLst/>
          </a:prstGeom>
          <a:noFill/>
        </p:spPr>
        <p:txBody>
          <a:bodyPr wrap="square">
            <a:spAutoFit/>
          </a:bodyPr>
          <a:lstStyle/>
          <a:p>
            <a:pPr algn="r">
              <a:defRPr sz="900" b="1">
                <a:solidFill>
                  <a:srgbClr val="F0F2F8"/>
                </a:solidFill>
                <a:latin typeface="Calibri"/>
              </a:defRPr>
            </a:pPr>
            <a:r>
              <a:t>SHOPIFY SES.</a:t>
            </a:r>
          </a:p>
        </p:txBody>
      </p:sp>
      <p:sp>
        <p:nvSpPr>
          <p:cNvPr id="7" name="TextBox 6"/>
          <p:cNvSpPr txBox="1"/>
          <p:nvPr/>
        </p:nvSpPr>
        <p:spPr>
          <a:xfrm>
            <a:off x="3200400" y="1389888"/>
            <a:ext cx="1188720" cy="320040"/>
          </a:xfrm>
          <a:prstGeom prst="rect">
            <a:avLst/>
          </a:prstGeom>
          <a:noFill/>
        </p:spPr>
        <p:txBody>
          <a:bodyPr wrap="square">
            <a:spAutoFit/>
          </a:bodyPr>
          <a:lstStyle/>
          <a:p>
            <a:pPr algn="r">
              <a:defRPr sz="900" b="1">
                <a:solidFill>
                  <a:srgbClr val="F0F2F8"/>
                </a:solidFill>
                <a:latin typeface="Calibri"/>
              </a:defRPr>
            </a:pPr>
            <a:r>
              <a:t>SHOPIFY VIZ.</a:t>
            </a:r>
          </a:p>
        </p:txBody>
      </p:sp>
      <p:sp>
        <p:nvSpPr>
          <p:cNvPr id="8" name="TextBox 7"/>
          <p:cNvSpPr txBox="1"/>
          <p:nvPr/>
        </p:nvSpPr>
        <p:spPr>
          <a:xfrm>
            <a:off x="4572000" y="1389888"/>
            <a:ext cx="1188720" cy="320040"/>
          </a:xfrm>
          <a:prstGeom prst="rect">
            <a:avLst/>
          </a:prstGeom>
          <a:noFill/>
        </p:spPr>
        <p:txBody>
          <a:bodyPr wrap="square">
            <a:spAutoFit/>
          </a:bodyPr>
          <a:lstStyle/>
          <a:p>
            <a:pPr algn="r">
              <a:defRPr sz="900" b="1">
                <a:solidFill>
                  <a:srgbClr val="F0F2F8"/>
                </a:solidFill>
                <a:latin typeface="Calibri"/>
              </a:defRPr>
            </a:pPr>
            <a:r>
              <a:t>GA4 SES.</a:t>
            </a:r>
          </a:p>
        </p:txBody>
      </p:sp>
      <p:sp>
        <p:nvSpPr>
          <p:cNvPr id="9" name="TextBox 8"/>
          <p:cNvSpPr txBox="1"/>
          <p:nvPr/>
        </p:nvSpPr>
        <p:spPr>
          <a:xfrm>
            <a:off x="5943600" y="1389888"/>
            <a:ext cx="914400" cy="320040"/>
          </a:xfrm>
          <a:prstGeom prst="rect">
            <a:avLst/>
          </a:prstGeom>
          <a:noFill/>
        </p:spPr>
        <p:txBody>
          <a:bodyPr wrap="square">
            <a:spAutoFit/>
          </a:bodyPr>
          <a:lstStyle/>
          <a:p>
            <a:pPr algn="r">
              <a:defRPr sz="900" b="1">
                <a:solidFill>
                  <a:srgbClr val="F0F2F8"/>
                </a:solidFill>
                <a:latin typeface="Calibri"/>
              </a:defRPr>
            </a:pPr>
            <a:r>
              <a:t>GA4/SHOP</a:t>
            </a:r>
          </a:p>
        </p:txBody>
      </p:sp>
      <p:sp>
        <p:nvSpPr>
          <p:cNvPr id="10" name="TextBox 9"/>
          <p:cNvSpPr txBox="1"/>
          <p:nvPr/>
        </p:nvSpPr>
        <p:spPr>
          <a:xfrm>
            <a:off x="7132320" y="1389888"/>
            <a:ext cx="4572000" cy="320040"/>
          </a:xfrm>
          <a:prstGeom prst="rect">
            <a:avLst/>
          </a:prstGeom>
          <a:noFill/>
        </p:spPr>
        <p:txBody>
          <a:bodyPr wrap="square">
            <a:spAutoFit/>
          </a:bodyPr>
          <a:lstStyle/>
          <a:p>
            <a:pPr algn="l">
              <a:defRPr sz="900" b="1">
                <a:solidFill>
                  <a:srgbClr val="F0F2F8"/>
                </a:solidFill>
                <a:latin typeface="Calibri"/>
              </a:defRPr>
            </a:pPr>
            <a:r>
              <a:t>COMPARAȚIE VIZUALĂ</a:t>
            </a:r>
          </a:p>
        </p:txBody>
      </p:sp>
      <p:sp>
        <p:nvSpPr>
          <p:cNvPr id="11" name="Rounded Rectangle 10"/>
          <p:cNvSpPr/>
          <p:nvPr/>
        </p:nvSpPr>
        <p:spPr>
          <a:xfrm>
            <a:off x="457200" y="1783080"/>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92224"/>
            <a:ext cx="1188720" cy="228600"/>
          </a:xfrm>
          <a:prstGeom prst="rect">
            <a:avLst/>
          </a:prstGeom>
          <a:noFill/>
        </p:spPr>
        <p:txBody>
          <a:bodyPr wrap="square">
            <a:spAutoFit/>
          </a:bodyPr>
          <a:lstStyle/>
          <a:p>
            <a:pPr algn="l">
              <a:defRPr sz="900" b="1">
                <a:solidFill>
                  <a:srgbClr val="F0F2F8"/>
                </a:solidFill>
                <a:latin typeface="Calibri"/>
              </a:defRPr>
            </a:pPr>
            <a:r>
              <a:t>Ian 2025</a:t>
            </a:r>
          </a:p>
        </p:txBody>
      </p:sp>
      <p:sp>
        <p:nvSpPr>
          <p:cNvPr id="13" name="TextBox 12"/>
          <p:cNvSpPr txBox="1"/>
          <p:nvPr/>
        </p:nvSpPr>
        <p:spPr>
          <a:xfrm>
            <a:off x="1828800" y="1792224"/>
            <a:ext cx="1188720" cy="228600"/>
          </a:xfrm>
          <a:prstGeom prst="rect">
            <a:avLst/>
          </a:prstGeom>
          <a:noFill/>
        </p:spPr>
        <p:txBody>
          <a:bodyPr wrap="square">
            <a:spAutoFit/>
          </a:bodyPr>
          <a:lstStyle/>
          <a:p>
            <a:pPr algn="r">
              <a:defRPr sz="900" b="0">
                <a:solidFill>
                  <a:srgbClr val="6366F1"/>
                </a:solidFill>
                <a:latin typeface="Calibri"/>
              </a:defRPr>
            </a:pPr>
            <a:r>
              <a:t>72,546</a:t>
            </a:r>
          </a:p>
        </p:txBody>
      </p:sp>
      <p:sp>
        <p:nvSpPr>
          <p:cNvPr id="14" name="TextBox 13"/>
          <p:cNvSpPr txBox="1"/>
          <p:nvPr/>
        </p:nvSpPr>
        <p:spPr>
          <a:xfrm>
            <a:off x="3200400" y="1792224"/>
            <a:ext cx="1188720" cy="228600"/>
          </a:xfrm>
          <a:prstGeom prst="rect">
            <a:avLst/>
          </a:prstGeom>
          <a:noFill/>
        </p:spPr>
        <p:txBody>
          <a:bodyPr wrap="square">
            <a:spAutoFit/>
          </a:bodyPr>
          <a:lstStyle/>
          <a:p>
            <a:pPr algn="r">
              <a:defRPr sz="900" b="0">
                <a:solidFill>
                  <a:srgbClr val="F0F2F8"/>
                </a:solidFill>
                <a:latin typeface="Calibri"/>
              </a:defRPr>
            </a:pPr>
            <a:r>
              <a:t>58,488</a:t>
            </a:r>
          </a:p>
        </p:txBody>
      </p:sp>
      <p:sp>
        <p:nvSpPr>
          <p:cNvPr id="15" name="TextBox 14"/>
          <p:cNvSpPr txBox="1"/>
          <p:nvPr/>
        </p:nvSpPr>
        <p:spPr>
          <a:xfrm>
            <a:off x="4572000" y="1792224"/>
            <a:ext cx="1188720" cy="228600"/>
          </a:xfrm>
          <a:prstGeom prst="rect">
            <a:avLst/>
          </a:prstGeom>
          <a:noFill/>
        </p:spPr>
        <p:txBody>
          <a:bodyPr wrap="square">
            <a:spAutoFit/>
          </a:bodyPr>
          <a:lstStyle/>
          <a:p>
            <a:pPr algn="r">
              <a:defRPr sz="900" b="0">
                <a:solidFill>
                  <a:srgbClr val="10B981"/>
                </a:solidFill>
                <a:latin typeface="Calibri"/>
              </a:defRPr>
            </a:pPr>
            <a:r>
              <a:t>~29,000</a:t>
            </a:r>
          </a:p>
        </p:txBody>
      </p:sp>
      <p:sp>
        <p:nvSpPr>
          <p:cNvPr id="16" name="TextBox 15"/>
          <p:cNvSpPr txBox="1"/>
          <p:nvPr/>
        </p:nvSpPr>
        <p:spPr>
          <a:xfrm>
            <a:off x="5943600" y="1792224"/>
            <a:ext cx="914400" cy="228600"/>
          </a:xfrm>
          <a:prstGeom prst="rect">
            <a:avLst/>
          </a:prstGeom>
          <a:noFill/>
        </p:spPr>
        <p:txBody>
          <a:bodyPr wrap="square">
            <a:spAutoFit/>
          </a:bodyPr>
          <a:lstStyle/>
          <a:p>
            <a:pPr algn="r">
              <a:defRPr sz="900" b="1">
                <a:solidFill>
                  <a:srgbClr val="EF4444"/>
                </a:solidFill>
                <a:latin typeface="Calibri"/>
              </a:defRPr>
            </a:pPr>
            <a:r>
              <a:t>~40%</a:t>
            </a:r>
          </a:p>
        </p:txBody>
      </p:sp>
      <p:sp>
        <p:nvSpPr>
          <p:cNvPr id="17" name="Rounded Rectangle 16"/>
          <p:cNvSpPr/>
          <p:nvPr/>
        </p:nvSpPr>
        <p:spPr>
          <a:xfrm>
            <a:off x="7223760" y="1810512"/>
            <a:ext cx="4347945"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223760" y="1920240"/>
            <a:ext cx="1738075"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7200" y="2075688"/>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2084831"/>
            <a:ext cx="1188720" cy="228600"/>
          </a:xfrm>
          <a:prstGeom prst="rect">
            <a:avLst/>
          </a:prstGeom>
          <a:noFill/>
        </p:spPr>
        <p:txBody>
          <a:bodyPr wrap="square">
            <a:spAutoFit/>
          </a:bodyPr>
          <a:lstStyle/>
          <a:p>
            <a:pPr algn="l">
              <a:defRPr sz="900" b="1">
                <a:solidFill>
                  <a:srgbClr val="F0F2F8"/>
                </a:solidFill>
                <a:latin typeface="Calibri"/>
              </a:defRPr>
            </a:pPr>
            <a:r>
              <a:t>Feb 2025</a:t>
            </a:r>
          </a:p>
        </p:txBody>
      </p:sp>
      <p:sp>
        <p:nvSpPr>
          <p:cNvPr id="21" name="TextBox 20"/>
          <p:cNvSpPr txBox="1"/>
          <p:nvPr/>
        </p:nvSpPr>
        <p:spPr>
          <a:xfrm>
            <a:off x="1828800" y="2084831"/>
            <a:ext cx="1188720" cy="228600"/>
          </a:xfrm>
          <a:prstGeom prst="rect">
            <a:avLst/>
          </a:prstGeom>
          <a:noFill/>
        </p:spPr>
        <p:txBody>
          <a:bodyPr wrap="square">
            <a:spAutoFit/>
          </a:bodyPr>
          <a:lstStyle/>
          <a:p>
            <a:pPr algn="r">
              <a:defRPr sz="900" b="0">
                <a:solidFill>
                  <a:srgbClr val="6366F1"/>
                </a:solidFill>
                <a:latin typeface="Calibri"/>
              </a:defRPr>
            </a:pPr>
            <a:r>
              <a:t>73,233</a:t>
            </a:r>
          </a:p>
        </p:txBody>
      </p:sp>
      <p:sp>
        <p:nvSpPr>
          <p:cNvPr id="22" name="TextBox 21"/>
          <p:cNvSpPr txBox="1"/>
          <p:nvPr/>
        </p:nvSpPr>
        <p:spPr>
          <a:xfrm>
            <a:off x="3200400" y="2084831"/>
            <a:ext cx="1188720" cy="228600"/>
          </a:xfrm>
          <a:prstGeom prst="rect">
            <a:avLst/>
          </a:prstGeom>
          <a:noFill/>
        </p:spPr>
        <p:txBody>
          <a:bodyPr wrap="square">
            <a:spAutoFit/>
          </a:bodyPr>
          <a:lstStyle/>
          <a:p>
            <a:pPr algn="r">
              <a:defRPr sz="900" b="0">
                <a:solidFill>
                  <a:srgbClr val="F0F2F8"/>
                </a:solidFill>
                <a:latin typeface="Calibri"/>
              </a:defRPr>
            </a:pPr>
            <a:r>
              <a:t>57,954</a:t>
            </a:r>
          </a:p>
        </p:txBody>
      </p:sp>
      <p:sp>
        <p:nvSpPr>
          <p:cNvPr id="23" name="TextBox 22"/>
          <p:cNvSpPr txBox="1"/>
          <p:nvPr/>
        </p:nvSpPr>
        <p:spPr>
          <a:xfrm>
            <a:off x="4572000" y="2084831"/>
            <a:ext cx="1188720" cy="228600"/>
          </a:xfrm>
          <a:prstGeom prst="rect">
            <a:avLst/>
          </a:prstGeom>
          <a:noFill/>
        </p:spPr>
        <p:txBody>
          <a:bodyPr wrap="square">
            <a:spAutoFit/>
          </a:bodyPr>
          <a:lstStyle/>
          <a:p>
            <a:pPr algn="r">
              <a:defRPr sz="900" b="0">
                <a:solidFill>
                  <a:srgbClr val="10B981"/>
                </a:solidFill>
                <a:latin typeface="Calibri"/>
              </a:defRPr>
            </a:pPr>
            <a:r>
              <a:t>~28,000</a:t>
            </a:r>
          </a:p>
        </p:txBody>
      </p:sp>
      <p:sp>
        <p:nvSpPr>
          <p:cNvPr id="24" name="TextBox 23"/>
          <p:cNvSpPr txBox="1"/>
          <p:nvPr/>
        </p:nvSpPr>
        <p:spPr>
          <a:xfrm>
            <a:off x="5943600" y="2084831"/>
            <a:ext cx="914400" cy="228600"/>
          </a:xfrm>
          <a:prstGeom prst="rect">
            <a:avLst/>
          </a:prstGeom>
          <a:noFill/>
        </p:spPr>
        <p:txBody>
          <a:bodyPr wrap="square">
            <a:spAutoFit/>
          </a:bodyPr>
          <a:lstStyle/>
          <a:p>
            <a:pPr algn="r">
              <a:defRPr sz="900" b="1">
                <a:solidFill>
                  <a:srgbClr val="EF4444"/>
                </a:solidFill>
                <a:latin typeface="Calibri"/>
              </a:defRPr>
            </a:pPr>
            <a:r>
              <a:t>~38%</a:t>
            </a:r>
          </a:p>
        </p:txBody>
      </p:sp>
      <p:sp>
        <p:nvSpPr>
          <p:cNvPr id="25" name="Rounded Rectangle 24"/>
          <p:cNvSpPr/>
          <p:nvPr/>
        </p:nvSpPr>
        <p:spPr>
          <a:xfrm>
            <a:off x="7223760" y="2103120"/>
            <a:ext cx="4389120"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223760" y="2212848"/>
            <a:ext cx="1678141"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57200" y="2368296"/>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2377439"/>
            <a:ext cx="1188720" cy="228600"/>
          </a:xfrm>
          <a:prstGeom prst="rect">
            <a:avLst/>
          </a:prstGeom>
          <a:noFill/>
        </p:spPr>
        <p:txBody>
          <a:bodyPr wrap="square">
            <a:spAutoFit/>
          </a:bodyPr>
          <a:lstStyle/>
          <a:p>
            <a:pPr algn="l">
              <a:defRPr sz="900" b="1">
                <a:solidFill>
                  <a:srgbClr val="F0F2F8"/>
                </a:solidFill>
                <a:latin typeface="Calibri"/>
              </a:defRPr>
            </a:pPr>
            <a:r>
              <a:t>Mar 2025</a:t>
            </a:r>
          </a:p>
        </p:txBody>
      </p:sp>
      <p:sp>
        <p:nvSpPr>
          <p:cNvPr id="29" name="TextBox 28"/>
          <p:cNvSpPr txBox="1"/>
          <p:nvPr/>
        </p:nvSpPr>
        <p:spPr>
          <a:xfrm>
            <a:off x="1828800" y="2377439"/>
            <a:ext cx="1188720" cy="228600"/>
          </a:xfrm>
          <a:prstGeom prst="rect">
            <a:avLst/>
          </a:prstGeom>
          <a:noFill/>
        </p:spPr>
        <p:txBody>
          <a:bodyPr wrap="square">
            <a:spAutoFit/>
          </a:bodyPr>
          <a:lstStyle/>
          <a:p>
            <a:pPr algn="r">
              <a:defRPr sz="900" b="0">
                <a:solidFill>
                  <a:srgbClr val="6366F1"/>
                </a:solidFill>
                <a:latin typeface="Calibri"/>
              </a:defRPr>
            </a:pPr>
            <a:r>
              <a:t>70,591</a:t>
            </a:r>
          </a:p>
        </p:txBody>
      </p:sp>
      <p:sp>
        <p:nvSpPr>
          <p:cNvPr id="30" name="TextBox 29"/>
          <p:cNvSpPr txBox="1"/>
          <p:nvPr/>
        </p:nvSpPr>
        <p:spPr>
          <a:xfrm>
            <a:off x="3200400" y="2377439"/>
            <a:ext cx="1188720" cy="228600"/>
          </a:xfrm>
          <a:prstGeom prst="rect">
            <a:avLst/>
          </a:prstGeom>
          <a:noFill/>
        </p:spPr>
        <p:txBody>
          <a:bodyPr wrap="square">
            <a:spAutoFit/>
          </a:bodyPr>
          <a:lstStyle/>
          <a:p>
            <a:pPr algn="r">
              <a:defRPr sz="900" b="0">
                <a:solidFill>
                  <a:srgbClr val="F0F2F8"/>
                </a:solidFill>
                <a:latin typeface="Calibri"/>
              </a:defRPr>
            </a:pPr>
            <a:r>
              <a:t>58,101</a:t>
            </a:r>
          </a:p>
        </p:txBody>
      </p:sp>
      <p:sp>
        <p:nvSpPr>
          <p:cNvPr id="31" name="TextBox 30"/>
          <p:cNvSpPr txBox="1"/>
          <p:nvPr/>
        </p:nvSpPr>
        <p:spPr>
          <a:xfrm>
            <a:off x="4572000" y="2377439"/>
            <a:ext cx="1188720" cy="228600"/>
          </a:xfrm>
          <a:prstGeom prst="rect">
            <a:avLst/>
          </a:prstGeom>
          <a:noFill/>
        </p:spPr>
        <p:txBody>
          <a:bodyPr wrap="square">
            <a:spAutoFit/>
          </a:bodyPr>
          <a:lstStyle/>
          <a:p>
            <a:pPr algn="r">
              <a:defRPr sz="900" b="0">
                <a:solidFill>
                  <a:srgbClr val="10B981"/>
                </a:solidFill>
                <a:latin typeface="Calibri"/>
              </a:defRPr>
            </a:pPr>
            <a:r>
              <a:t>~27,000</a:t>
            </a:r>
          </a:p>
        </p:txBody>
      </p:sp>
      <p:sp>
        <p:nvSpPr>
          <p:cNvPr id="32" name="TextBox 31"/>
          <p:cNvSpPr txBox="1"/>
          <p:nvPr/>
        </p:nvSpPr>
        <p:spPr>
          <a:xfrm>
            <a:off x="5943600" y="2377439"/>
            <a:ext cx="914400" cy="228600"/>
          </a:xfrm>
          <a:prstGeom prst="rect">
            <a:avLst/>
          </a:prstGeom>
          <a:noFill/>
        </p:spPr>
        <p:txBody>
          <a:bodyPr wrap="square">
            <a:spAutoFit/>
          </a:bodyPr>
          <a:lstStyle/>
          <a:p>
            <a:pPr algn="r">
              <a:defRPr sz="900" b="1">
                <a:solidFill>
                  <a:srgbClr val="EF4444"/>
                </a:solidFill>
                <a:latin typeface="Calibri"/>
              </a:defRPr>
            </a:pPr>
            <a:r>
              <a:t>~38%</a:t>
            </a:r>
          </a:p>
        </p:txBody>
      </p:sp>
      <p:sp>
        <p:nvSpPr>
          <p:cNvPr id="33" name="Rounded Rectangle 32"/>
          <p:cNvSpPr/>
          <p:nvPr/>
        </p:nvSpPr>
        <p:spPr>
          <a:xfrm>
            <a:off x="7223760" y="2395727"/>
            <a:ext cx="4230775"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223760" y="2505456"/>
            <a:ext cx="1618208"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57200" y="2660904"/>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2670048"/>
            <a:ext cx="1188720" cy="228600"/>
          </a:xfrm>
          <a:prstGeom prst="rect">
            <a:avLst/>
          </a:prstGeom>
          <a:noFill/>
        </p:spPr>
        <p:txBody>
          <a:bodyPr wrap="square">
            <a:spAutoFit/>
          </a:bodyPr>
          <a:lstStyle/>
          <a:p>
            <a:pPr algn="l">
              <a:defRPr sz="900" b="1">
                <a:solidFill>
                  <a:srgbClr val="F0F2F8"/>
                </a:solidFill>
                <a:latin typeface="Calibri"/>
              </a:defRPr>
            </a:pPr>
            <a:r>
              <a:t>Apr 2025</a:t>
            </a:r>
          </a:p>
        </p:txBody>
      </p:sp>
      <p:sp>
        <p:nvSpPr>
          <p:cNvPr id="37" name="TextBox 36"/>
          <p:cNvSpPr txBox="1"/>
          <p:nvPr/>
        </p:nvSpPr>
        <p:spPr>
          <a:xfrm>
            <a:off x="1828800" y="2670048"/>
            <a:ext cx="1188720" cy="228600"/>
          </a:xfrm>
          <a:prstGeom prst="rect">
            <a:avLst/>
          </a:prstGeom>
          <a:noFill/>
        </p:spPr>
        <p:txBody>
          <a:bodyPr wrap="square">
            <a:spAutoFit/>
          </a:bodyPr>
          <a:lstStyle/>
          <a:p>
            <a:pPr algn="r">
              <a:defRPr sz="900" b="0">
                <a:solidFill>
                  <a:srgbClr val="6366F1"/>
                </a:solidFill>
                <a:latin typeface="Calibri"/>
              </a:defRPr>
            </a:pPr>
            <a:r>
              <a:t>35,155</a:t>
            </a:r>
          </a:p>
        </p:txBody>
      </p:sp>
      <p:sp>
        <p:nvSpPr>
          <p:cNvPr id="38" name="TextBox 37"/>
          <p:cNvSpPr txBox="1"/>
          <p:nvPr/>
        </p:nvSpPr>
        <p:spPr>
          <a:xfrm>
            <a:off x="3200400" y="2670048"/>
            <a:ext cx="1188720" cy="228600"/>
          </a:xfrm>
          <a:prstGeom prst="rect">
            <a:avLst/>
          </a:prstGeom>
          <a:noFill/>
        </p:spPr>
        <p:txBody>
          <a:bodyPr wrap="square">
            <a:spAutoFit/>
          </a:bodyPr>
          <a:lstStyle/>
          <a:p>
            <a:pPr algn="r">
              <a:defRPr sz="900" b="0">
                <a:solidFill>
                  <a:srgbClr val="F0F2F8"/>
                </a:solidFill>
                <a:latin typeface="Calibri"/>
              </a:defRPr>
            </a:pPr>
            <a:r>
              <a:t>28,258</a:t>
            </a:r>
          </a:p>
        </p:txBody>
      </p:sp>
      <p:sp>
        <p:nvSpPr>
          <p:cNvPr id="39" name="TextBox 38"/>
          <p:cNvSpPr txBox="1"/>
          <p:nvPr/>
        </p:nvSpPr>
        <p:spPr>
          <a:xfrm>
            <a:off x="4572000" y="2670048"/>
            <a:ext cx="1188720" cy="228600"/>
          </a:xfrm>
          <a:prstGeom prst="rect">
            <a:avLst/>
          </a:prstGeom>
          <a:noFill/>
        </p:spPr>
        <p:txBody>
          <a:bodyPr wrap="square">
            <a:spAutoFit/>
          </a:bodyPr>
          <a:lstStyle/>
          <a:p>
            <a:pPr algn="r">
              <a:defRPr sz="900" b="0">
                <a:solidFill>
                  <a:srgbClr val="10B981"/>
                </a:solidFill>
                <a:latin typeface="Calibri"/>
              </a:defRPr>
            </a:pPr>
            <a:r>
              <a:t>~14,000</a:t>
            </a:r>
          </a:p>
        </p:txBody>
      </p:sp>
      <p:sp>
        <p:nvSpPr>
          <p:cNvPr id="40" name="TextBox 39"/>
          <p:cNvSpPr txBox="1"/>
          <p:nvPr/>
        </p:nvSpPr>
        <p:spPr>
          <a:xfrm>
            <a:off x="5943600" y="2670048"/>
            <a:ext cx="914400" cy="228600"/>
          </a:xfrm>
          <a:prstGeom prst="rect">
            <a:avLst/>
          </a:prstGeom>
          <a:noFill/>
        </p:spPr>
        <p:txBody>
          <a:bodyPr wrap="square">
            <a:spAutoFit/>
          </a:bodyPr>
          <a:lstStyle/>
          <a:p>
            <a:pPr algn="r">
              <a:defRPr sz="900" b="1">
                <a:solidFill>
                  <a:srgbClr val="EF4444"/>
                </a:solidFill>
                <a:latin typeface="Calibri"/>
              </a:defRPr>
            </a:pPr>
            <a:r>
              <a:t>~40%</a:t>
            </a:r>
          </a:p>
        </p:txBody>
      </p:sp>
      <p:sp>
        <p:nvSpPr>
          <p:cNvPr id="41" name="Rounded Rectangle 40"/>
          <p:cNvSpPr/>
          <p:nvPr/>
        </p:nvSpPr>
        <p:spPr>
          <a:xfrm>
            <a:off x="7223760" y="2688336"/>
            <a:ext cx="2106966"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7223760" y="2798064"/>
            <a:ext cx="839070"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57200" y="2953512"/>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48640" y="2962656"/>
            <a:ext cx="1188720" cy="228600"/>
          </a:xfrm>
          <a:prstGeom prst="rect">
            <a:avLst/>
          </a:prstGeom>
          <a:noFill/>
        </p:spPr>
        <p:txBody>
          <a:bodyPr wrap="square">
            <a:spAutoFit/>
          </a:bodyPr>
          <a:lstStyle/>
          <a:p>
            <a:pPr algn="l">
              <a:defRPr sz="900" b="1">
                <a:solidFill>
                  <a:srgbClr val="F0F2F8"/>
                </a:solidFill>
                <a:latin typeface="Calibri"/>
              </a:defRPr>
            </a:pPr>
            <a:r>
              <a:t>Mai 2025</a:t>
            </a:r>
          </a:p>
        </p:txBody>
      </p:sp>
      <p:sp>
        <p:nvSpPr>
          <p:cNvPr id="45" name="TextBox 44"/>
          <p:cNvSpPr txBox="1"/>
          <p:nvPr/>
        </p:nvSpPr>
        <p:spPr>
          <a:xfrm>
            <a:off x="1828800" y="2962656"/>
            <a:ext cx="1188720" cy="228600"/>
          </a:xfrm>
          <a:prstGeom prst="rect">
            <a:avLst/>
          </a:prstGeom>
          <a:noFill/>
        </p:spPr>
        <p:txBody>
          <a:bodyPr wrap="square">
            <a:spAutoFit/>
          </a:bodyPr>
          <a:lstStyle/>
          <a:p>
            <a:pPr algn="r">
              <a:defRPr sz="900" b="0">
                <a:solidFill>
                  <a:srgbClr val="6366F1"/>
                </a:solidFill>
                <a:latin typeface="Calibri"/>
              </a:defRPr>
            </a:pPr>
            <a:r>
              <a:t>27,858</a:t>
            </a:r>
          </a:p>
        </p:txBody>
      </p:sp>
      <p:sp>
        <p:nvSpPr>
          <p:cNvPr id="46" name="TextBox 45"/>
          <p:cNvSpPr txBox="1"/>
          <p:nvPr/>
        </p:nvSpPr>
        <p:spPr>
          <a:xfrm>
            <a:off x="3200400" y="2962656"/>
            <a:ext cx="1188720" cy="228600"/>
          </a:xfrm>
          <a:prstGeom prst="rect">
            <a:avLst/>
          </a:prstGeom>
          <a:noFill/>
        </p:spPr>
        <p:txBody>
          <a:bodyPr wrap="square">
            <a:spAutoFit/>
          </a:bodyPr>
          <a:lstStyle/>
          <a:p>
            <a:pPr algn="r">
              <a:defRPr sz="900" b="0">
                <a:solidFill>
                  <a:srgbClr val="F0F2F8"/>
                </a:solidFill>
                <a:latin typeface="Calibri"/>
              </a:defRPr>
            </a:pPr>
            <a:r>
              <a:t>22,320</a:t>
            </a:r>
          </a:p>
        </p:txBody>
      </p:sp>
      <p:sp>
        <p:nvSpPr>
          <p:cNvPr id="47" name="TextBox 46"/>
          <p:cNvSpPr txBox="1"/>
          <p:nvPr/>
        </p:nvSpPr>
        <p:spPr>
          <a:xfrm>
            <a:off x="4572000" y="2962656"/>
            <a:ext cx="1188720" cy="228600"/>
          </a:xfrm>
          <a:prstGeom prst="rect">
            <a:avLst/>
          </a:prstGeom>
          <a:noFill/>
        </p:spPr>
        <p:txBody>
          <a:bodyPr wrap="square">
            <a:spAutoFit/>
          </a:bodyPr>
          <a:lstStyle/>
          <a:p>
            <a:pPr algn="r">
              <a:defRPr sz="900" b="0">
                <a:solidFill>
                  <a:srgbClr val="10B981"/>
                </a:solidFill>
                <a:latin typeface="Calibri"/>
              </a:defRPr>
            </a:pPr>
            <a:r>
              <a:t>~13,000</a:t>
            </a:r>
          </a:p>
        </p:txBody>
      </p:sp>
      <p:sp>
        <p:nvSpPr>
          <p:cNvPr id="48" name="TextBox 47"/>
          <p:cNvSpPr txBox="1"/>
          <p:nvPr/>
        </p:nvSpPr>
        <p:spPr>
          <a:xfrm>
            <a:off x="5943600" y="2962656"/>
            <a:ext cx="914400" cy="228600"/>
          </a:xfrm>
          <a:prstGeom prst="rect">
            <a:avLst/>
          </a:prstGeom>
          <a:noFill/>
        </p:spPr>
        <p:txBody>
          <a:bodyPr wrap="square">
            <a:spAutoFit/>
          </a:bodyPr>
          <a:lstStyle/>
          <a:p>
            <a:pPr algn="r">
              <a:defRPr sz="900" b="1">
                <a:solidFill>
                  <a:srgbClr val="F59E0B"/>
                </a:solidFill>
                <a:latin typeface="Calibri"/>
              </a:defRPr>
            </a:pPr>
            <a:r>
              <a:t>~47%</a:t>
            </a:r>
          </a:p>
        </p:txBody>
      </p:sp>
      <p:sp>
        <p:nvSpPr>
          <p:cNvPr id="49" name="Rounded Rectangle 48"/>
          <p:cNvSpPr/>
          <p:nvPr/>
        </p:nvSpPr>
        <p:spPr>
          <a:xfrm>
            <a:off x="7223760" y="2980944"/>
            <a:ext cx="1669631"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7223760" y="3090672"/>
            <a:ext cx="779137"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457200" y="3246120"/>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3255263"/>
            <a:ext cx="1188720" cy="228600"/>
          </a:xfrm>
          <a:prstGeom prst="rect">
            <a:avLst/>
          </a:prstGeom>
          <a:noFill/>
        </p:spPr>
        <p:txBody>
          <a:bodyPr wrap="square">
            <a:spAutoFit/>
          </a:bodyPr>
          <a:lstStyle/>
          <a:p>
            <a:pPr algn="l">
              <a:defRPr sz="900" b="1">
                <a:solidFill>
                  <a:srgbClr val="F0F2F8"/>
                </a:solidFill>
                <a:latin typeface="Calibri"/>
              </a:defRPr>
            </a:pPr>
            <a:r>
              <a:t>Iun 2025</a:t>
            </a:r>
          </a:p>
        </p:txBody>
      </p:sp>
      <p:sp>
        <p:nvSpPr>
          <p:cNvPr id="53" name="TextBox 52"/>
          <p:cNvSpPr txBox="1"/>
          <p:nvPr/>
        </p:nvSpPr>
        <p:spPr>
          <a:xfrm>
            <a:off x="1828800" y="3255263"/>
            <a:ext cx="1188720" cy="228600"/>
          </a:xfrm>
          <a:prstGeom prst="rect">
            <a:avLst/>
          </a:prstGeom>
          <a:noFill/>
        </p:spPr>
        <p:txBody>
          <a:bodyPr wrap="square">
            <a:spAutoFit/>
          </a:bodyPr>
          <a:lstStyle/>
          <a:p>
            <a:pPr algn="r">
              <a:defRPr sz="900" b="0">
                <a:solidFill>
                  <a:srgbClr val="6366F1"/>
                </a:solidFill>
                <a:latin typeface="Calibri"/>
              </a:defRPr>
            </a:pPr>
            <a:r>
              <a:t>22,848</a:t>
            </a:r>
          </a:p>
        </p:txBody>
      </p:sp>
      <p:sp>
        <p:nvSpPr>
          <p:cNvPr id="54" name="TextBox 53"/>
          <p:cNvSpPr txBox="1"/>
          <p:nvPr/>
        </p:nvSpPr>
        <p:spPr>
          <a:xfrm>
            <a:off x="3200400" y="3255263"/>
            <a:ext cx="1188720" cy="228600"/>
          </a:xfrm>
          <a:prstGeom prst="rect">
            <a:avLst/>
          </a:prstGeom>
          <a:noFill/>
        </p:spPr>
        <p:txBody>
          <a:bodyPr wrap="square">
            <a:spAutoFit/>
          </a:bodyPr>
          <a:lstStyle/>
          <a:p>
            <a:pPr algn="r">
              <a:defRPr sz="900" b="0">
                <a:solidFill>
                  <a:srgbClr val="F0F2F8"/>
                </a:solidFill>
                <a:latin typeface="Calibri"/>
              </a:defRPr>
            </a:pPr>
            <a:r>
              <a:t>18,402</a:t>
            </a:r>
          </a:p>
        </p:txBody>
      </p:sp>
      <p:sp>
        <p:nvSpPr>
          <p:cNvPr id="55" name="TextBox 54"/>
          <p:cNvSpPr txBox="1"/>
          <p:nvPr/>
        </p:nvSpPr>
        <p:spPr>
          <a:xfrm>
            <a:off x="4572000" y="3255263"/>
            <a:ext cx="1188720" cy="228600"/>
          </a:xfrm>
          <a:prstGeom prst="rect">
            <a:avLst/>
          </a:prstGeom>
          <a:noFill/>
        </p:spPr>
        <p:txBody>
          <a:bodyPr wrap="square">
            <a:spAutoFit/>
          </a:bodyPr>
          <a:lstStyle/>
          <a:p>
            <a:pPr algn="r">
              <a:defRPr sz="900" b="0">
                <a:solidFill>
                  <a:srgbClr val="10B981"/>
                </a:solidFill>
                <a:latin typeface="Calibri"/>
              </a:defRPr>
            </a:pPr>
            <a:r>
              <a:t>~11,000</a:t>
            </a:r>
          </a:p>
        </p:txBody>
      </p:sp>
      <p:sp>
        <p:nvSpPr>
          <p:cNvPr id="56" name="TextBox 55"/>
          <p:cNvSpPr txBox="1"/>
          <p:nvPr/>
        </p:nvSpPr>
        <p:spPr>
          <a:xfrm>
            <a:off x="5943600" y="3255263"/>
            <a:ext cx="914400" cy="228600"/>
          </a:xfrm>
          <a:prstGeom prst="rect">
            <a:avLst/>
          </a:prstGeom>
          <a:noFill/>
        </p:spPr>
        <p:txBody>
          <a:bodyPr wrap="square">
            <a:spAutoFit/>
          </a:bodyPr>
          <a:lstStyle/>
          <a:p>
            <a:pPr algn="r">
              <a:defRPr sz="900" b="1">
                <a:solidFill>
                  <a:srgbClr val="F59E0B"/>
                </a:solidFill>
                <a:latin typeface="Calibri"/>
              </a:defRPr>
            </a:pPr>
            <a:r>
              <a:t>~48%</a:t>
            </a:r>
          </a:p>
        </p:txBody>
      </p:sp>
      <p:sp>
        <p:nvSpPr>
          <p:cNvPr id="57" name="Rounded Rectangle 56"/>
          <p:cNvSpPr/>
          <p:nvPr/>
        </p:nvSpPr>
        <p:spPr>
          <a:xfrm>
            <a:off x="7223760" y="3273551"/>
            <a:ext cx="1369363"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7223760" y="3383279"/>
            <a:ext cx="659270"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457200" y="3538728"/>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8640" y="3547872"/>
            <a:ext cx="1188720" cy="228600"/>
          </a:xfrm>
          <a:prstGeom prst="rect">
            <a:avLst/>
          </a:prstGeom>
          <a:noFill/>
        </p:spPr>
        <p:txBody>
          <a:bodyPr wrap="square">
            <a:spAutoFit/>
          </a:bodyPr>
          <a:lstStyle/>
          <a:p>
            <a:pPr algn="l">
              <a:defRPr sz="900" b="1">
                <a:solidFill>
                  <a:srgbClr val="F0F2F8"/>
                </a:solidFill>
                <a:latin typeface="Calibri"/>
              </a:defRPr>
            </a:pPr>
            <a:r>
              <a:t>Iul 2025</a:t>
            </a:r>
          </a:p>
        </p:txBody>
      </p:sp>
      <p:sp>
        <p:nvSpPr>
          <p:cNvPr id="61" name="TextBox 60"/>
          <p:cNvSpPr txBox="1"/>
          <p:nvPr/>
        </p:nvSpPr>
        <p:spPr>
          <a:xfrm>
            <a:off x="1828800" y="3547872"/>
            <a:ext cx="1188720" cy="228600"/>
          </a:xfrm>
          <a:prstGeom prst="rect">
            <a:avLst/>
          </a:prstGeom>
          <a:noFill/>
        </p:spPr>
        <p:txBody>
          <a:bodyPr wrap="square">
            <a:spAutoFit/>
          </a:bodyPr>
          <a:lstStyle/>
          <a:p>
            <a:pPr algn="r">
              <a:defRPr sz="900" b="0">
                <a:solidFill>
                  <a:srgbClr val="6366F1"/>
                </a:solidFill>
                <a:latin typeface="Calibri"/>
              </a:defRPr>
            </a:pPr>
            <a:r>
              <a:t>24,030</a:t>
            </a:r>
          </a:p>
        </p:txBody>
      </p:sp>
      <p:sp>
        <p:nvSpPr>
          <p:cNvPr id="62" name="TextBox 61"/>
          <p:cNvSpPr txBox="1"/>
          <p:nvPr/>
        </p:nvSpPr>
        <p:spPr>
          <a:xfrm>
            <a:off x="3200400" y="3547872"/>
            <a:ext cx="1188720" cy="228600"/>
          </a:xfrm>
          <a:prstGeom prst="rect">
            <a:avLst/>
          </a:prstGeom>
          <a:noFill/>
        </p:spPr>
        <p:txBody>
          <a:bodyPr wrap="square">
            <a:spAutoFit/>
          </a:bodyPr>
          <a:lstStyle/>
          <a:p>
            <a:pPr algn="r">
              <a:defRPr sz="900" b="0">
                <a:solidFill>
                  <a:srgbClr val="F0F2F8"/>
                </a:solidFill>
                <a:latin typeface="Calibri"/>
              </a:defRPr>
            </a:pPr>
            <a:r>
              <a:t>19,087</a:t>
            </a:r>
          </a:p>
        </p:txBody>
      </p:sp>
      <p:sp>
        <p:nvSpPr>
          <p:cNvPr id="63" name="TextBox 62"/>
          <p:cNvSpPr txBox="1"/>
          <p:nvPr/>
        </p:nvSpPr>
        <p:spPr>
          <a:xfrm>
            <a:off x="4572000" y="3547872"/>
            <a:ext cx="1188720" cy="228600"/>
          </a:xfrm>
          <a:prstGeom prst="rect">
            <a:avLst/>
          </a:prstGeom>
          <a:noFill/>
        </p:spPr>
        <p:txBody>
          <a:bodyPr wrap="square">
            <a:spAutoFit/>
          </a:bodyPr>
          <a:lstStyle/>
          <a:p>
            <a:pPr algn="r">
              <a:defRPr sz="900" b="0">
                <a:solidFill>
                  <a:srgbClr val="10B981"/>
                </a:solidFill>
                <a:latin typeface="Calibri"/>
              </a:defRPr>
            </a:pPr>
            <a:r>
              <a:t>~12,000</a:t>
            </a:r>
          </a:p>
        </p:txBody>
      </p:sp>
      <p:sp>
        <p:nvSpPr>
          <p:cNvPr id="64" name="TextBox 63"/>
          <p:cNvSpPr txBox="1"/>
          <p:nvPr/>
        </p:nvSpPr>
        <p:spPr>
          <a:xfrm>
            <a:off x="5943600" y="3547872"/>
            <a:ext cx="914400" cy="228600"/>
          </a:xfrm>
          <a:prstGeom prst="rect">
            <a:avLst/>
          </a:prstGeom>
          <a:noFill/>
        </p:spPr>
        <p:txBody>
          <a:bodyPr wrap="square">
            <a:spAutoFit/>
          </a:bodyPr>
          <a:lstStyle/>
          <a:p>
            <a:pPr algn="r">
              <a:defRPr sz="900" b="1">
                <a:solidFill>
                  <a:srgbClr val="10B981"/>
                </a:solidFill>
                <a:latin typeface="Calibri"/>
              </a:defRPr>
            </a:pPr>
            <a:r>
              <a:t>~50%</a:t>
            </a:r>
          </a:p>
        </p:txBody>
      </p:sp>
      <p:sp>
        <p:nvSpPr>
          <p:cNvPr id="65" name="Rounded Rectangle 64"/>
          <p:cNvSpPr/>
          <p:nvPr/>
        </p:nvSpPr>
        <p:spPr>
          <a:xfrm>
            <a:off x="7223760" y="3566160"/>
            <a:ext cx="1440205"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7223760" y="3675888"/>
            <a:ext cx="719203"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457200" y="3831336"/>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48640" y="3840480"/>
            <a:ext cx="1188720" cy="228600"/>
          </a:xfrm>
          <a:prstGeom prst="rect">
            <a:avLst/>
          </a:prstGeom>
          <a:noFill/>
        </p:spPr>
        <p:txBody>
          <a:bodyPr wrap="square">
            <a:spAutoFit/>
          </a:bodyPr>
          <a:lstStyle/>
          <a:p>
            <a:pPr algn="l">
              <a:defRPr sz="900" b="1">
                <a:solidFill>
                  <a:srgbClr val="F0F2F8"/>
                </a:solidFill>
                <a:latin typeface="Calibri"/>
              </a:defRPr>
            </a:pPr>
            <a:r>
              <a:t>Aug 2025</a:t>
            </a:r>
          </a:p>
        </p:txBody>
      </p:sp>
      <p:sp>
        <p:nvSpPr>
          <p:cNvPr id="69" name="TextBox 68"/>
          <p:cNvSpPr txBox="1"/>
          <p:nvPr/>
        </p:nvSpPr>
        <p:spPr>
          <a:xfrm>
            <a:off x="1828800" y="3840480"/>
            <a:ext cx="1188720" cy="228600"/>
          </a:xfrm>
          <a:prstGeom prst="rect">
            <a:avLst/>
          </a:prstGeom>
          <a:noFill/>
        </p:spPr>
        <p:txBody>
          <a:bodyPr wrap="square">
            <a:spAutoFit/>
          </a:bodyPr>
          <a:lstStyle/>
          <a:p>
            <a:pPr algn="r">
              <a:defRPr sz="900" b="0">
                <a:solidFill>
                  <a:srgbClr val="6366F1"/>
                </a:solidFill>
                <a:latin typeface="Calibri"/>
              </a:defRPr>
            </a:pPr>
            <a:r>
              <a:t>24,585</a:t>
            </a:r>
          </a:p>
        </p:txBody>
      </p:sp>
      <p:sp>
        <p:nvSpPr>
          <p:cNvPr id="70" name="TextBox 69"/>
          <p:cNvSpPr txBox="1"/>
          <p:nvPr/>
        </p:nvSpPr>
        <p:spPr>
          <a:xfrm>
            <a:off x="3200400" y="3840480"/>
            <a:ext cx="1188720" cy="228600"/>
          </a:xfrm>
          <a:prstGeom prst="rect">
            <a:avLst/>
          </a:prstGeom>
          <a:noFill/>
        </p:spPr>
        <p:txBody>
          <a:bodyPr wrap="square">
            <a:spAutoFit/>
          </a:bodyPr>
          <a:lstStyle/>
          <a:p>
            <a:pPr algn="r">
              <a:defRPr sz="900" b="0">
                <a:solidFill>
                  <a:srgbClr val="F0F2F8"/>
                </a:solidFill>
                <a:latin typeface="Calibri"/>
              </a:defRPr>
            </a:pPr>
            <a:r>
              <a:t>19,947</a:t>
            </a:r>
          </a:p>
        </p:txBody>
      </p:sp>
      <p:sp>
        <p:nvSpPr>
          <p:cNvPr id="71" name="TextBox 70"/>
          <p:cNvSpPr txBox="1"/>
          <p:nvPr/>
        </p:nvSpPr>
        <p:spPr>
          <a:xfrm>
            <a:off x="4572000" y="3840480"/>
            <a:ext cx="1188720" cy="228600"/>
          </a:xfrm>
          <a:prstGeom prst="rect">
            <a:avLst/>
          </a:prstGeom>
          <a:noFill/>
        </p:spPr>
        <p:txBody>
          <a:bodyPr wrap="square">
            <a:spAutoFit/>
          </a:bodyPr>
          <a:lstStyle/>
          <a:p>
            <a:pPr algn="r">
              <a:defRPr sz="900" b="0">
                <a:solidFill>
                  <a:srgbClr val="10B981"/>
                </a:solidFill>
                <a:latin typeface="Calibri"/>
              </a:defRPr>
            </a:pPr>
            <a:r>
              <a:t>~12,500</a:t>
            </a:r>
          </a:p>
        </p:txBody>
      </p:sp>
      <p:sp>
        <p:nvSpPr>
          <p:cNvPr id="72" name="TextBox 71"/>
          <p:cNvSpPr txBox="1"/>
          <p:nvPr/>
        </p:nvSpPr>
        <p:spPr>
          <a:xfrm>
            <a:off x="5943600" y="3840480"/>
            <a:ext cx="914400" cy="228600"/>
          </a:xfrm>
          <a:prstGeom prst="rect">
            <a:avLst/>
          </a:prstGeom>
          <a:noFill/>
        </p:spPr>
        <p:txBody>
          <a:bodyPr wrap="square">
            <a:spAutoFit/>
          </a:bodyPr>
          <a:lstStyle/>
          <a:p>
            <a:pPr algn="r">
              <a:defRPr sz="900" b="1">
                <a:solidFill>
                  <a:srgbClr val="10B981"/>
                </a:solidFill>
                <a:latin typeface="Calibri"/>
              </a:defRPr>
            </a:pPr>
            <a:r>
              <a:t>~51%</a:t>
            </a:r>
          </a:p>
        </p:txBody>
      </p:sp>
      <p:sp>
        <p:nvSpPr>
          <p:cNvPr id="73" name="Rounded Rectangle 72"/>
          <p:cNvSpPr/>
          <p:nvPr/>
        </p:nvSpPr>
        <p:spPr>
          <a:xfrm>
            <a:off x="7223760" y="3858768"/>
            <a:ext cx="1473468"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7223760" y="3968496"/>
            <a:ext cx="749170"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457200" y="4123944"/>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48640" y="4133087"/>
            <a:ext cx="1188720" cy="228600"/>
          </a:xfrm>
          <a:prstGeom prst="rect">
            <a:avLst/>
          </a:prstGeom>
          <a:noFill/>
        </p:spPr>
        <p:txBody>
          <a:bodyPr wrap="square">
            <a:spAutoFit/>
          </a:bodyPr>
          <a:lstStyle/>
          <a:p>
            <a:pPr algn="l">
              <a:defRPr sz="900" b="1">
                <a:solidFill>
                  <a:srgbClr val="F0F2F8"/>
                </a:solidFill>
                <a:latin typeface="Calibri"/>
              </a:defRPr>
            </a:pPr>
            <a:r>
              <a:t>Sep 2025</a:t>
            </a:r>
          </a:p>
        </p:txBody>
      </p:sp>
      <p:sp>
        <p:nvSpPr>
          <p:cNvPr id="77" name="TextBox 76"/>
          <p:cNvSpPr txBox="1"/>
          <p:nvPr/>
        </p:nvSpPr>
        <p:spPr>
          <a:xfrm>
            <a:off x="1828800" y="4133087"/>
            <a:ext cx="1188720" cy="228600"/>
          </a:xfrm>
          <a:prstGeom prst="rect">
            <a:avLst/>
          </a:prstGeom>
          <a:noFill/>
        </p:spPr>
        <p:txBody>
          <a:bodyPr wrap="square">
            <a:spAutoFit/>
          </a:bodyPr>
          <a:lstStyle/>
          <a:p>
            <a:pPr algn="r">
              <a:defRPr sz="900" b="0">
                <a:solidFill>
                  <a:srgbClr val="6366F1"/>
                </a:solidFill>
                <a:latin typeface="Calibri"/>
              </a:defRPr>
            </a:pPr>
            <a:r>
              <a:t>22,829</a:t>
            </a:r>
          </a:p>
        </p:txBody>
      </p:sp>
      <p:sp>
        <p:nvSpPr>
          <p:cNvPr id="78" name="TextBox 77"/>
          <p:cNvSpPr txBox="1"/>
          <p:nvPr/>
        </p:nvSpPr>
        <p:spPr>
          <a:xfrm>
            <a:off x="3200400" y="4133087"/>
            <a:ext cx="1188720" cy="228600"/>
          </a:xfrm>
          <a:prstGeom prst="rect">
            <a:avLst/>
          </a:prstGeom>
          <a:noFill/>
        </p:spPr>
        <p:txBody>
          <a:bodyPr wrap="square">
            <a:spAutoFit/>
          </a:bodyPr>
          <a:lstStyle/>
          <a:p>
            <a:pPr algn="r">
              <a:defRPr sz="900" b="0">
                <a:solidFill>
                  <a:srgbClr val="F0F2F8"/>
                </a:solidFill>
                <a:latin typeface="Calibri"/>
              </a:defRPr>
            </a:pPr>
            <a:r>
              <a:t>18,198</a:t>
            </a:r>
          </a:p>
        </p:txBody>
      </p:sp>
      <p:sp>
        <p:nvSpPr>
          <p:cNvPr id="79" name="TextBox 78"/>
          <p:cNvSpPr txBox="1"/>
          <p:nvPr/>
        </p:nvSpPr>
        <p:spPr>
          <a:xfrm>
            <a:off x="4572000" y="4133087"/>
            <a:ext cx="1188720" cy="228600"/>
          </a:xfrm>
          <a:prstGeom prst="rect">
            <a:avLst/>
          </a:prstGeom>
          <a:noFill/>
        </p:spPr>
        <p:txBody>
          <a:bodyPr wrap="square">
            <a:spAutoFit/>
          </a:bodyPr>
          <a:lstStyle/>
          <a:p>
            <a:pPr algn="r">
              <a:defRPr sz="900" b="0">
                <a:solidFill>
                  <a:srgbClr val="10B981"/>
                </a:solidFill>
                <a:latin typeface="Calibri"/>
              </a:defRPr>
            </a:pPr>
            <a:r>
              <a:t>~11,000</a:t>
            </a:r>
          </a:p>
        </p:txBody>
      </p:sp>
      <p:sp>
        <p:nvSpPr>
          <p:cNvPr id="80" name="TextBox 79"/>
          <p:cNvSpPr txBox="1"/>
          <p:nvPr/>
        </p:nvSpPr>
        <p:spPr>
          <a:xfrm>
            <a:off x="5943600" y="4133087"/>
            <a:ext cx="914400" cy="228600"/>
          </a:xfrm>
          <a:prstGeom prst="rect">
            <a:avLst/>
          </a:prstGeom>
          <a:noFill/>
        </p:spPr>
        <p:txBody>
          <a:bodyPr wrap="square">
            <a:spAutoFit/>
          </a:bodyPr>
          <a:lstStyle/>
          <a:p>
            <a:pPr algn="r">
              <a:defRPr sz="900" b="1">
                <a:solidFill>
                  <a:srgbClr val="F59E0B"/>
                </a:solidFill>
                <a:latin typeface="Calibri"/>
              </a:defRPr>
            </a:pPr>
            <a:r>
              <a:t>~48%</a:t>
            </a:r>
          </a:p>
        </p:txBody>
      </p:sp>
      <p:sp>
        <p:nvSpPr>
          <p:cNvPr id="81" name="Rounded Rectangle 80"/>
          <p:cNvSpPr/>
          <p:nvPr/>
        </p:nvSpPr>
        <p:spPr>
          <a:xfrm>
            <a:off x="7223760" y="4151376"/>
            <a:ext cx="1368224"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p:cNvSpPr/>
          <p:nvPr/>
        </p:nvSpPr>
        <p:spPr>
          <a:xfrm>
            <a:off x="7223760" y="4261104"/>
            <a:ext cx="659270"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457200" y="4416552"/>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548640" y="4425696"/>
            <a:ext cx="1188720" cy="228600"/>
          </a:xfrm>
          <a:prstGeom prst="rect">
            <a:avLst/>
          </a:prstGeom>
          <a:noFill/>
        </p:spPr>
        <p:txBody>
          <a:bodyPr wrap="square">
            <a:spAutoFit/>
          </a:bodyPr>
          <a:lstStyle/>
          <a:p>
            <a:pPr algn="l">
              <a:defRPr sz="900" b="1">
                <a:solidFill>
                  <a:srgbClr val="F0F2F8"/>
                </a:solidFill>
                <a:latin typeface="Calibri"/>
              </a:defRPr>
            </a:pPr>
            <a:r>
              <a:t>Oct 2025</a:t>
            </a:r>
          </a:p>
        </p:txBody>
      </p:sp>
      <p:sp>
        <p:nvSpPr>
          <p:cNvPr id="85" name="TextBox 84"/>
          <p:cNvSpPr txBox="1"/>
          <p:nvPr/>
        </p:nvSpPr>
        <p:spPr>
          <a:xfrm>
            <a:off x="1828800" y="4425696"/>
            <a:ext cx="1188720" cy="228600"/>
          </a:xfrm>
          <a:prstGeom prst="rect">
            <a:avLst/>
          </a:prstGeom>
          <a:noFill/>
        </p:spPr>
        <p:txBody>
          <a:bodyPr wrap="square">
            <a:spAutoFit/>
          </a:bodyPr>
          <a:lstStyle/>
          <a:p>
            <a:pPr algn="r">
              <a:defRPr sz="900" b="0">
                <a:solidFill>
                  <a:srgbClr val="6366F1"/>
                </a:solidFill>
                <a:latin typeface="Calibri"/>
              </a:defRPr>
            </a:pPr>
            <a:r>
              <a:t>26,511</a:t>
            </a:r>
          </a:p>
        </p:txBody>
      </p:sp>
      <p:sp>
        <p:nvSpPr>
          <p:cNvPr id="86" name="TextBox 85"/>
          <p:cNvSpPr txBox="1"/>
          <p:nvPr/>
        </p:nvSpPr>
        <p:spPr>
          <a:xfrm>
            <a:off x="3200400" y="4425696"/>
            <a:ext cx="1188720" cy="228600"/>
          </a:xfrm>
          <a:prstGeom prst="rect">
            <a:avLst/>
          </a:prstGeom>
          <a:noFill/>
        </p:spPr>
        <p:txBody>
          <a:bodyPr wrap="square">
            <a:spAutoFit/>
          </a:bodyPr>
          <a:lstStyle/>
          <a:p>
            <a:pPr algn="r">
              <a:defRPr sz="900" b="0">
                <a:solidFill>
                  <a:srgbClr val="F0F2F8"/>
                </a:solidFill>
                <a:latin typeface="Calibri"/>
              </a:defRPr>
            </a:pPr>
            <a:r>
              <a:t>20,520</a:t>
            </a:r>
          </a:p>
        </p:txBody>
      </p:sp>
      <p:sp>
        <p:nvSpPr>
          <p:cNvPr id="87" name="TextBox 86"/>
          <p:cNvSpPr txBox="1"/>
          <p:nvPr/>
        </p:nvSpPr>
        <p:spPr>
          <a:xfrm>
            <a:off x="4572000" y="4425696"/>
            <a:ext cx="1188720" cy="228600"/>
          </a:xfrm>
          <a:prstGeom prst="rect">
            <a:avLst/>
          </a:prstGeom>
          <a:noFill/>
        </p:spPr>
        <p:txBody>
          <a:bodyPr wrap="square">
            <a:spAutoFit/>
          </a:bodyPr>
          <a:lstStyle/>
          <a:p>
            <a:pPr algn="r">
              <a:defRPr sz="900" b="0">
                <a:solidFill>
                  <a:srgbClr val="10B981"/>
                </a:solidFill>
                <a:latin typeface="Calibri"/>
              </a:defRPr>
            </a:pPr>
            <a:r>
              <a:t>~13,000</a:t>
            </a:r>
          </a:p>
        </p:txBody>
      </p:sp>
      <p:sp>
        <p:nvSpPr>
          <p:cNvPr id="88" name="TextBox 87"/>
          <p:cNvSpPr txBox="1"/>
          <p:nvPr/>
        </p:nvSpPr>
        <p:spPr>
          <a:xfrm>
            <a:off x="5943600" y="4425696"/>
            <a:ext cx="914400" cy="228600"/>
          </a:xfrm>
          <a:prstGeom prst="rect">
            <a:avLst/>
          </a:prstGeom>
          <a:noFill/>
        </p:spPr>
        <p:txBody>
          <a:bodyPr wrap="square">
            <a:spAutoFit/>
          </a:bodyPr>
          <a:lstStyle/>
          <a:p>
            <a:pPr algn="r">
              <a:defRPr sz="900" b="1">
                <a:solidFill>
                  <a:srgbClr val="F59E0B"/>
                </a:solidFill>
                <a:latin typeface="Calibri"/>
              </a:defRPr>
            </a:pPr>
            <a:r>
              <a:t>~49%</a:t>
            </a:r>
          </a:p>
        </p:txBody>
      </p:sp>
      <p:sp>
        <p:nvSpPr>
          <p:cNvPr id="89" name="Rounded Rectangle 88"/>
          <p:cNvSpPr/>
          <p:nvPr/>
        </p:nvSpPr>
        <p:spPr>
          <a:xfrm>
            <a:off x="7223760" y="4443984"/>
            <a:ext cx="1588900"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p:cNvSpPr/>
          <p:nvPr/>
        </p:nvSpPr>
        <p:spPr>
          <a:xfrm>
            <a:off x="7223760" y="4553712"/>
            <a:ext cx="779137"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457200" y="4709160"/>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48640" y="4718304"/>
            <a:ext cx="1188720" cy="228600"/>
          </a:xfrm>
          <a:prstGeom prst="rect">
            <a:avLst/>
          </a:prstGeom>
          <a:noFill/>
        </p:spPr>
        <p:txBody>
          <a:bodyPr wrap="square">
            <a:spAutoFit/>
          </a:bodyPr>
          <a:lstStyle/>
          <a:p>
            <a:pPr algn="l">
              <a:defRPr sz="900" b="1">
                <a:solidFill>
                  <a:srgbClr val="F0F2F8"/>
                </a:solidFill>
                <a:latin typeface="Calibri"/>
              </a:defRPr>
            </a:pPr>
            <a:r>
              <a:t>Nov 2025</a:t>
            </a:r>
          </a:p>
        </p:txBody>
      </p:sp>
      <p:sp>
        <p:nvSpPr>
          <p:cNvPr id="93" name="TextBox 92"/>
          <p:cNvSpPr txBox="1"/>
          <p:nvPr/>
        </p:nvSpPr>
        <p:spPr>
          <a:xfrm>
            <a:off x="1828800" y="4718304"/>
            <a:ext cx="1188720" cy="228600"/>
          </a:xfrm>
          <a:prstGeom prst="rect">
            <a:avLst/>
          </a:prstGeom>
          <a:noFill/>
        </p:spPr>
        <p:txBody>
          <a:bodyPr wrap="square">
            <a:spAutoFit/>
          </a:bodyPr>
          <a:lstStyle/>
          <a:p>
            <a:pPr algn="r">
              <a:defRPr sz="900" b="0">
                <a:solidFill>
                  <a:srgbClr val="6366F1"/>
                </a:solidFill>
                <a:latin typeface="Calibri"/>
              </a:defRPr>
            </a:pPr>
            <a:r>
              <a:t>19,621</a:t>
            </a:r>
          </a:p>
        </p:txBody>
      </p:sp>
      <p:sp>
        <p:nvSpPr>
          <p:cNvPr id="94" name="TextBox 93"/>
          <p:cNvSpPr txBox="1"/>
          <p:nvPr/>
        </p:nvSpPr>
        <p:spPr>
          <a:xfrm>
            <a:off x="3200400" y="4718304"/>
            <a:ext cx="1188720" cy="228600"/>
          </a:xfrm>
          <a:prstGeom prst="rect">
            <a:avLst/>
          </a:prstGeom>
          <a:noFill/>
        </p:spPr>
        <p:txBody>
          <a:bodyPr wrap="square">
            <a:spAutoFit/>
          </a:bodyPr>
          <a:lstStyle/>
          <a:p>
            <a:pPr algn="r">
              <a:defRPr sz="900" b="0">
                <a:solidFill>
                  <a:srgbClr val="F0F2F8"/>
                </a:solidFill>
                <a:latin typeface="Calibri"/>
              </a:defRPr>
            </a:pPr>
            <a:r>
              <a:t>16,629</a:t>
            </a:r>
          </a:p>
        </p:txBody>
      </p:sp>
      <p:sp>
        <p:nvSpPr>
          <p:cNvPr id="95" name="TextBox 94"/>
          <p:cNvSpPr txBox="1"/>
          <p:nvPr/>
        </p:nvSpPr>
        <p:spPr>
          <a:xfrm>
            <a:off x="4572000" y="4718304"/>
            <a:ext cx="1188720" cy="228600"/>
          </a:xfrm>
          <a:prstGeom prst="rect">
            <a:avLst/>
          </a:prstGeom>
          <a:noFill/>
        </p:spPr>
        <p:txBody>
          <a:bodyPr wrap="square">
            <a:spAutoFit/>
          </a:bodyPr>
          <a:lstStyle/>
          <a:p>
            <a:pPr algn="r">
              <a:defRPr sz="900" b="0">
                <a:solidFill>
                  <a:srgbClr val="10B981"/>
                </a:solidFill>
                <a:latin typeface="Calibri"/>
              </a:defRPr>
            </a:pPr>
            <a:r>
              <a:t>~10,000</a:t>
            </a:r>
          </a:p>
        </p:txBody>
      </p:sp>
      <p:sp>
        <p:nvSpPr>
          <p:cNvPr id="96" name="TextBox 95"/>
          <p:cNvSpPr txBox="1"/>
          <p:nvPr/>
        </p:nvSpPr>
        <p:spPr>
          <a:xfrm>
            <a:off x="5943600" y="4718304"/>
            <a:ext cx="914400" cy="228600"/>
          </a:xfrm>
          <a:prstGeom prst="rect">
            <a:avLst/>
          </a:prstGeom>
          <a:noFill/>
        </p:spPr>
        <p:txBody>
          <a:bodyPr wrap="square">
            <a:spAutoFit/>
          </a:bodyPr>
          <a:lstStyle/>
          <a:p>
            <a:pPr algn="r">
              <a:defRPr sz="900" b="1">
                <a:solidFill>
                  <a:srgbClr val="10B981"/>
                </a:solidFill>
                <a:latin typeface="Calibri"/>
              </a:defRPr>
            </a:pPr>
            <a:r>
              <a:t>~51%</a:t>
            </a:r>
          </a:p>
        </p:txBody>
      </p:sp>
      <p:sp>
        <p:nvSpPr>
          <p:cNvPr id="97" name="Rounded Rectangle 96"/>
          <p:cNvSpPr/>
          <p:nvPr/>
        </p:nvSpPr>
        <p:spPr>
          <a:xfrm>
            <a:off x="7223760" y="4736592"/>
            <a:ext cx="1175957"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7223760" y="4846320"/>
            <a:ext cx="599336"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457200" y="5001768"/>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548640" y="5010912"/>
            <a:ext cx="1188720" cy="228600"/>
          </a:xfrm>
          <a:prstGeom prst="rect">
            <a:avLst/>
          </a:prstGeom>
          <a:noFill/>
        </p:spPr>
        <p:txBody>
          <a:bodyPr wrap="square">
            <a:spAutoFit/>
          </a:bodyPr>
          <a:lstStyle/>
          <a:p>
            <a:pPr algn="l">
              <a:defRPr sz="900" b="1">
                <a:solidFill>
                  <a:srgbClr val="F0F2F8"/>
                </a:solidFill>
                <a:latin typeface="Calibri"/>
              </a:defRPr>
            </a:pPr>
            <a:r>
              <a:t>Dec 2025</a:t>
            </a:r>
          </a:p>
        </p:txBody>
      </p:sp>
      <p:sp>
        <p:nvSpPr>
          <p:cNvPr id="101" name="TextBox 100"/>
          <p:cNvSpPr txBox="1"/>
          <p:nvPr/>
        </p:nvSpPr>
        <p:spPr>
          <a:xfrm>
            <a:off x="1828800" y="5010912"/>
            <a:ext cx="1188720" cy="228600"/>
          </a:xfrm>
          <a:prstGeom prst="rect">
            <a:avLst/>
          </a:prstGeom>
          <a:noFill/>
        </p:spPr>
        <p:txBody>
          <a:bodyPr wrap="square">
            <a:spAutoFit/>
          </a:bodyPr>
          <a:lstStyle/>
          <a:p>
            <a:pPr algn="r">
              <a:defRPr sz="900" b="0">
                <a:solidFill>
                  <a:srgbClr val="6366F1"/>
                </a:solidFill>
                <a:latin typeface="Calibri"/>
              </a:defRPr>
            </a:pPr>
            <a:r>
              <a:t>26,513</a:t>
            </a:r>
          </a:p>
        </p:txBody>
      </p:sp>
      <p:sp>
        <p:nvSpPr>
          <p:cNvPr id="102" name="TextBox 101"/>
          <p:cNvSpPr txBox="1"/>
          <p:nvPr/>
        </p:nvSpPr>
        <p:spPr>
          <a:xfrm>
            <a:off x="3200400" y="5010912"/>
            <a:ext cx="1188720" cy="228600"/>
          </a:xfrm>
          <a:prstGeom prst="rect">
            <a:avLst/>
          </a:prstGeom>
          <a:noFill/>
        </p:spPr>
        <p:txBody>
          <a:bodyPr wrap="square">
            <a:spAutoFit/>
          </a:bodyPr>
          <a:lstStyle/>
          <a:p>
            <a:pPr algn="r">
              <a:defRPr sz="900" b="0">
                <a:solidFill>
                  <a:srgbClr val="F0F2F8"/>
                </a:solidFill>
                <a:latin typeface="Calibri"/>
              </a:defRPr>
            </a:pPr>
            <a:r>
              <a:t>21,448</a:t>
            </a:r>
          </a:p>
        </p:txBody>
      </p:sp>
      <p:sp>
        <p:nvSpPr>
          <p:cNvPr id="103" name="TextBox 102"/>
          <p:cNvSpPr txBox="1"/>
          <p:nvPr/>
        </p:nvSpPr>
        <p:spPr>
          <a:xfrm>
            <a:off x="4572000" y="5010912"/>
            <a:ext cx="1188720" cy="228600"/>
          </a:xfrm>
          <a:prstGeom prst="rect">
            <a:avLst/>
          </a:prstGeom>
          <a:noFill/>
        </p:spPr>
        <p:txBody>
          <a:bodyPr wrap="square">
            <a:spAutoFit/>
          </a:bodyPr>
          <a:lstStyle/>
          <a:p>
            <a:pPr algn="r">
              <a:defRPr sz="900" b="0">
                <a:solidFill>
                  <a:srgbClr val="10B981"/>
                </a:solidFill>
                <a:latin typeface="Calibri"/>
              </a:defRPr>
            </a:pPr>
            <a:r>
              <a:t>~13,000</a:t>
            </a:r>
          </a:p>
        </p:txBody>
      </p:sp>
      <p:sp>
        <p:nvSpPr>
          <p:cNvPr id="104" name="TextBox 103"/>
          <p:cNvSpPr txBox="1"/>
          <p:nvPr/>
        </p:nvSpPr>
        <p:spPr>
          <a:xfrm>
            <a:off x="5943600" y="5010912"/>
            <a:ext cx="914400" cy="228600"/>
          </a:xfrm>
          <a:prstGeom prst="rect">
            <a:avLst/>
          </a:prstGeom>
          <a:noFill/>
        </p:spPr>
        <p:txBody>
          <a:bodyPr wrap="square">
            <a:spAutoFit/>
          </a:bodyPr>
          <a:lstStyle/>
          <a:p>
            <a:pPr algn="r">
              <a:defRPr sz="900" b="1">
                <a:solidFill>
                  <a:srgbClr val="F59E0B"/>
                </a:solidFill>
                <a:latin typeface="Calibri"/>
              </a:defRPr>
            </a:pPr>
            <a:r>
              <a:t>~49%</a:t>
            </a:r>
          </a:p>
        </p:txBody>
      </p:sp>
      <p:sp>
        <p:nvSpPr>
          <p:cNvPr id="105" name="Rounded Rectangle 104"/>
          <p:cNvSpPr/>
          <p:nvPr/>
        </p:nvSpPr>
        <p:spPr>
          <a:xfrm>
            <a:off x="7223760" y="5029200"/>
            <a:ext cx="1589020"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ounded Rectangle 105"/>
          <p:cNvSpPr/>
          <p:nvPr/>
        </p:nvSpPr>
        <p:spPr>
          <a:xfrm>
            <a:off x="7223760" y="5138928"/>
            <a:ext cx="779137"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457200" y="5294376"/>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48640" y="5303520"/>
            <a:ext cx="1188720" cy="228600"/>
          </a:xfrm>
          <a:prstGeom prst="rect">
            <a:avLst/>
          </a:prstGeom>
          <a:noFill/>
        </p:spPr>
        <p:txBody>
          <a:bodyPr wrap="square">
            <a:spAutoFit/>
          </a:bodyPr>
          <a:lstStyle/>
          <a:p>
            <a:pPr algn="l">
              <a:defRPr sz="900" b="1">
                <a:solidFill>
                  <a:srgbClr val="14B8A6"/>
                </a:solidFill>
                <a:latin typeface="Calibri"/>
              </a:defRPr>
            </a:pPr>
            <a:r>
              <a:t>Ian 2026</a:t>
            </a:r>
          </a:p>
        </p:txBody>
      </p:sp>
      <p:sp>
        <p:nvSpPr>
          <p:cNvPr id="109" name="TextBox 108"/>
          <p:cNvSpPr txBox="1"/>
          <p:nvPr/>
        </p:nvSpPr>
        <p:spPr>
          <a:xfrm>
            <a:off x="1828800" y="5303520"/>
            <a:ext cx="1188720" cy="228600"/>
          </a:xfrm>
          <a:prstGeom prst="rect">
            <a:avLst/>
          </a:prstGeom>
          <a:noFill/>
        </p:spPr>
        <p:txBody>
          <a:bodyPr wrap="square">
            <a:spAutoFit/>
          </a:bodyPr>
          <a:lstStyle/>
          <a:p>
            <a:pPr algn="r">
              <a:defRPr sz="900" b="0">
                <a:solidFill>
                  <a:srgbClr val="6366F1"/>
                </a:solidFill>
                <a:latin typeface="Calibri"/>
              </a:defRPr>
            </a:pPr>
            <a:r>
              <a:t>29,802</a:t>
            </a:r>
          </a:p>
        </p:txBody>
      </p:sp>
      <p:sp>
        <p:nvSpPr>
          <p:cNvPr id="110" name="TextBox 109"/>
          <p:cNvSpPr txBox="1"/>
          <p:nvPr/>
        </p:nvSpPr>
        <p:spPr>
          <a:xfrm>
            <a:off x="3200400" y="5303520"/>
            <a:ext cx="1188720" cy="228600"/>
          </a:xfrm>
          <a:prstGeom prst="rect">
            <a:avLst/>
          </a:prstGeom>
          <a:noFill/>
        </p:spPr>
        <p:txBody>
          <a:bodyPr wrap="square">
            <a:spAutoFit/>
          </a:bodyPr>
          <a:lstStyle/>
          <a:p>
            <a:pPr algn="r">
              <a:defRPr sz="900" b="0">
                <a:solidFill>
                  <a:srgbClr val="F0F2F8"/>
                </a:solidFill>
                <a:latin typeface="Calibri"/>
              </a:defRPr>
            </a:pPr>
            <a:r>
              <a:t>23,523</a:t>
            </a:r>
          </a:p>
        </p:txBody>
      </p:sp>
      <p:sp>
        <p:nvSpPr>
          <p:cNvPr id="111" name="TextBox 110"/>
          <p:cNvSpPr txBox="1"/>
          <p:nvPr/>
        </p:nvSpPr>
        <p:spPr>
          <a:xfrm>
            <a:off x="4572000" y="5303520"/>
            <a:ext cx="1188720" cy="228600"/>
          </a:xfrm>
          <a:prstGeom prst="rect">
            <a:avLst/>
          </a:prstGeom>
          <a:noFill/>
        </p:spPr>
        <p:txBody>
          <a:bodyPr wrap="square">
            <a:spAutoFit/>
          </a:bodyPr>
          <a:lstStyle/>
          <a:p>
            <a:pPr algn="r">
              <a:defRPr sz="900" b="0">
                <a:solidFill>
                  <a:srgbClr val="10B981"/>
                </a:solidFill>
                <a:latin typeface="Calibri"/>
              </a:defRPr>
            </a:pPr>
            <a:r>
              <a:t>28,513</a:t>
            </a:r>
          </a:p>
        </p:txBody>
      </p:sp>
      <p:sp>
        <p:nvSpPr>
          <p:cNvPr id="112" name="TextBox 111"/>
          <p:cNvSpPr txBox="1"/>
          <p:nvPr/>
        </p:nvSpPr>
        <p:spPr>
          <a:xfrm>
            <a:off x="5943600" y="5303520"/>
            <a:ext cx="914400" cy="228600"/>
          </a:xfrm>
          <a:prstGeom prst="rect">
            <a:avLst/>
          </a:prstGeom>
          <a:noFill/>
        </p:spPr>
        <p:txBody>
          <a:bodyPr wrap="square">
            <a:spAutoFit/>
          </a:bodyPr>
          <a:lstStyle/>
          <a:p>
            <a:pPr algn="r">
              <a:defRPr sz="900" b="1">
                <a:solidFill>
                  <a:srgbClr val="10B981"/>
                </a:solidFill>
                <a:latin typeface="Calibri"/>
              </a:defRPr>
            </a:pPr>
            <a:r>
              <a:t>96%</a:t>
            </a:r>
          </a:p>
        </p:txBody>
      </p:sp>
      <p:sp>
        <p:nvSpPr>
          <p:cNvPr id="113" name="Rounded Rectangle 112"/>
          <p:cNvSpPr/>
          <p:nvPr/>
        </p:nvSpPr>
        <p:spPr>
          <a:xfrm>
            <a:off x="7223760" y="5321808"/>
            <a:ext cx="1786142"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7223760" y="5431536"/>
            <a:ext cx="1708887"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ounded Rectangle 114"/>
          <p:cNvSpPr/>
          <p:nvPr/>
        </p:nvSpPr>
        <p:spPr>
          <a:xfrm>
            <a:off x="457200" y="5586984"/>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548640" y="5596128"/>
            <a:ext cx="1188720" cy="228600"/>
          </a:xfrm>
          <a:prstGeom prst="rect">
            <a:avLst/>
          </a:prstGeom>
          <a:noFill/>
        </p:spPr>
        <p:txBody>
          <a:bodyPr wrap="square">
            <a:spAutoFit/>
          </a:bodyPr>
          <a:lstStyle/>
          <a:p>
            <a:pPr algn="l">
              <a:defRPr sz="900" b="1">
                <a:solidFill>
                  <a:srgbClr val="14B8A6"/>
                </a:solidFill>
                <a:latin typeface="Calibri"/>
              </a:defRPr>
            </a:pPr>
            <a:r>
              <a:t>Feb 2026</a:t>
            </a:r>
          </a:p>
        </p:txBody>
      </p:sp>
      <p:sp>
        <p:nvSpPr>
          <p:cNvPr id="117" name="TextBox 116"/>
          <p:cNvSpPr txBox="1"/>
          <p:nvPr/>
        </p:nvSpPr>
        <p:spPr>
          <a:xfrm>
            <a:off x="1828800" y="5596128"/>
            <a:ext cx="1188720" cy="228600"/>
          </a:xfrm>
          <a:prstGeom prst="rect">
            <a:avLst/>
          </a:prstGeom>
          <a:noFill/>
        </p:spPr>
        <p:txBody>
          <a:bodyPr wrap="square">
            <a:spAutoFit/>
          </a:bodyPr>
          <a:lstStyle/>
          <a:p>
            <a:pPr algn="r">
              <a:defRPr sz="900" b="0">
                <a:solidFill>
                  <a:srgbClr val="6366F1"/>
                </a:solidFill>
                <a:latin typeface="Calibri"/>
              </a:defRPr>
            </a:pPr>
            <a:r>
              <a:t>21,281</a:t>
            </a:r>
          </a:p>
        </p:txBody>
      </p:sp>
      <p:sp>
        <p:nvSpPr>
          <p:cNvPr id="118" name="TextBox 117"/>
          <p:cNvSpPr txBox="1"/>
          <p:nvPr/>
        </p:nvSpPr>
        <p:spPr>
          <a:xfrm>
            <a:off x="3200400" y="5596128"/>
            <a:ext cx="1188720" cy="228600"/>
          </a:xfrm>
          <a:prstGeom prst="rect">
            <a:avLst/>
          </a:prstGeom>
          <a:noFill/>
        </p:spPr>
        <p:txBody>
          <a:bodyPr wrap="square">
            <a:spAutoFit/>
          </a:bodyPr>
          <a:lstStyle/>
          <a:p>
            <a:pPr algn="r">
              <a:defRPr sz="900" b="0">
                <a:solidFill>
                  <a:srgbClr val="F0F2F8"/>
                </a:solidFill>
                <a:latin typeface="Calibri"/>
              </a:defRPr>
            </a:pPr>
            <a:r>
              <a:t>18,016</a:t>
            </a:r>
          </a:p>
        </p:txBody>
      </p:sp>
      <p:sp>
        <p:nvSpPr>
          <p:cNvPr id="119" name="TextBox 118"/>
          <p:cNvSpPr txBox="1"/>
          <p:nvPr/>
        </p:nvSpPr>
        <p:spPr>
          <a:xfrm>
            <a:off x="4572000" y="5596128"/>
            <a:ext cx="1188720" cy="228600"/>
          </a:xfrm>
          <a:prstGeom prst="rect">
            <a:avLst/>
          </a:prstGeom>
          <a:noFill/>
        </p:spPr>
        <p:txBody>
          <a:bodyPr wrap="square">
            <a:spAutoFit/>
          </a:bodyPr>
          <a:lstStyle/>
          <a:p>
            <a:pPr algn="r">
              <a:defRPr sz="900" b="0">
                <a:solidFill>
                  <a:srgbClr val="10B981"/>
                </a:solidFill>
                <a:latin typeface="Calibri"/>
              </a:defRPr>
            </a:pPr>
            <a:r>
              <a:t>19,449</a:t>
            </a:r>
          </a:p>
        </p:txBody>
      </p:sp>
      <p:sp>
        <p:nvSpPr>
          <p:cNvPr id="120" name="TextBox 119"/>
          <p:cNvSpPr txBox="1"/>
          <p:nvPr/>
        </p:nvSpPr>
        <p:spPr>
          <a:xfrm>
            <a:off x="5943600" y="5596128"/>
            <a:ext cx="914400" cy="228600"/>
          </a:xfrm>
          <a:prstGeom prst="rect">
            <a:avLst/>
          </a:prstGeom>
          <a:noFill/>
        </p:spPr>
        <p:txBody>
          <a:bodyPr wrap="square">
            <a:spAutoFit/>
          </a:bodyPr>
          <a:lstStyle/>
          <a:p>
            <a:pPr algn="r">
              <a:defRPr sz="900" b="1">
                <a:solidFill>
                  <a:srgbClr val="10B981"/>
                </a:solidFill>
                <a:latin typeface="Calibri"/>
              </a:defRPr>
            </a:pPr>
            <a:r>
              <a:t>91%</a:t>
            </a:r>
          </a:p>
        </p:txBody>
      </p:sp>
      <p:sp>
        <p:nvSpPr>
          <p:cNvPr id="121" name="Rounded Rectangle 120"/>
          <p:cNvSpPr/>
          <p:nvPr/>
        </p:nvSpPr>
        <p:spPr>
          <a:xfrm>
            <a:off x="7223760" y="5614416"/>
            <a:ext cx="1275447"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unded Rectangle 121"/>
          <p:cNvSpPr/>
          <p:nvPr/>
        </p:nvSpPr>
        <p:spPr>
          <a:xfrm>
            <a:off x="7223760" y="5724144"/>
            <a:ext cx="1165649"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ounded Rectangle 122"/>
          <p:cNvSpPr/>
          <p:nvPr/>
        </p:nvSpPr>
        <p:spPr>
          <a:xfrm>
            <a:off x="457200" y="5879592"/>
            <a:ext cx="11247120" cy="256032"/>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48640" y="5888736"/>
            <a:ext cx="1188720" cy="228600"/>
          </a:xfrm>
          <a:prstGeom prst="rect">
            <a:avLst/>
          </a:prstGeom>
          <a:noFill/>
        </p:spPr>
        <p:txBody>
          <a:bodyPr wrap="square">
            <a:spAutoFit/>
          </a:bodyPr>
          <a:lstStyle/>
          <a:p>
            <a:pPr algn="l">
              <a:defRPr sz="900" b="1">
                <a:solidFill>
                  <a:srgbClr val="14B8A6"/>
                </a:solidFill>
                <a:latin typeface="Calibri"/>
              </a:defRPr>
            </a:pPr>
            <a:r>
              <a:t>Mar 2026</a:t>
            </a:r>
          </a:p>
        </p:txBody>
      </p:sp>
      <p:sp>
        <p:nvSpPr>
          <p:cNvPr id="125" name="TextBox 124"/>
          <p:cNvSpPr txBox="1"/>
          <p:nvPr/>
        </p:nvSpPr>
        <p:spPr>
          <a:xfrm>
            <a:off x="1828800" y="5888736"/>
            <a:ext cx="1188720" cy="228600"/>
          </a:xfrm>
          <a:prstGeom prst="rect">
            <a:avLst/>
          </a:prstGeom>
          <a:noFill/>
        </p:spPr>
        <p:txBody>
          <a:bodyPr wrap="square">
            <a:spAutoFit/>
          </a:bodyPr>
          <a:lstStyle/>
          <a:p>
            <a:pPr algn="r">
              <a:defRPr sz="900" b="0">
                <a:solidFill>
                  <a:srgbClr val="6366F1"/>
                </a:solidFill>
                <a:latin typeface="Calibri"/>
              </a:defRPr>
            </a:pPr>
            <a:r>
              <a:t>28,653</a:t>
            </a:r>
          </a:p>
        </p:txBody>
      </p:sp>
      <p:sp>
        <p:nvSpPr>
          <p:cNvPr id="126" name="TextBox 125"/>
          <p:cNvSpPr txBox="1"/>
          <p:nvPr/>
        </p:nvSpPr>
        <p:spPr>
          <a:xfrm>
            <a:off x="3200400" y="5888736"/>
            <a:ext cx="1188720" cy="228600"/>
          </a:xfrm>
          <a:prstGeom prst="rect">
            <a:avLst/>
          </a:prstGeom>
          <a:noFill/>
        </p:spPr>
        <p:txBody>
          <a:bodyPr wrap="square">
            <a:spAutoFit/>
          </a:bodyPr>
          <a:lstStyle/>
          <a:p>
            <a:pPr algn="r">
              <a:defRPr sz="900" b="0">
                <a:solidFill>
                  <a:srgbClr val="F0F2F8"/>
                </a:solidFill>
                <a:latin typeface="Calibri"/>
              </a:defRPr>
            </a:pPr>
            <a:r>
              <a:t>24,882</a:t>
            </a:r>
          </a:p>
        </p:txBody>
      </p:sp>
      <p:sp>
        <p:nvSpPr>
          <p:cNvPr id="127" name="TextBox 126"/>
          <p:cNvSpPr txBox="1"/>
          <p:nvPr/>
        </p:nvSpPr>
        <p:spPr>
          <a:xfrm>
            <a:off x="4572000" y="5888736"/>
            <a:ext cx="1188720" cy="228600"/>
          </a:xfrm>
          <a:prstGeom prst="rect">
            <a:avLst/>
          </a:prstGeom>
          <a:noFill/>
        </p:spPr>
        <p:txBody>
          <a:bodyPr wrap="square">
            <a:spAutoFit/>
          </a:bodyPr>
          <a:lstStyle/>
          <a:p>
            <a:pPr algn="r">
              <a:defRPr sz="900" b="0">
                <a:solidFill>
                  <a:srgbClr val="10B981"/>
                </a:solidFill>
                <a:latin typeface="Calibri"/>
              </a:defRPr>
            </a:pPr>
            <a:r>
              <a:t>17,803</a:t>
            </a:r>
          </a:p>
        </p:txBody>
      </p:sp>
      <p:sp>
        <p:nvSpPr>
          <p:cNvPr id="128" name="TextBox 127"/>
          <p:cNvSpPr txBox="1"/>
          <p:nvPr/>
        </p:nvSpPr>
        <p:spPr>
          <a:xfrm>
            <a:off x="5943600" y="5888736"/>
            <a:ext cx="914400" cy="228600"/>
          </a:xfrm>
          <a:prstGeom prst="rect">
            <a:avLst/>
          </a:prstGeom>
          <a:noFill/>
        </p:spPr>
        <p:txBody>
          <a:bodyPr wrap="square">
            <a:spAutoFit/>
          </a:bodyPr>
          <a:lstStyle/>
          <a:p>
            <a:pPr algn="r">
              <a:defRPr sz="900" b="1">
                <a:solidFill>
                  <a:srgbClr val="10B981"/>
                </a:solidFill>
                <a:latin typeface="Calibri"/>
              </a:defRPr>
            </a:pPr>
            <a:r>
              <a:t>62%</a:t>
            </a:r>
          </a:p>
        </p:txBody>
      </p:sp>
      <p:sp>
        <p:nvSpPr>
          <p:cNvPr id="129" name="Rounded Rectangle 128"/>
          <p:cNvSpPr/>
          <p:nvPr/>
        </p:nvSpPr>
        <p:spPr>
          <a:xfrm>
            <a:off x="7223760" y="5907024"/>
            <a:ext cx="1717278"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ounded Rectangle 129"/>
          <p:cNvSpPr/>
          <p:nvPr/>
        </p:nvSpPr>
        <p:spPr>
          <a:xfrm>
            <a:off x="7223760" y="6016752"/>
            <a:ext cx="1066998"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ounded Rectangle 130"/>
          <p:cNvSpPr/>
          <p:nvPr/>
        </p:nvSpPr>
        <p:spPr>
          <a:xfrm>
            <a:off x="457200" y="6172200"/>
            <a:ext cx="11247120" cy="256032"/>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548640" y="6181344"/>
            <a:ext cx="1188720" cy="228600"/>
          </a:xfrm>
          <a:prstGeom prst="rect">
            <a:avLst/>
          </a:prstGeom>
          <a:noFill/>
        </p:spPr>
        <p:txBody>
          <a:bodyPr wrap="square">
            <a:spAutoFit/>
          </a:bodyPr>
          <a:lstStyle/>
          <a:p>
            <a:pPr algn="l">
              <a:defRPr sz="900" b="1">
                <a:solidFill>
                  <a:srgbClr val="14B8A6"/>
                </a:solidFill>
                <a:latin typeface="Calibri"/>
              </a:defRPr>
            </a:pPr>
            <a:r>
              <a:t>Apr 2026*</a:t>
            </a:r>
          </a:p>
        </p:txBody>
      </p:sp>
      <p:sp>
        <p:nvSpPr>
          <p:cNvPr id="133" name="TextBox 132"/>
          <p:cNvSpPr txBox="1"/>
          <p:nvPr/>
        </p:nvSpPr>
        <p:spPr>
          <a:xfrm>
            <a:off x="1828800" y="6181344"/>
            <a:ext cx="1188720" cy="228600"/>
          </a:xfrm>
          <a:prstGeom prst="rect">
            <a:avLst/>
          </a:prstGeom>
          <a:noFill/>
        </p:spPr>
        <p:txBody>
          <a:bodyPr wrap="square">
            <a:spAutoFit/>
          </a:bodyPr>
          <a:lstStyle/>
          <a:p>
            <a:pPr algn="r">
              <a:defRPr sz="900" b="0">
                <a:solidFill>
                  <a:srgbClr val="6366F1"/>
                </a:solidFill>
                <a:latin typeface="Calibri"/>
              </a:defRPr>
            </a:pPr>
            <a:r>
              <a:t>10,739</a:t>
            </a:r>
          </a:p>
        </p:txBody>
      </p:sp>
      <p:sp>
        <p:nvSpPr>
          <p:cNvPr id="134" name="TextBox 133"/>
          <p:cNvSpPr txBox="1"/>
          <p:nvPr/>
        </p:nvSpPr>
        <p:spPr>
          <a:xfrm>
            <a:off x="3200400" y="6181344"/>
            <a:ext cx="1188720" cy="228600"/>
          </a:xfrm>
          <a:prstGeom prst="rect">
            <a:avLst/>
          </a:prstGeom>
          <a:noFill/>
        </p:spPr>
        <p:txBody>
          <a:bodyPr wrap="square">
            <a:spAutoFit/>
          </a:bodyPr>
          <a:lstStyle/>
          <a:p>
            <a:pPr algn="r">
              <a:defRPr sz="900" b="0">
                <a:solidFill>
                  <a:srgbClr val="F0F2F8"/>
                </a:solidFill>
                <a:latin typeface="Calibri"/>
              </a:defRPr>
            </a:pPr>
            <a:r>
              <a:t>9,521</a:t>
            </a:r>
          </a:p>
        </p:txBody>
      </p:sp>
      <p:sp>
        <p:nvSpPr>
          <p:cNvPr id="135" name="TextBox 134"/>
          <p:cNvSpPr txBox="1"/>
          <p:nvPr/>
        </p:nvSpPr>
        <p:spPr>
          <a:xfrm>
            <a:off x="4572000" y="6181344"/>
            <a:ext cx="1188720" cy="228600"/>
          </a:xfrm>
          <a:prstGeom prst="rect">
            <a:avLst/>
          </a:prstGeom>
          <a:noFill/>
        </p:spPr>
        <p:txBody>
          <a:bodyPr wrap="square">
            <a:spAutoFit/>
          </a:bodyPr>
          <a:lstStyle/>
          <a:p>
            <a:pPr algn="r">
              <a:defRPr sz="900" b="0">
                <a:solidFill>
                  <a:srgbClr val="10B981"/>
                </a:solidFill>
                <a:latin typeface="Calibri"/>
              </a:defRPr>
            </a:pPr>
            <a:r>
              <a:t>9,742</a:t>
            </a:r>
          </a:p>
        </p:txBody>
      </p:sp>
      <p:sp>
        <p:nvSpPr>
          <p:cNvPr id="136" name="TextBox 135"/>
          <p:cNvSpPr txBox="1"/>
          <p:nvPr/>
        </p:nvSpPr>
        <p:spPr>
          <a:xfrm>
            <a:off x="5943600" y="6181344"/>
            <a:ext cx="914400" cy="228600"/>
          </a:xfrm>
          <a:prstGeom prst="rect">
            <a:avLst/>
          </a:prstGeom>
          <a:noFill/>
        </p:spPr>
        <p:txBody>
          <a:bodyPr wrap="square">
            <a:spAutoFit/>
          </a:bodyPr>
          <a:lstStyle/>
          <a:p>
            <a:pPr algn="r">
              <a:defRPr sz="900" b="1">
                <a:solidFill>
                  <a:srgbClr val="10B981"/>
                </a:solidFill>
                <a:latin typeface="Calibri"/>
              </a:defRPr>
            </a:pPr>
            <a:r>
              <a:t>91%</a:t>
            </a:r>
          </a:p>
        </p:txBody>
      </p:sp>
      <p:sp>
        <p:nvSpPr>
          <p:cNvPr id="137" name="Rounded Rectangle 136"/>
          <p:cNvSpPr/>
          <p:nvPr/>
        </p:nvSpPr>
        <p:spPr>
          <a:xfrm>
            <a:off x="7223760" y="6199632"/>
            <a:ext cx="643627" cy="91440"/>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ounded Rectangle 137"/>
          <p:cNvSpPr/>
          <p:nvPr/>
        </p:nvSpPr>
        <p:spPr>
          <a:xfrm>
            <a:off x="7223760" y="6309360"/>
            <a:ext cx="583873" cy="91440"/>
          </a:xfrm>
          <a:prstGeom prst="roundRect">
            <a:avLst>
              <a:gd name="adj" fmla="val 3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ounded Rectangle 138"/>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640080" y="6473952"/>
            <a:ext cx="2743200" cy="274320"/>
          </a:xfrm>
          <a:prstGeom prst="rect">
            <a:avLst/>
          </a:prstGeom>
          <a:noFill/>
        </p:spPr>
        <p:txBody>
          <a:bodyPr wrap="square">
            <a:spAutoFit/>
          </a:bodyPr>
          <a:lstStyle/>
          <a:p>
            <a:pPr algn="l">
              <a:defRPr sz="900" b="0">
                <a:solidFill>
                  <a:srgbClr val="8B95B0"/>
                </a:solidFill>
                <a:latin typeface="Calibri"/>
              </a:defRPr>
            </a:pPr>
            <a:r>
              <a:t>■ Shopify (toate sesiunile)   ■ GA4 (doar cu cookies)</a:t>
            </a:r>
          </a:p>
        </p:txBody>
      </p:sp>
      <p:sp>
        <p:nvSpPr>
          <p:cNvPr id="141" name="TextBox 140"/>
          <p:cNvSpPr txBox="1"/>
          <p:nvPr/>
        </p:nvSpPr>
        <p:spPr>
          <a:xfrm>
            <a:off x="4572000" y="6473952"/>
            <a:ext cx="6858000" cy="274320"/>
          </a:xfrm>
          <a:prstGeom prst="rect">
            <a:avLst/>
          </a:prstGeom>
          <a:noFill/>
        </p:spPr>
        <p:txBody>
          <a:bodyPr wrap="square">
            <a:spAutoFit/>
          </a:bodyPr>
          <a:lstStyle/>
          <a:p>
            <a:pPr algn="l">
              <a:defRPr sz="900" b="0">
                <a:solidFill>
                  <a:srgbClr val="F59E0B"/>
                </a:solidFill>
                <a:latin typeface="Calibri"/>
              </a:defRPr>
            </a:pPr>
            <a:r>
              <a:t>💡 În 2025 GA4 vedea ~40-50% din trafic. În 2026 acuratețea s-a îmbunătățit la 62-96%.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DICȚIONAR SURSE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Ce înseamnă fiecare sursă de trafic?</a:t>
            </a:r>
          </a:p>
        </p:txBody>
      </p:sp>
      <p:sp>
        <p:nvSpPr>
          <p:cNvPr id="4" name="Rounded Rectangle 3"/>
          <p:cNvSpPr/>
          <p:nvPr/>
        </p:nvSpPr>
        <p:spPr>
          <a:xfrm>
            <a:off x="457200" y="137160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371600"/>
            <a:ext cx="64008" cy="118872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44752"/>
            <a:ext cx="3200400" cy="228600"/>
          </a:xfrm>
          <a:prstGeom prst="rect">
            <a:avLst/>
          </a:prstGeom>
          <a:noFill/>
        </p:spPr>
        <p:txBody>
          <a:bodyPr wrap="square">
            <a:spAutoFit/>
          </a:bodyPr>
          <a:lstStyle/>
          <a:p>
            <a:pPr algn="l">
              <a:defRPr sz="1100" b="1">
                <a:solidFill>
                  <a:srgbClr val="6366F1"/>
                </a:solidFill>
                <a:latin typeface="Calibri"/>
              </a:defRPr>
            </a:pPr>
            <a:r>
              <a:t>Cross-network (PMax)</a:t>
            </a:r>
          </a:p>
        </p:txBody>
      </p:sp>
      <p:sp>
        <p:nvSpPr>
          <p:cNvPr id="7" name="TextBox 6"/>
          <p:cNvSpPr txBox="1"/>
          <p:nvPr/>
        </p:nvSpPr>
        <p:spPr>
          <a:xfrm>
            <a:off x="3931920" y="1444752"/>
            <a:ext cx="1828800" cy="228600"/>
          </a:xfrm>
          <a:prstGeom prst="rect">
            <a:avLst/>
          </a:prstGeom>
          <a:noFill/>
        </p:spPr>
        <p:txBody>
          <a:bodyPr wrap="square">
            <a:spAutoFit/>
          </a:bodyPr>
          <a:lstStyle/>
          <a:p>
            <a:pPr algn="r">
              <a:defRPr sz="900" b="0">
                <a:solidFill>
                  <a:srgbClr val="8B95B0"/>
                </a:solidFill>
                <a:latin typeface="Calibri"/>
              </a:defRPr>
            </a:pPr>
            <a:r>
              <a:t>Google Performance Max</a:t>
            </a:r>
          </a:p>
        </p:txBody>
      </p:sp>
      <p:sp>
        <p:nvSpPr>
          <p:cNvPr id="8" name="TextBox 7"/>
          <p:cNvSpPr txBox="1"/>
          <p:nvPr/>
        </p:nvSpPr>
        <p:spPr>
          <a:xfrm>
            <a:off x="640080" y="1737360"/>
            <a:ext cx="5120640" cy="731520"/>
          </a:xfrm>
          <a:prstGeom prst="rect">
            <a:avLst/>
          </a:prstGeom>
          <a:noFill/>
        </p:spPr>
        <p:txBody>
          <a:bodyPr wrap="square">
            <a:spAutoFit/>
          </a:bodyPr>
          <a:lstStyle/>
          <a:p>
            <a:pPr algn="l">
              <a:defRPr sz="1000" b="0">
                <a:solidFill>
                  <a:srgbClr val="F0F2F8"/>
                </a:solidFill>
                <a:latin typeface="Calibri"/>
              </a:defRPr>
            </a:pPr>
            <a:r>
              <a:t>Campanii automate Google care afișează reclame pe Search, YouTube, Display, Gmail și Discover simultan. Google decide unde apare reclama. La noi: Campania 'PMax Longevity' = cea mai mare.</a:t>
            </a:r>
          </a:p>
        </p:txBody>
      </p:sp>
      <p:sp>
        <p:nvSpPr>
          <p:cNvPr id="9" name="Rounded Rectangle 8"/>
          <p:cNvSpPr/>
          <p:nvPr/>
        </p:nvSpPr>
        <p:spPr>
          <a:xfrm>
            <a:off x="6217920" y="137160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17920" y="1371600"/>
            <a:ext cx="64008" cy="11887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444752"/>
            <a:ext cx="3200400" cy="228600"/>
          </a:xfrm>
          <a:prstGeom prst="rect">
            <a:avLst/>
          </a:prstGeom>
          <a:noFill/>
        </p:spPr>
        <p:txBody>
          <a:bodyPr wrap="square">
            <a:spAutoFit/>
          </a:bodyPr>
          <a:lstStyle/>
          <a:p>
            <a:pPr algn="l">
              <a:defRPr sz="1100" b="1">
                <a:solidFill>
                  <a:srgbClr val="8B5CF6"/>
                </a:solidFill>
                <a:latin typeface="Calibri"/>
              </a:defRPr>
            </a:pPr>
            <a:r>
              <a:t>Paid Search</a:t>
            </a:r>
          </a:p>
        </p:txBody>
      </p:sp>
      <p:sp>
        <p:nvSpPr>
          <p:cNvPr id="12" name="TextBox 11"/>
          <p:cNvSpPr txBox="1"/>
          <p:nvPr/>
        </p:nvSpPr>
        <p:spPr>
          <a:xfrm>
            <a:off x="9692640" y="1444752"/>
            <a:ext cx="1828800" cy="228600"/>
          </a:xfrm>
          <a:prstGeom prst="rect">
            <a:avLst/>
          </a:prstGeom>
          <a:noFill/>
        </p:spPr>
        <p:txBody>
          <a:bodyPr wrap="square">
            <a:spAutoFit/>
          </a:bodyPr>
          <a:lstStyle/>
          <a:p>
            <a:pPr algn="r">
              <a:defRPr sz="900" b="0">
                <a:solidFill>
                  <a:srgbClr val="8B95B0"/>
                </a:solidFill>
                <a:latin typeface="Calibri"/>
              </a:defRPr>
            </a:pPr>
            <a:r>
              <a:t>Reclame pe Google Search</a:t>
            </a:r>
          </a:p>
        </p:txBody>
      </p:sp>
      <p:sp>
        <p:nvSpPr>
          <p:cNvPr id="13" name="TextBox 12"/>
          <p:cNvSpPr txBox="1"/>
          <p:nvPr/>
        </p:nvSpPr>
        <p:spPr>
          <a:xfrm>
            <a:off x="6400800" y="1737360"/>
            <a:ext cx="5120640" cy="731520"/>
          </a:xfrm>
          <a:prstGeom prst="rect">
            <a:avLst/>
          </a:prstGeom>
          <a:noFill/>
        </p:spPr>
        <p:txBody>
          <a:bodyPr wrap="square">
            <a:spAutoFit/>
          </a:bodyPr>
          <a:lstStyle/>
          <a:p>
            <a:pPr algn="l">
              <a:defRPr sz="1000" b="0">
                <a:solidFill>
                  <a:srgbClr val="F0F2F8"/>
                </a:solidFill>
                <a:latin typeface="Calibri"/>
              </a:defRPr>
            </a:pPr>
            <a:r>
              <a:t>Când cineva caută pe Google (ex: 'vitamine personalizate') și dă click pe reclama noastră (textul de sus din Google). Include și campaniile 'Brand Protect' (când caută 'Zitamine').</a:t>
            </a:r>
          </a:p>
        </p:txBody>
      </p:sp>
      <p:sp>
        <p:nvSpPr>
          <p:cNvPr id="14" name="Rounded Rectangle 13"/>
          <p:cNvSpPr/>
          <p:nvPr/>
        </p:nvSpPr>
        <p:spPr>
          <a:xfrm>
            <a:off x="457200" y="269748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2697480"/>
            <a:ext cx="64008" cy="1188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770632"/>
            <a:ext cx="3200400" cy="228600"/>
          </a:xfrm>
          <a:prstGeom prst="rect">
            <a:avLst/>
          </a:prstGeom>
          <a:noFill/>
        </p:spPr>
        <p:txBody>
          <a:bodyPr wrap="square">
            <a:spAutoFit/>
          </a:bodyPr>
          <a:lstStyle/>
          <a:p>
            <a:pPr algn="l">
              <a:defRPr sz="1100" b="1">
                <a:solidFill>
                  <a:srgbClr val="10B981"/>
                </a:solidFill>
                <a:latin typeface="Calibri"/>
              </a:defRPr>
            </a:pPr>
            <a:r>
              <a:t>Organic Search</a:t>
            </a:r>
          </a:p>
        </p:txBody>
      </p:sp>
      <p:sp>
        <p:nvSpPr>
          <p:cNvPr id="17" name="TextBox 16"/>
          <p:cNvSpPr txBox="1"/>
          <p:nvPr/>
        </p:nvSpPr>
        <p:spPr>
          <a:xfrm>
            <a:off x="3931920" y="2770632"/>
            <a:ext cx="1828800" cy="228600"/>
          </a:xfrm>
          <a:prstGeom prst="rect">
            <a:avLst/>
          </a:prstGeom>
          <a:noFill/>
        </p:spPr>
        <p:txBody>
          <a:bodyPr wrap="square">
            <a:spAutoFit/>
          </a:bodyPr>
          <a:lstStyle/>
          <a:p>
            <a:pPr algn="r">
              <a:defRPr sz="900" b="0">
                <a:solidFill>
                  <a:srgbClr val="8B95B0"/>
                </a:solidFill>
                <a:latin typeface="Calibri"/>
              </a:defRPr>
            </a:pPr>
            <a:r>
              <a:t>Căutări gratuite pe Google</a:t>
            </a:r>
          </a:p>
        </p:txBody>
      </p:sp>
      <p:sp>
        <p:nvSpPr>
          <p:cNvPr id="18" name="TextBox 17"/>
          <p:cNvSpPr txBox="1"/>
          <p:nvPr/>
        </p:nvSpPr>
        <p:spPr>
          <a:xfrm>
            <a:off x="640080" y="3063240"/>
            <a:ext cx="5120640" cy="731520"/>
          </a:xfrm>
          <a:prstGeom prst="rect">
            <a:avLst/>
          </a:prstGeom>
          <a:noFill/>
        </p:spPr>
        <p:txBody>
          <a:bodyPr wrap="square">
            <a:spAutoFit/>
          </a:bodyPr>
          <a:lstStyle/>
          <a:p>
            <a:pPr algn="l">
              <a:defRPr sz="1000" b="0">
                <a:solidFill>
                  <a:srgbClr val="F0F2F8"/>
                </a:solidFill>
                <a:latin typeface="Calibri"/>
              </a:defRPr>
            </a:pPr>
            <a:r>
              <a:t>Oameni care ne-au găsit pe Google fără să plătim. Vin din articolele de blog (SEO): cura cu magneziu, post intermitent, melatonină. Cu cât avem mai mult conținut bun, cu atât crește.</a:t>
            </a:r>
          </a:p>
        </p:txBody>
      </p:sp>
      <p:sp>
        <p:nvSpPr>
          <p:cNvPr id="19" name="Rounded Rectangle 18"/>
          <p:cNvSpPr/>
          <p:nvPr/>
        </p:nvSpPr>
        <p:spPr>
          <a:xfrm>
            <a:off x="6217920" y="269748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17920" y="2697480"/>
            <a:ext cx="64008" cy="118872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2770632"/>
            <a:ext cx="3200400" cy="228600"/>
          </a:xfrm>
          <a:prstGeom prst="rect">
            <a:avLst/>
          </a:prstGeom>
          <a:noFill/>
        </p:spPr>
        <p:txBody>
          <a:bodyPr wrap="square">
            <a:spAutoFit/>
          </a:bodyPr>
          <a:lstStyle/>
          <a:p>
            <a:pPr algn="l">
              <a:defRPr sz="1100" b="1">
                <a:solidFill>
                  <a:srgbClr val="EC4899"/>
                </a:solidFill>
                <a:latin typeface="Calibri"/>
              </a:defRPr>
            </a:pPr>
            <a:r>
              <a:t>Paid Social</a:t>
            </a:r>
          </a:p>
        </p:txBody>
      </p:sp>
      <p:sp>
        <p:nvSpPr>
          <p:cNvPr id="22" name="TextBox 21"/>
          <p:cNvSpPr txBox="1"/>
          <p:nvPr/>
        </p:nvSpPr>
        <p:spPr>
          <a:xfrm>
            <a:off x="9692640" y="2770632"/>
            <a:ext cx="1828800" cy="228600"/>
          </a:xfrm>
          <a:prstGeom prst="rect">
            <a:avLst/>
          </a:prstGeom>
          <a:noFill/>
        </p:spPr>
        <p:txBody>
          <a:bodyPr wrap="square">
            <a:spAutoFit/>
          </a:bodyPr>
          <a:lstStyle/>
          <a:p>
            <a:pPr algn="r">
              <a:defRPr sz="900" b="0">
                <a:solidFill>
                  <a:srgbClr val="8B95B0"/>
                </a:solidFill>
                <a:latin typeface="Calibri"/>
              </a:defRPr>
            </a:pPr>
            <a:r>
              <a:t>Reclame pe Meta (FB + IG) și TikTok</a:t>
            </a:r>
          </a:p>
        </p:txBody>
      </p:sp>
      <p:sp>
        <p:nvSpPr>
          <p:cNvPr id="23" name="TextBox 22"/>
          <p:cNvSpPr txBox="1"/>
          <p:nvPr/>
        </p:nvSpPr>
        <p:spPr>
          <a:xfrm>
            <a:off x="6400800" y="3063240"/>
            <a:ext cx="5120640" cy="731520"/>
          </a:xfrm>
          <a:prstGeom prst="rect">
            <a:avLst/>
          </a:prstGeom>
          <a:noFill/>
        </p:spPr>
        <p:txBody>
          <a:bodyPr wrap="square">
            <a:spAutoFit/>
          </a:bodyPr>
          <a:lstStyle/>
          <a:p>
            <a:pPr algn="l">
              <a:defRPr sz="1000" b="0">
                <a:solidFill>
                  <a:srgbClr val="F0F2F8"/>
                </a:solidFill>
                <a:latin typeface="Calibri"/>
              </a:defRPr>
            </a:pPr>
            <a:r>
              <a:t>Click-uri pe reclamele noastre de pe Facebook, Instagram și TikTok Ads. Include campanii Awareness, Retargeting (RMKT) și campanii specifice (ex: 'Femei RMKT', 'Imunitate').</a:t>
            </a:r>
          </a:p>
        </p:txBody>
      </p:sp>
      <p:sp>
        <p:nvSpPr>
          <p:cNvPr id="24" name="Rounded Rectangle 23"/>
          <p:cNvSpPr/>
          <p:nvPr/>
        </p:nvSpPr>
        <p:spPr>
          <a:xfrm>
            <a:off x="457200" y="402336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57200" y="4023360"/>
            <a:ext cx="64008" cy="11887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4096512"/>
            <a:ext cx="3200400" cy="228600"/>
          </a:xfrm>
          <a:prstGeom prst="rect">
            <a:avLst/>
          </a:prstGeom>
          <a:noFill/>
        </p:spPr>
        <p:txBody>
          <a:bodyPr wrap="square">
            <a:spAutoFit/>
          </a:bodyPr>
          <a:lstStyle/>
          <a:p>
            <a:pPr algn="l">
              <a:defRPr sz="1100" b="1">
                <a:solidFill>
                  <a:srgbClr val="F59E0B"/>
                </a:solidFill>
                <a:latin typeface="Calibri"/>
              </a:defRPr>
            </a:pPr>
            <a:r>
              <a:t>Direct</a:t>
            </a:r>
          </a:p>
        </p:txBody>
      </p:sp>
      <p:sp>
        <p:nvSpPr>
          <p:cNvPr id="27" name="TextBox 26"/>
          <p:cNvSpPr txBox="1"/>
          <p:nvPr/>
        </p:nvSpPr>
        <p:spPr>
          <a:xfrm>
            <a:off x="3931920" y="4096512"/>
            <a:ext cx="1828800" cy="228600"/>
          </a:xfrm>
          <a:prstGeom prst="rect">
            <a:avLst/>
          </a:prstGeom>
          <a:noFill/>
        </p:spPr>
        <p:txBody>
          <a:bodyPr wrap="square">
            <a:spAutoFit/>
          </a:bodyPr>
          <a:lstStyle/>
          <a:p>
            <a:pPr algn="r">
              <a:defRPr sz="900" b="0">
                <a:solidFill>
                  <a:srgbClr val="8B95B0"/>
                </a:solidFill>
                <a:latin typeface="Calibri"/>
              </a:defRPr>
            </a:pPr>
            <a:r>
              <a:t>Acces direct pe site</a:t>
            </a:r>
          </a:p>
        </p:txBody>
      </p:sp>
      <p:sp>
        <p:nvSpPr>
          <p:cNvPr id="28" name="TextBox 27"/>
          <p:cNvSpPr txBox="1"/>
          <p:nvPr/>
        </p:nvSpPr>
        <p:spPr>
          <a:xfrm>
            <a:off x="640080" y="4389120"/>
            <a:ext cx="5120640" cy="731520"/>
          </a:xfrm>
          <a:prstGeom prst="rect">
            <a:avLst/>
          </a:prstGeom>
          <a:noFill/>
        </p:spPr>
        <p:txBody>
          <a:bodyPr wrap="square">
            <a:spAutoFit/>
          </a:bodyPr>
          <a:lstStyle/>
          <a:p>
            <a:pPr algn="l">
              <a:defRPr sz="1000" b="0">
                <a:solidFill>
                  <a:srgbClr val="F0F2F8"/>
                </a:solidFill>
                <a:latin typeface="Calibri"/>
              </a:defRPr>
            </a:pPr>
            <a:r>
              <a:t>Au tastat zitamine.ro direct în browser, au folosit un bookmark, sau vin din surse netrackabile (WhatsApp, SMS, linkuri din PDF). De obicei = clienți fideli care cunosc brandul.</a:t>
            </a:r>
          </a:p>
        </p:txBody>
      </p:sp>
      <p:sp>
        <p:nvSpPr>
          <p:cNvPr id="29" name="Rounded Rectangle 28"/>
          <p:cNvSpPr/>
          <p:nvPr/>
        </p:nvSpPr>
        <p:spPr>
          <a:xfrm>
            <a:off x="6217920" y="402336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17920" y="4023360"/>
            <a:ext cx="64008" cy="11887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4096512"/>
            <a:ext cx="3200400" cy="228600"/>
          </a:xfrm>
          <a:prstGeom prst="rect">
            <a:avLst/>
          </a:prstGeom>
          <a:noFill/>
        </p:spPr>
        <p:txBody>
          <a:bodyPr wrap="square">
            <a:spAutoFit/>
          </a:bodyPr>
          <a:lstStyle/>
          <a:p>
            <a:pPr algn="l">
              <a:defRPr sz="1100" b="1">
                <a:solidFill>
                  <a:srgbClr val="06B6D4"/>
                </a:solidFill>
                <a:latin typeface="Calibri"/>
              </a:defRPr>
            </a:pPr>
            <a:r>
              <a:t>Email (Klaviyo)</a:t>
            </a:r>
          </a:p>
        </p:txBody>
      </p:sp>
      <p:sp>
        <p:nvSpPr>
          <p:cNvPr id="32" name="TextBox 31"/>
          <p:cNvSpPr txBox="1"/>
          <p:nvPr/>
        </p:nvSpPr>
        <p:spPr>
          <a:xfrm>
            <a:off x="9692640" y="4096512"/>
            <a:ext cx="1828800" cy="228600"/>
          </a:xfrm>
          <a:prstGeom prst="rect">
            <a:avLst/>
          </a:prstGeom>
          <a:noFill/>
        </p:spPr>
        <p:txBody>
          <a:bodyPr wrap="square">
            <a:spAutoFit/>
          </a:bodyPr>
          <a:lstStyle/>
          <a:p>
            <a:pPr algn="r">
              <a:defRPr sz="900" b="0">
                <a:solidFill>
                  <a:srgbClr val="8B95B0"/>
                </a:solidFill>
                <a:latin typeface="Calibri"/>
              </a:defRPr>
            </a:pPr>
            <a:r>
              <a:t>Email-uri marketing și automate</a:t>
            </a:r>
          </a:p>
        </p:txBody>
      </p:sp>
      <p:sp>
        <p:nvSpPr>
          <p:cNvPr id="33" name="TextBox 32"/>
          <p:cNvSpPr txBox="1"/>
          <p:nvPr/>
        </p:nvSpPr>
        <p:spPr>
          <a:xfrm>
            <a:off x="6400800" y="4389120"/>
            <a:ext cx="5120640" cy="731520"/>
          </a:xfrm>
          <a:prstGeom prst="rect">
            <a:avLst/>
          </a:prstGeom>
          <a:noFill/>
        </p:spPr>
        <p:txBody>
          <a:bodyPr wrap="square">
            <a:spAutoFit/>
          </a:bodyPr>
          <a:lstStyle/>
          <a:p>
            <a:pPr algn="l">
              <a:defRPr sz="1000" b="0">
                <a:solidFill>
                  <a:srgbClr val="F0F2F8"/>
                </a:solidFill>
                <a:latin typeface="Calibri"/>
              </a:defRPr>
            </a:pPr>
            <a:r>
              <a:t>Click-uri din newsletter-ele și email-urile automate trimise prin Klaviyo: campanii promoționale, Welcome Series, Abandoned Cart, Post-Purchase. Canal cu engagement foarte bun.</a:t>
            </a:r>
          </a:p>
        </p:txBody>
      </p:sp>
      <p:sp>
        <p:nvSpPr>
          <p:cNvPr id="34" name="Rounded Rectangle 33"/>
          <p:cNvSpPr/>
          <p:nvPr/>
        </p:nvSpPr>
        <p:spPr>
          <a:xfrm>
            <a:off x="457200" y="534924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57200" y="5349240"/>
            <a:ext cx="64008" cy="1188720"/>
          </a:xfrm>
          <a:prstGeom prst="roundRect">
            <a:avLst/>
          </a:prstGeom>
          <a:solidFill>
            <a:srgbClr val="F97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5422392"/>
            <a:ext cx="3200400" cy="228600"/>
          </a:xfrm>
          <a:prstGeom prst="rect">
            <a:avLst/>
          </a:prstGeom>
          <a:noFill/>
        </p:spPr>
        <p:txBody>
          <a:bodyPr wrap="square">
            <a:spAutoFit/>
          </a:bodyPr>
          <a:lstStyle/>
          <a:p>
            <a:pPr algn="l">
              <a:defRPr sz="1100" b="1">
                <a:solidFill>
                  <a:srgbClr val="F97E16"/>
                </a:solidFill>
                <a:latin typeface="Calibri"/>
              </a:defRPr>
            </a:pPr>
            <a:r>
              <a:t>Referral / Affiliates</a:t>
            </a:r>
          </a:p>
        </p:txBody>
      </p:sp>
      <p:sp>
        <p:nvSpPr>
          <p:cNvPr id="37" name="TextBox 36"/>
          <p:cNvSpPr txBox="1"/>
          <p:nvPr/>
        </p:nvSpPr>
        <p:spPr>
          <a:xfrm>
            <a:off x="3931920" y="5422392"/>
            <a:ext cx="1828800" cy="228600"/>
          </a:xfrm>
          <a:prstGeom prst="rect">
            <a:avLst/>
          </a:prstGeom>
          <a:noFill/>
        </p:spPr>
        <p:txBody>
          <a:bodyPr wrap="square">
            <a:spAutoFit/>
          </a:bodyPr>
          <a:lstStyle/>
          <a:p>
            <a:pPr algn="r">
              <a:defRPr sz="900" b="0">
                <a:solidFill>
                  <a:srgbClr val="8B95B0"/>
                </a:solidFill>
                <a:latin typeface="Calibri"/>
              </a:defRPr>
            </a:pPr>
            <a:r>
              <a:t>Trafic de pe alte site-uri</a:t>
            </a:r>
          </a:p>
        </p:txBody>
      </p:sp>
      <p:sp>
        <p:nvSpPr>
          <p:cNvPr id="38" name="TextBox 37"/>
          <p:cNvSpPr txBox="1"/>
          <p:nvPr/>
        </p:nvSpPr>
        <p:spPr>
          <a:xfrm>
            <a:off x="640080" y="5715000"/>
            <a:ext cx="5120640" cy="731520"/>
          </a:xfrm>
          <a:prstGeom prst="rect">
            <a:avLst/>
          </a:prstGeom>
          <a:noFill/>
        </p:spPr>
        <p:txBody>
          <a:bodyPr wrap="square">
            <a:spAutoFit/>
          </a:bodyPr>
          <a:lstStyle/>
          <a:p>
            <a:pPr algn="l">
              <a:defRPr sz="1000" b="0">
                <a:solidFill>
                  <a:srgbClr val="F0F2F8"/>
                </a:solidFill>
                <a:latin typeface="Calibri"/>
              </a:defRPr>
            </a:pPr>
            <a:r>
              <a:t>Vizitatori care vin de pe alte site-uri (2Performant = afiliere, bloguri partenere, review-uri). Include și traficul din programul de afiliere care a crescut puternic în 2026.</a:t>
            </a:r>
          </a:p>
        </p:txBody>
      </p:sp>
      <p:sp>
        <p:nvSpPr>
          <p:cNvPr id="39" name="Rounded Rectangle 38"/>
          <p:cNvSpPr/>
          <p:nvPr/>
        </p:nvSpPr>
        <p:spPr>
          <a:xfrm>
            <a:off x="6217920" y="5349240"/>
            <a:ext cx="5486400" cy="11887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217920" y="5349240"/>
            <a:ext cx="64008" cy="1188720"/>
          </a:xfrm>
          <a:prstGeom prst="roundRect">
            <a:avLst/>
          </a:prstGeom>
          <a:solidFill>
            <a:srgbClr val="5A63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422392"/>
            <a:ext cx="3200400" cy="228600"/>
          </a:xfrm>
          <a:prstGeom prst="rect">
            <a:avLst/>
          </a:prstGeom>
          <a:noFill/>
        </p:spPr>
        <p:txBody>
          <a:bodyPr wrap="square">
            <a:spAutoFit/>
          </a:bodyPr>
          <a:lstStyle/>
          <a:p>
            <a:pPr algn="l">
              <a:defRPr sz="1100" b="1">
                <a:solidFill>
                  <a:srgbClr val="5A6380"/>
                </a:solidFill>
                <a:latin typeface="Calibri"/>
              </a:defRPr>
            </a:pPr>
            <a:r>
              <a:t>Unassigned</a:t>
            </a:r>
          </a:p>
        </p:txBody>
      </p:sp>
      <p:sp>
        <p:nvSpPr>
          <p:cNvPr id="42" name="TextBox 41"/>
          <p:cNvSpPr txBox="1"/>
          <p:nvPr/>
        </p:nvSpPr>
        <p:spPr>
          <a:xfrm>
            <a:off x="9692640" y="5422392"/>
            <a:ext cx="1828800" cy="228600"/>
          </a:xfrm>
          <a:prstGeom prst="rect">
            <a:avLst/>
          </a:prstGeom>
          <a:noFill/>
        </p:spPr>
        <p:txBody>
          <a:bodyPr wrap="square">
            <a:spAutoFit/>
          </a:bodyPr>
          <a:lstStyle/>
          <a:p>
            <a:pPr algn="r">
              <a:defRPr sz="900" b="0">
                <a:solidFill>
                  <a:srgbClr val="8B95B0"/>
                </a:solidFill>
                <a:latin typeface="Calibri"/>
              </a:defRPr>
            </a:pPr>
            <a:r>
              <a:t>Trafic neclasificat</a:t>
            </a:r>
          </a:p>
        </p:txBody>
      </p:sp>
      <p:sp>
        <p:nvSpPr>
          <p:cNvPr id="43" name="TextBox 42"/>
          <p:cNvSpPr txBox="1"/>
          <p:nvPr/>
        </p:nvSpPr>
        <p:spPr>
          <a:xfrm>
            <a:off x="6400800" y="5715000"/>
            <a:ext cx="5120640" cy="731520"/>
          </a:xfrm>
          <a:prstGeom prst="rect">
            <a:avLst/>
          </a:prstGeom>
          <a:noFill/>
        </p:spPr>
        <p:txBody>
          <a:bodyPr wrap="square">
            <a:spAutoFit/>
          </a:bodyPr>
          <a:lstStyle/>
          <a:p>
            <a:pPr algn="l">
              <a:defRPr sz="1000" b="0">
                <a:solidFill>
                  <a:srgbClr val="F0F2F8"/>
                </a:solidFill>
                <a:latin typeface="Calibri"/>
              </a:defRPr>
            </a:pPr>
            <a:r>
              <a:t>GA4 nu a putut determina sursa. Poate fi de la ad-blockere, browsere private, sau sesiuni incomplete. Nu trebuie ignorat — e trafic real, doar fără etichetă.</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SURSE DE TRAFIC 2026</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De unde vine traficul pe zitamine.ro? (Ian-Apr 2026)</a:t>
            </a:r>
          </a:p>
        </p:txBody>
      </p:sp>
      <p:sp>
        <p:nvSpPr>
          <p:cNvPr id="4" name="Rounded Rectangle 3"/>
          <p:cNvSpPr/>
          <p:nvPr/>
        </p:nvSpPr>
        <p:spPr>
          <a:xfrm>
            <a:off x="365760" y="1371600"/>
            <a:ext cx="2743200" cy="45720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417320"/>
            <a:ext cx="2560320" cy="228600"/>
          </a:xfrm>
          <a:prstGeom prst="rect">
            <a:avLst/>
          </a:prstGeom>
          <a:noFill/>
        </p:spPr>
        <p:txBody>
          <a:bodyPr wrap="square">
            <a:spAutoFit/>
          </a:bodyPr>
          <a:lstStyle/>
          <a:p>
            <a:pPr algn="ctr">
              <a:defRPr sz="1000" b="1">
                <a:solidFill>
                  <a:srgbClr val="14B8A6"/>
                </a:solidFill>
                <a:latin typeface="Calibri"/>
              </a:defRPr>
            </a:pPr>
            <a:r>
              <a:t>IANUARIE</a:t>
            </a:r>
          </a:p>
        </p:txBody>
      </p:sp>
      <p:sp>
        <p:nvSpPr>
          <p:cNvPr id="6" name="TextBox 5"/>
          <p:cNvSpPr txBox="1"/>
          <p:nvPr/>
        </p:nvSpPr>
        <p:spPr>
          <a:xfrm>
            <a:off x="457200" y="1645920"/>
            <a:ext cx="2560320" cy="228600"/>
          </a:xfrm>
          <a:prstGeom prst="rect">
            <a:avLst/>
          </a:prstGeom>
          <a:noFill/>
        </p:spPr>
        <p:txBody>
          <a:bodyPr wrap="square">
            <a:spAutoFit/>
          </a:bodyPr>
          <a:lstStyle/>
          <a:p>
            <a:pPr algn="ctr">
              <a:defRPr sz="1400" b="1">
                <a:solidFill>
                  <a:srgbClr val="F0F2F8"/>
                </a:solidFill>
                <a:latin typeface="Calibri"/>
              </a:defRPr>
            </a:pPr>
            <a:r>
              <a:t>28,513 ses</a:t>
            </a:r>
          </a:p>
        </p:txBody>
      </p:sp>
      <p:sp>
        <p:nvSpPr>
          <p:cNvPr id="7" name="Rounded Rectangle 6"/>
          <p:cNvSpPr/>
          <p:nvPr/>
        </p:nvSpPr>
        <p:spPr>
          <a:xfrm>
            <a:off x="457200" y="20116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2011680"/>
            <a:ext cx="2560320" cy="2286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020824"/>
            <a:ext cx="1371600" cy="201168"/>
          </a:xfrm>
          <a:prstGeom prst="rect">
            <a:avLst/>
          </a:prstGeom>
          <a:noFill/>
        </p:spPr>
        <p:txBody>
          <a:bodyPr wrap="square">
            <a:spAutoFit/>
          </a:bodyPr>
          <a:lstStyle/>
          <a:p>
            <a:pPr algn="l">
              <a:defRPr sz="800" b="1">
                <a:solidFill>
                  <a:srgbClr val="F0F2F8"/>
                </a:solidFill>
                <a:latin typeface="Calibri"/>
              </a:defRPr>
            </a:pPr>
            <a:r>
              <a:t>PMax (PMax)</a:t>
            </a:r>
          </a:p>
        </p:txBody>
      </p:sp>
      <p:sp>
        <p:nvSpPr>
          <p:cNvPr id="10" name="TextBox 9"/>
          <p:cNvSpPr txBox="1"/>
          <p:nvPr/>
        </p:nvSpPr>
        <p:spPr>
          <a:xfrm>
            <a:off x="2194560" y="2020824"/>
            <a:ext cx="777240" cy="201168"/>
          </a:xfrm>
          <a:prstGeom prst="rect">
            <a:avLst/>
          </a:prstGeom>
          <a:noFill/>
        </p:spPr>
        <p:txBody>
          <a:bodyPr wrap="square">
            <a:spAutoFit/>
          </a:bodyPr>
          <a:lstStyle/>
          <a:p>
            <a:pPr algn="r">
              <a:defRPr sz="800" b="0">
                <a:solidFill>
                  <a:srgbClr val="F0F2F8"/>
                </a:solidFill>
                <a:latin typeface="Calibri"/>
              </a:defRPr>
            </a:pPr>
            <a:r>
              <a:t>8,584</a:t>
            </a:r>
          </a:p>
        </p:txBody>
      </p:sp>
      <p:sp>
        <p:nvSpPr>
          <p:cNvPr id="11" name="Rounded Rectangle 10"/>
          <p:cNvSpPr/>
          <p:nvPr/>
        </p:nvSpPr>
        <p:spPr>
          <a:xfrm>
            <a:off x="457200" y="260604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2606040"/>
            <a:ext cx="1839409"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615184"/>
            <a:ext cx="1371600" cy="201168"/>
          </a:xfrm>
          <a:prstGeom prst="rect">
            <a:avLst/>
          </a:prstGeom>
          <a:noFill/>
        </p:spPr>
        <p:txBody>
          <a:bodyPr wrap="square">
            <a:spAutoFit/>
          </a:bodyPr>
          <a:lstStyle/>
          <a:p>
            <a:pPr algn="l">
              <a:defRPr sz="800" b="1">
                <a:solidFill>
                  <a:srgbClr val="F0F2F8"/>
                </a:solidFill>
                <a:latin typeface="Calibri"/>
              </a:defRPr>
            </a:pPr>
            <a:r>
              <a:t>Paid Src</a:t>
            </a:r>
          </a:p>
        </p:txBody>
      </p:sp>
      <p:sp>
        <p:nvSpPr>
          <p:cNvPr id="14" name="TextBox 13"/>
          <p:cNvSpPr txBox="1"/>
          <p:nvPr/>
        </p:nvSpPr>
        <p:spPr>
          <a:xfrm>
            <a:off x="2194560" y="2615184"/>
            <a:ext cx="777240" cy="201168"/>
          </a:xfrm>
          <a:prstGeom prst="rect">
            <a:avLst/>
          </a:prstGeom>
          <a:noFill/>
        </p:spPr>
        <p:txBody>
          <a:bodyPr wrap="square">
            <a:spAutoFit/>
          </a:bodyPr>
          <a:lstStyle/>
          <a:p>
            <a:pPr algn="r">
              <a:defRPr sz="800" b="0">
                <a:solidFill>
                  <a:srgbClr val="F0F2F8"/>
                </a:solidFill>
                <a:latin typeface="Calibri"/>
              </a:defRPr>
            </a:pPr>
            <a:r>
              <a:t>6,167</a:t>
            </a:r>
          </a:p>
        </p:txBody>
      </p:sp>
      <p:sp>
        <p:nvSpPr>
          <p:cNvPr id="15" name="Rounded Rectangle 14"/>
          <p:cNvSpPr/>
          <p:nvPr/>
        </p:nvSpPr>
        <p:spPr>
          <a:xfrm>
            <a:off x="457200" y="320040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57200" y="3200400"/>
            <a:ext cx="1591550" cy="228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3209544"/>
            <a:ext cx="1371600" cy="201168"/>
          </a:xfrm>
          <a:prstGeom prst="rect">
            <a:avLst/>
          </a:prstGeom>
          <a:noFill/>
        </p:spPr>
        <p:txBody>
          <a:bodyPr wrap="square">
            <a:spAutoFit/>
          </a:bodyPr>
          <a:lstStyle/>
          <a:p>
            <a:pPr algn="l">
              <a:defRPr sz="800" b="1">
                <a:solidFill>
                  <a:srgbClr val="F0F2F8"/>
                </a:solidFill>
                <a:latin typeface="Calibri"/>
              </a:defRPr>
            </a:pPr>
            <a:r>
              <a:t>Organic</a:t>
            </a:r>
          </a:p>
        </p:txBody>
      </p:sp>
      <p:sp>
        <p:nvSpPr>
          <p:cNvPr id="18" name="TextBox 17"/>
          <p:cNvSpPr txBox="1"/>
          <p:nvPr/>
        </p:nvSpPr>
        <p:spPr>
          <a:xfrm>
            <a:off x="2194560" y="3209544"/>
            <a:ext cx="777240" cy="201168"/>
          </a:xfrm>
          <a:prstGeom prst="rect">
            <a:avLst/>
          </a:prstGeom>
          <a:noFill/>
        </p:spPr>
        <p:txBody>
          <a:bodyPr wrap="square">
            <a:spAutoFit/>
          </a:bodyPr>
          <a:lstStyle/>
          <a:p>
            <a:pPr algn="r">
              <a:defRPr sz="800" b="0">
                <a:solidFill>
                  <a:srgbClr val="F0F2F8"/>
                </a:solidFill>
                <a:latin typeface="Calibri"/>
              </a:defRPr>
            </a:pPr>
            <a:r>
              <a:t>5,336</a:t>
            </a:r>
          </a:p>
        </p:txBody>
      </p:sp>
      <p:sp>
        <p:nvSpPr>
          <p:cNvPr id="19" name="Rounded Rectangle 18"/>
          <p:cNvSpPr/>
          <p:nvPr/>
        </p:nvSpPr>
        <p:spPr>
          <a:xfrm>
            <a:off x="457200" y="379476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7200" y="3794760"/>
            <a:ext cx="1230051" cy="22860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3803904"/>
            <a:ext cx="1371600" cy="201168"/>
          </a:xfrm>
          <a:prstGeom prst="rect">
            <a:avLst/>
          </a:prstGeom>
          <a:noFill/>
        </p:spPr>
        <p:txBody>
          <a:bodyPr wrap="square">
            <a:spAutoFit/>
          </a:bodyPr>
          <a:lstStyle/>
          <a:p>
            <a:pPr algn="l">
              <a:defRPr sz="800" b="1">
                <a:solidFill>
                  <a:srgbClr val="F0F2F8"/>
                </a:solidFill>
                <a:latin typeface="Calibri"/>
              </a:defRPr>
            </a:pPr>
            <a:r>
              <a:t>Social</a:t>
            </a:r>
          </a:p>
        </p:txBody>
      </p:sp>
      <p:sp>
        <p:nvSpPr>
          <p:cNvPr id="22" name="TextBox 21"/>
          <p:cNvSpPr txBox="1"/>
          <p:nvPr/>
        </p:nvSpPr>
        <p:spPr>
          <a:xfrm>
            <a:off x="2194560" y="3803904"/>
            <a:ext cx="777240" cy="201168"/>
          </a:xfrm>
          <a:prstGeom prst="rect">
            <a:avLst/>
          </a:prstGeom>
          <a:noFill/>
        </p:spPr>
        <p:txBody>
          <a:bodyPr wrap="square">
            <a:spAutoFit/>
          </a:bodyPr>
          <a:lstStyle/>
          <a:p>
            <a:pPr algn="r">
              <a:defRPr sz="800" b="0">
                <a:solidFill>
                  <a:srgbClr val="F0F2F8"/>
                </a:solidFill>
                <a:latin typeface="Calibri"/>
              </a:defRPr>
            </a:pPr>
            <a:r>
              <a:t>4,124</a:t>
            </a:r>
          </a:p>
        </p:txBody>
      </p:sp>
      <p:sp>
        <p:nvSpPr>
          <p:cNvPr id="23" name="Rounded Rectangle 22"/>
          <p:cNvSpPr/>
          <p:nvPr/>
        </p:nvSpPr>
        <p:spPr>
          <a:xfrm>
            <a:off x="457200" y="438912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57200" y="4389120"/>
            <a:ext cx="751333"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4398264"/>
            <a:ext cx="1371600" cy="201168"/>
          </a:xfrm>
          <a:prstGeom prst="rect">
            <a:avLst/>
          </a:prstGeom>
          <a:noFill/>
        </p:spPr>
        <p:txBody>
          <a:bodyPr wrap="square">
            <a:spAutoFit/>
          </a:bodyPr>
          <a:lstStyle/>
          <a:p>
            <a:pPr algn="l">
              <a:defRPr sz="800" b="1">
                <a:solidFill>
                  <a:srgbClr val="F0F2F8"/>
                </a:solidFill>
                <a:latin typeface="Calibri"/>
              </a:defRPr>
            </a:pPr>
            <a:r>
              <a:t>Direct</a:t>
            </a:r>
          </a:p>
        </p:txBody>
      </p:sp>
      <p:sp>
        <p:nvSpPr>
          <p:cNvPr id="26" name="TextBox 25"/>
          <p:cNvSpPr txBox="1"/>
          <p:nvPr/>
        </p:nvSpPr>
        <p:spPr>
          <a:xfrm>
            <a:off x="2194560" y="4398264"/>
            <a:ext cx="777240" cy="201168"/>
          </a:xfrm>
          <a:prstGeom prst="rect">
            <a:avLst/>
          </a:prstGeom>
          <a:noFill/>
        </p:spPr>
        <p:txBody>
          <a:bodyPr wrap="square">
            <a:spAutoFit/>
          </a:bodyPr>
          <a:lstStyle/>
          <a:p>
            <a:pPr algn="r">
              <a:defRPr sz="800" b="0">
                <a:solidFill>
                  <a:srgbClr val="F0F2F8"/>
                </a:solidFill>
                <a:latin typeface="Calibri"/>
              </a:defRPr>
            </a:pPr>
            <a:r>
              <a:t>2,519</a:t>
            </a:r>
          </a:p>
        </p:txBody>
      </p:sp>
      <p:sp>
        <p:nvSpPr>
          <p:cNvPr id="27" name="Rounded Rectangle 26"/>
          <p:cNvSpPr/>
          <p:nvPr/>
        </p:nvSpPr>
        <p:spPr>
          <a:xfrm>
            <a:off x="457200" y="49834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57200" y="4983480"/>
            <a:ext cx="295283" cy="228600"/>
          </a:xfrm>
          <a:prstGeom prst="roundRect">
            <a:avLst/>
          </a:prstGeom>
          <a:solidFill>
            <a:srgbClr val="5A63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4992624"/>
            <a:ext cx="1371600" cy="201168"/>
          </a:xfrm>
          <a:prstGeom prst="rect">
            <a:avLst/>
          </a:prstGeom>
          <a:noFill/>
        </p:spPr>
        <p:txBody>
          <a:bodyPr wrap="square">
            <a:spAutoFit/>
          </a:bodyPr>
          <a:lstStyle/>
          <a:p>
            <a:pPr algn="l">
              <a:defRPr sz="800" b="1">
                <a:solidFill>
                  <a:srgbClr val="F0F2F8"/>
                </a:solidFill>
                <a:latin typeface="Calibri"/>
              </a:defRPr>
            </a:pPr>
            <a:r>
              <a:t>Unasgn.</a:t>
            </a:r>
          </a:p>
        </p:txBody>
      </p:sp>
      <p:sp>
        <p:nvSpPr>
          <p:cNvPr id="30" name="TextBox 29"/>
          <p:cNvSpPr txBox="1"/>
          <p:nvPr/>
        </p:nvSpPr>
        <p:spPr>
          <a:xfrm>
            <a:off x="2194560" y="4992624"/>
            <a:ext cx="777240" cy="201168"/>
          </a:xfrm>
          <a:prstGeom prst="rect">
            <a:avLst/>
          </a:prstGeom>
          <a:noFill/>
        </p:spPr>
        <p:txBody>
          <a:bodyPr wrap="square">
            <a:spAutoFit/>
          </a:bodyPr>
          <a:lstStyle/>
          <a:p>
            <a:pPr algn="r">
              <a:defRPr sz="800" b="0">
                <a:solidFill>
                  <a:srgbClr val="F0F2F8"/>
                </a:solidFill>
                <a:latin typeface="Calibri"/>
              </a:defRPr>
            </a:pPr>
            <a:r>
              <a:t>990</a:t>
            </a:r>
          </a:p>
        </p:txBody>
      </p:sp>
      <p:sp>
        <p:nvSpPr>
          <p:cNvPr id="31" name="Rounded Rectangle 30"/>
          <p:cNvSpPr/>
          <p:nvPr/>
        </p:nvSpPr>
        <p:spPr>
          <a:xfrm>
            <a:off x="3246120" y="1371600"/>
            <a:ext cx="2743200" cy="45720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37560" y="1417320"/>
            <a:ext cx="2560320" cy="228600"/>
          </a:xfrm>
          <a:prstGeom prst="rect">
            <a:avLst/>
          </a:prstGeom>
          <a:noFill/>
        </p:spPr>
        <p:txBody>
          <a:bodyPr wrap="square">
            <a:spAutoFit/>
          </a:bodyPr>
          <a:lstStyle/>
          <a:p>
            <a:pPr algn="ctr">
              <a:defRPr sz="1000" b="1">
                <a:solidFill>
                  <a:srgbClr val="14B8A6"/>
                </a:solidFill>
                <a:latin typeface="Calibri"/>
              </a:defRPr>
            </a:pPr>
            <a:r>
              <a:t>FEBRUARIE</a:t>
            </a:r>
          </a:p>
        </p:txBody>
      </p:sp>
      <p:sp>
        <p:nvSpPr>
          <p:cNvPr id="33" name="TextBox 32"/>
          <p:cNvSpPr txBox="1"/>
          <p:nvPr/>
        </p:nvSpPr>
        <p:spPr>
          <a:xfrm>
            <a:off x="3337560" y="1645920"/>
            <a:ext cx="2560320" cy="228600"/>
          </a:xfrm>
          <a:prstGeom prst="rect">
            <a:avLst/>
          </a:prstGeom>
          <a:noFill/>
        </p:spPr>
        <p:txBody>
          <a:bodyPr wrap="square">
            <a:spAutoFit/>
          </a:bodyPr>
          <a:lstStyle/>
          <a:p>
            <a:pPr algn="ctr">
              <a:defRPr sz="1400" b="1">
                <a:solidFill>
                  <a:srgbClr val="F0F2F8"/>
                </a:solidFill>
                <a:latin typeface="Calibri"/>
              </a:defRPr>
            </a:pPr>
            <a:r>
              <a:t>19,449 ses</a:t>
            </a:r>
          </a:p>
        </p:txBody>
      </p:sp>
      <p:sp>
        <p:nvSpPr>
          <p:cNvPr id="34" name="Rounded Rectangle 33"/>
          <p:cNvSpPr/>
          <p:nvPr/>
        </p:nvSpPr>
        <p:spPr>
          <a:xfrm>
            <a:off x="3337560" y="20116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337560" y="2011680"/>
            <a:ext cx="2560320" cy="2286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383279" y="2020824"/>
            <a:ext cx="1371600" cy="201168"/>
          </a:xfrm>
          <a:prstGeom prst="rect">
            <a:avLst/>
          </a:prstGeom>
          <a:noFill/>
        </p:spPr>
        <p:txBody>
          <a:bodyPr wrap="square">
            <a:spAutoFit/>
          </a:bodyPr>
          <a:lstStyle/>
          <a:p>
            <a:pPr algn="l">
              <a:defRPr sz="800" b="1">
                <a:solidFill>
                  <a:srgbClr val="F0F2F8"/>
                </a:solidFill>
                <a:latin typeface="Calibri"/>
              </a:defRPr>
            </a:pPr>
            <a:r>
              <a:t>PMax</a:t>
            </a:r>
          </a:p>
        </p:txBody>
      </p:sp>
      <p:sp>
        <p:nvSpPr>
          <p:cNvPr id="37" name="TextBox 36"/>
          <p:cNvSpPr txBox="1"/>
          <p:nvPr/>
        </p:nvSpPr>
        <p:spPr>
          <a:xfrm>
            <a:off x="5074920" y="2020824"/>
            <a:ext cx="777240" cy="201168"/>
          </a:xfrm>
          <a:prstGeom prst="rect">
            <a:avLst/>
          </a:prstGeom>
          <a:noFill/>
        </p:spPr>
        <p:txBody>
          <a:bodyPr wrap="square">
            <a:spAutoFit/>
          </a:bodyPr>
          <a:lstStyle/>
          <a:p>
            <a:pPr algn="r">
              <a:defRPr sz="800" b="0">
                <a:solidFill>
                  <a:srgbClr val="F0F2F8"/>
                </a:solidFill>
                <a:latin typeface="Calibri"/>
              </a:defRPr>
            </a:pPr>
            <a:r>
              <a:t>6,152</a:t>
            </a:r>
          </a:p>
        </p:txBody>
      </p:sp>
      <p:sp>
        <p:nvSpPr>
          <p:cNvPr id="38" name="Rounded Rectangle 37"/>
          <p:cNvSpPr/>
          <p:nvPr/>
        </p:nvSpPr>
        <p:spPr>
          <a:xfrm>
            <a:off x="3337560" y="260604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3337560" y="2606040"/>
            <a:ext cx="2018873" cy="228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383279" y="2615184"/>
            <a:ext cx="1371600" cy="201168"/>
          </a:xfrm>
          <a:prstGeom prst="rect">
            <a:avLst/>
          </a:prstGeom>
          <a:noFill/>
        </p:spPr>
        <p:txBody>
          <a:bodyPr wrap="square">
            <a:spAutoFit/>
          </a:bodyPr>
          <a:lstStyle/>
          <a:p>
            <a:pPr algn="l">
              <a:defRPr sz="800" b="1">
                <a:solidFill>
                  <a:srgbClr val="F0F2F8"/>
                </a:solidFill>
                <a:latin typeface="Calibri"/>
              </a:defRPr>
            </a:pPr>
            <a:r>
              <a:t>Organic</a:t>
            </a:r>
          </a:p>
        </p:txBody>
      </p:sp>
      <p:sp>
        <p:nvSpPr>
          <p:cNvPr id="41" name="TextBox 40"/>
          <p:cNvSpPr txBox="1"/>
          <p:nvPr/>
        </p:nvSpPr>
        <p:spPr>
          <a:xfrm>
            <a:off x="5074920" y="2615184"/>
            <a:ext cx="777240" cy="201168"/>
          </a:xfrm>
          <a:prstGeom prst="rect">
            <a:avLst/>
          </a:prstGeom>
          <a:noFill/>
        </p:spPr>
        <p:txBody>
          <a:bodyPr wrap="square">
            <a:spAutoFit/>
          </a:bodyPr>
          <a:lstStyle/>
          <a:p>
            <a:pPr algn="r">
              <a:defRPr sz="800" b="0">
                <a:solidFill>
                  <a:srgbClr val="F0F2F8"/>
                </a:solidFill>
                <a:latin typeface="Calibri"/>
              </a:defRPr>
            </a:pPr>
            <a:r>
              <a:t>4,851</a:t>
            </a:r>
          </a:p>
        </p:txBody>
      </p:sp>
      <p:sp>
        <p:nvSpPr>
          <p:cNvPr id="42" name="Rounded Rectangle 41"/>
          <p:cNvSpPr/>
          <p:nvPr/>
        </p:nvSpPr>
        <p:spPr>
          <a:xfrm>
            <a:off x="3337560" y="320040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3337560" y="3200400"/>
            <a:ext cx="1151561"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383279" y="3209544"/>
            <a:ext cx="1371600" cy="201168"/>
          </a:xfrm>
          <a:prstGeom prst="rect">
            <a:avLst/>
          </a:prstGeom>
          <a:noFill/>
        </p:spPr>
        <p:txBody>
          <a:bodyPr wrap="square">
            <a:spAutoFit/>
          </a:bodyPr>
          <a:lstStyle/>
          <a:p>
            <a:pPr algn="l">
              <a:defRPr sz="800" b="1">
                <a:solidFill>
                  <a:srgbClr val="F0F2F8"/>
                </a:solidFill>
                <a:latin typeface="Calibri"/>
              </a:defRPr>
            </a:pPr>
            <a:r>
              <a:t>Paid Src</a:t>
            </a:r>
          </a:p>
        </p:txBody>
      </p:sp>
      <p:sp>
        <p:nvSpPr>
          <p:cNvPr id="45" name="TextBox 44"/>
          <p:cNvSpPr txBox="1"/>
          <p:nvPr/>
        </p:nvSpPr>
        <p:spPr>
          <a:xfrm>
            <a:off x="5074920" y="3209544"/>
            <a:ext cx="777240" cy="201168"/>
          </a:xfrm>
          <a:prstGeom prst="rect">
            <a:avLst/>
          </a:prstGeom>
          <a:noFill/>
        </p:spPr>
        <p:txBody>
          <a:bodyPr wrap="square">
            <a:spAutoFit/>
          </a:bodyPr>
          <a:lstStyle/>
          <a:p>
            <a:pPr algn="r">
              <a:defRPr sz="800" b="0">
                <a:solidFill>
                  <a:srgbClr val="F0F2F8"/>
                </a:solidFill>
                <a:latin typeface="Calibri"/>
              </a:defRPr>
            </a:pPr>
            <a:r>
              <a:t>2,767</a:t>
            </a:r>
          </a:p>
        </p:txBody>
      </p:sp>
      <p:sp>
        <p:nvSpPr>
          <p:cNvPr id="46" name="Rounded Rectangle 45"/>
          <p:cNvSpPr/>
          <p:nvPr/>
        </p:nvSpPr>
        <p:spPr>
          <a:xfrm>
            <a:off x="3337560" y="379476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3337560" y="3794760"/>
            <a:ext cx="914756" cy="22860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383279" y="3803904"/>
            <a:ext cx="1371600" cy="201168"/>
          </a:xfrm>
          <a:prstGeom prst="rect">
            <a:avLst/>
          </a:prstGeom>
          <a:noFill/>
        </p:spPr>
        <p:txBody>
          <a:bodyPr wrap="square">
            <a:spAutoFit/>
          </a:bodyPr>
          <a:lstStyle/>
          <a:p>
            <a:pPr algn="l">
              <a:defRPr sz="800" b="1">
                <a:solidFill>
                  <a:srgbClr val="F0F2F8"/>
                </a:solidFill>
                <a:latin typeface="Calibri"/>
              </a:defRPr>
            </a:pPr>
            <a:r>
              <a:t>Social</a:t>
            </a:r>
          </a:p>
        </p:txBody>
      </p:sp>
      <p:sp>
        <p:nvSpPr>
          <p:cNvPr id="49" name="TextBox 48"/>
          <p:cNvSpPr txBox="1"/>
          <p:nvPr/>
        </p:nvSpPr>
        <p:spPr>
          <a:xfrm>
            <a:off x="5074920" y="3803904"/>
            <a:ext cx="777240" cy="201168"/>
          </a:xfrm>
          <a:prstGeom prst="rect">
            <a:avLst/>
          </a:prstGeom>
          <a:noFill/>
        </p:spPr>
        <p:txBody>
          <a:bodyPr wrap="square">
            <a:spAutoFit/>
          </a:bodyPr>
          <a:lstStyle/>
          <a:p>
            <a:pPr algn="r">
              <a:defRPr sz="800" b="0">
                <a:solidFill>
                  <a:srgbClr val="F0F2F8"/>
                </a:solidFill>
                <a:latin typeface="Calibri"/>
              </a:defRPr>
            </a:pPr>
            <a:r>
              <a:t>2,198</a:t>
            </a:r>
          </a:p>
        </p:txBody>
      </p:sp>
      <p:sp>
        <p:nvSpPr>
          <p:cNvPr id="50" name="Rounded Rectangle 49"/>
          <p:cNvSpPr/>
          <p:nvPr/>
        </p:nvSpPr>
        <p:spPr>
          <a:xfrm>
            <a:off x="3337560" y="438912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3337560" y="4389120"/>
            <a:ext cx="829856"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383279" y="4398264"/>
            <a:ext cx="1371600" cy="201168"/>
          </a:xfrm>
          <a:prstGeom prst="rect">
            <a:avLst/>
          </a:prstGeom>
          <a:noFill/>
        </p:spPr>
        <p:txBody>
          <a:bodyPr wrap="square">
            <a:spAutoFit/>
          </a:bodyPr>
          <a:lstStyle/>
          <a:p>
            <a:pPr algn="l">
              <a:defRPr sz="800" b="1">
                <a:solidFill>
                  <a:srgbClr val="F0F2F8"/>
                </a:solidFill>
                <a:latin typeface="Calibri"/>
              </a:defRPr>
            </a:pPr>
            <a:r>
              <a:t>Direct</a:t>
            </a:r>
          </a:p>
        </p:txBody>
      </p:sp>
      <p:sp>
        <p:nvSpPr>
          <p:cNvPr id="53" name="TextBox 52"/>
          <p:cNvSpPr txBox="1"/>
          <p:nvPr/>
        </p:nvSpPr>
        <p:spPr>
          <a:xfrm>
            <a:off x="5074920" y="4398264"/>
            <a:ext cx="777240" cy="201168"/>
          </a:xfrm>
          <a:prstGeom prst="rect">
            <a:avLst/>
          </a:prstGeom>
          <a:noFill/>
        </p:spPr>
        <p:txBody>
          <a:bodyPr wrap="square">
            <a:spAutoFit/>
          </a:bodyPr>
          <a:lstStyle/>
          <a:p>
            <a:pPr algn="r">
              <a:defRPr sz="800" b="0">
                <a:solidFill>
                  <a:srgbClr val="F0F2F8"/>
                </a:solidFill>
                <a:latin typeface="Calibri"/>
              </a:defRPr>
            </a:pPr>
            <a:r>
              <a:t>1,994</a:t>
            </a:r>
          </a:p>
        </p:txBody>
      </p:sp>
      <p:sp>
        <p:nvSpPr>
          <p:cNvPr id="54" name="Rounded Rectangle 53"/>
          <p:cNvSpPr/>
          <p:nvPr/>
        </p:nvSpPr>
        <p:spPr>
          <a:xfrm>
            <a:off x="3337560" y="49834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3337560" y="4983480"/>
            <a:ext cx="352501" cy="228600"/>
          </a:xfrm>
          <a:prstGeom prst="roundRect">
            <a:avLst/>
          </a:prstGeom>
          <a:solidFill>
            <a:srgbClr val="5A63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383279" y="4992624"/>
            <a:ext cx="1371600" cy="201168"/>
          </a:xfrm>
          <a:prstGeom prst="rect">
            <a:avLst/>
          </a:prstGeom>
          <a:noFill/>
        </p:spPr>
        <p:txBody>
          <a:bodyPr wrap="square">
            <a:spAutoFit/>
          </a:bodyPr>
          <a:lstStyle/>
          <a:p>
            <a:pPr algn="l">
              <a:defRPr sz="800" b="1">
                <a:solidFill>
                  <a:srgbClr val="F0F2F8"/>
                </a:solidFill>
                <a:latin typeface="Calibri"/>
              </a:defRPr>
            </a:pPr>
            <a:r>
              <a:t>Unasgn.</a:t>
            </a:r>
          </a:p>
        </p:txBody>
      </p:sp>
      <p:sp>
        <p:nvSpPr>
          <p:cNvPr id="57" name="TextBox 56"/>
          <p:cNvSpPr txBox="1"/>
          <p:nvPr/>
        </p:nvSpPr>
        <p:spPr>
          <a:xfrm>
            <a:off x="5074920" y="4992624"/>
            <a:ext cx="777240" cy="201168"/>
          </a:xfrm>
          <a:prstGeom prst="rect">
            <a:avLst/>
          </a:prstGeom>
          <a:noFill/>
        </p:spPr>
        <p:txBody>
          <a:bodyPr wrap="square">
            <a:spAutoFit/>
          </a:bodyPr>
          <a:lstStyle/>
          <a:p>
            <a:pPr algn="r">
              <a:defRPr sz="800" b="0">
                <a:solidFill>
                  <a:srgbClr val="F0F2F8"/>
                </a:solidFill>
                <a:latin typeface="Calibri"/>
              </a:defRPr>
            </a:pPr>
            <a:r>
              <a:t>847</a:t>
            </a:r>
          </a:p>
        </p:txBody>
      </p:sp>
      <p:sp>
        <p:nvSpPr>
          <p:cNvPr id="58" name="Rounded Rectangle 57"/>
          <p:cNvSpPr/>
          <p:nvPr/>
        </p:nvSpPr>
        <p:spPr>
          <a:xfrm>
            <a:off x="6126480" y="1371600"/>
            <a:ext cx="2743200" cy="45720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217920" y="1417320"/>
            <a:ext cx="2560320" cy="228600"/>
          </a:xfrm>
          <a:prstGeom prst="rect">
            <a:avLst/>
          </a:prstGeom>
          <a:noFill/>
        </p:spPr>
        <p:txBody>
          <a:bodyPr wrap="square">
            <a:spAutoFit/>
          </a:bodyPr>
          <a:lstStyle/>
          <a:p>
            <a:pPr algn="ctr">
              <a:defRPr sz="1000" b="1">
                <a:solidFill>
                  <a:srgbClr val="14B8A6"/>
                </a:solidFill>
                <a:latin typeface="Calibri"/>
              </a:defRPr>
            </a:pPr>
            <a:r>
              <a:t>MARTIE</a:t>
            </a:r>
          </a:p>
        </p:txBody>
      </p:sp>
      <p:sp>
        <p:nvSpPr>
          <p:cNvPr id="60" name="TextBox 59"/>
          <p:cNvSpPr txBox="1"/>
          <p:nvPr/>
        </p:nvSpPr>
        <p:spPr>
          <a:xfrm>
            <a:off x="6217920" y="1645920"/>
            <a:ext cx="2560320" cy="228600"/>
          </a:xfrm>
          <a:prstGeom prst="rect">
            <a:avLst/>
          </a:prstGeom>
          <a:noFill/>
        </p:spPr>
        <p:txBody>
          <a:bodyPr wrap="square">
            <a:spAutoFit/>
          </a:bodyPr>
          <a:lstStyle/>
          <a:p>
            <a:pPr algn="ctr">
              <a:defRPr sz="1400" b="1">
                <a:solidFill>
                  <a:srgbClr val="F0F2F8"/>
                </a:solidFill>
                <a:latin typeface="Calibri"/>
              </a:defRPr>
            </a:pPr>
            <a:r>
              <a:t>17,803 ses</a:t>
            </a:r>
          </a:p>
        </p:txBody>
      </p:sp>
      <p:sp>
        <p:nvSpPr>
          <p:cNvPr id="61" name="Rounded Rectangle 60"/>
          <p:cNvSpPr/>
          <p:nvPr/>
        </p:nvSpPr>
        <p:spPr>
          <a:xfrm>
            <a:off x="6217920" y="20116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6217920" y="2011680"/>
            <a:ext cx="2560320" cy="228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263640" y="2020824"/>
            <a:ext cx="1371600" cy="201168"/>
          </a:xfrm>
          <a:prstGeom prst="rect">
            <a:avLst/>
          </a:prstGeom>
          <a:noFill/>
        </p:spPr>
        <p:txBody>
          <a:bodyPr wrap="square">
            <a:spAutoFit/>
          </a:bodyPr>
          <a:lstStyle/>
          <a:p>
            <a:pPr algn="l">
              <a:defRPr sz="800" b="1">
                <a:solidFill>
                  <a:srgbClr val="F0F2F8"/>
                </a:solidFill>
                <a:latin typeface="Calibri"/>
              </a:defRPr>
            </a:pPr>
            <a:r>
              <a:t>Organic</a:t>
            </a:r>
          </a:p>
        </p:txBody>
      </p:sp>
      <p:sp>
        <p:nvSpPr>
          <p:cNvPr id="64" name="TextBox 63"/>
          <p:cNvSpPr txBox="1"/>
          <p:nvPr/>
        </p:nvSpPr>
        <p:spPr>
          <a:xfrm>
            <a:off x="7955279" y="2020824"/>
            <a:ext cx="777240" cy="201168"/>
          </a:xfrm>
          <a:prstGeom prst="rect">
            <a:avLst/>
          </a:prstGeom>
          <a:noFill/>
        </p:spPr>
        <p:txBody>
          <a:bodyPr wrap="square">
            <a:spAutoFit/>
          </a:bodyPr>
          <a:lstStyle/>
          <a:p>
            <a:pPr algn="r">
              <a:defRPr sz="800" b="0">
                <a:solidFill>
                  <a:srgbClr val="F0F2F8"/>
                </a:solidFill>
                <a:latin typeface="Calibri"/>
              </a:defRPr>
            </a:pPr>
            <a:r>
              <a:t>5,527</a:t>
            </a:r>
          </a:p>
        </p:txBody>
      </p:sp>
      <p:sp>
        <p:nvSpPr>
          <p:cNvPr id="65" name="Rounded Rectangle 64"/>
          <p:cNvSpPr/>
          <p:nvPr/>
        </p:nvSpPr>
        <p:spPr>
          <a:xfrm>
            <a:off x="6217920" y="260604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6217920" y="2606040"/>
            <a:ext cx="2069287" cy="2286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263640" y="2615184"/>
            <a:ext cx="1371600" cy="201168"/>
          </a:xfrm>
          <a:prstGeom prst="rect">
            <a:avLst/>
          </a:prstGeom>
          <a:noFill/>
        </p:spPr>
        <p:txBody>
          <a:bodyPr wrap="square">
            <a:spAutoFit/>
          </a:bodyPr>
          <a:lstStyle/>
          <a:p>
            <a:pPr algn="l">
              <a:defRPr sz="800" b="1">
                <a:solidFill>
                  <a:srgbClr val="F0F2F8"/>
                </a:solidFill>
                <a:latin typeface="Calibri"/>
              </a:defRPr>
            </a:pPr>
            <a:r>
              <a:t>PMax</a:t>
            </a:r>
          </a:p>
        </p:txBody>
      </p:sp>
      <p:sp>
        <p:nvSpPr>
          <p:cNvPr id="68" name="TextBox 67"/>
          <p:cNvSpPr txBox="1"/>
          <p:nvPr/>
        </p:nvSpPr>
        <p:spPr>
          <a:xfrm>
            <a:off x="7955279" y="2615184"/>
            <a:ext cx="777240" cy="201168"/>
          </a:xfrm>
          <a:prstGeom prst="rect">
            <a:avLst/>
          </a:prstGeom>
          <a:noFill/>
        </p:spPr>
        <p:txBody>
          <a:bodyPr wrap="square">
            <a:spAutoFit/>
          </a:bodyPr>
          <a:lstStyle/>
          <a:p>
            <a:pPr algn="r">
              <a:defRPr sz="800" b="0">
                <a:solidFill>
                  <a:srgbClr val="F0F2F8"/>
                </a:solidFill>
                <a:latin typeface="Calibri"/>
              </a:defRPr>
            </a:pPr>
            <a:r>
              <a:t>4,467</a:t>
            </a:r>
          </a:p>
        </p:txBody>
      </p:sp>
      <p:sp>
        <p:nvSpPr>
          <p:cNvPr id="69" name="Rounded Rectangle 68"/>
          <p:cNvSpPr/>
          <p:nvPr/>
        </p:nvSpPr>
        <p:spPr>
          <a:xfrm>
            <a:off x="6217920" y="320040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6217920" y="3200400"/>
            <a:ext cx="1146052" cy="22860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263640" y="3209544"/>
            <a:ext cx="1371600" cy="201168"/>
          </a:xfrm>
          <a:prstGeom prst="rect">
            <a:avLst/>
          </a:prstGeom>
          <a:noFill/>
        </p:spPr>
        <p:txBody>
          <a:bodyPr wrap="square">
            <a:spAutoFit/>
          </a:bodyPr>
          <a:lstStyle/>
          <a:p>
            <a:pPr algn="l">
              <a:defRPr sz="800" b="1">
                <a:solidFill>
                  <a:srgbClr val="F0F2F8"/>
                </a:solidFill>
                <a:latin typeface="Calibri"/>
              </a:defRPr>
            </a:pPr>
            <a:r>
              <a:t>Social</a:t>
            </a:r>
          </a:p>
        </p:txBody>
      </p:sp>
      <p:sp>
        <p:nvSpPr>
          <p:cNvPr id="72" name="TextBox 71"/>
          <p:cNvSpPr txBox="1"/>
          <p:nvPr/>
        </p:nvSpPr>
        <p:spPr>
          <a:xfrm>
            <a:off x="7955279" y="3209544"/>
            <a:ext cx="777240" cy="201168"/>
          </a:xfrm>
          <a:prstGeom prst="rect">
            <a:avLst/>
          </a:prstGeom>
          <a:noFill/>
        </p:spPr>
        <p:txBody>
          <a:bodyPr wrap="square">
            <a:spAutoFit/>
          </a:bodyPr>
          <a:lstStyle/>
          <a:p>
            <a:pPr algn="r">
              <a:defRPr sz="800" b="0">
                <a:solidFill>
                  <a:srgbClr val="F0F2F8"/>
                </a:solidFill>
                <a:latin typeface="Calibri"/>
              </a:defRPr>
            </a:pPr>
            <a:r>
              <a:t>2,474</a:t>
            </a:r>
          </a:p>
        </p:txBody>
      </p:sp>
      <p:sp>
        <p:nvSpPr>
          <p:cNvPr id="73" name="Rounded Rectangle 72"/>
          <p:cNvSpPr/>
          <p:nvPr/>
        </p:nvSpPr>
        <p:spPr>
          <a:xfrm>
            <a:off x="6217920" y="379476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6217920" y="3794760"/>
            <a:ext cx="976507"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263640" y="3803904"/>
            <a:ext cx="1371600" cy="201168"/>
          </a:xfrm>
          <a:prstGeom prst="rect">
            <a:avLst/>
          </a:prstGeom>
          <a:noFill/>
        </p:spPr>
        <p:txBody>
          <a:bodyPr wrap="square">
            <a:spAutoFit/>
          </a:bodyPr>
          <a:lstStyle/>
          <a:p>
            <a:pPr algn="l">
              <a:defRPr sz="800" b="1">
                <a:solidFill>
                  <a:srgbClr val="F0F2F8"/>
                </a:solidFill>
                <a:latin typeface="Calibri"/>
              </a:defRPr>
            </a:pPr>
            <a:r>
              <a:t>Paid Src</a:t>
            </a:r>
          </a:p>
        </p:txBody>
      </p:sp>
      <p:sp>
        <p:nvSpPr>
          <p:cNvPr id="76" name="TextBox 75"/>
          <p:cNvSpPr txBox="1"/>
          <p:nvPr/>
        </p:nvSpPr>
        <p:spPr>
          <a:xfrm>
            <a:off x="7955279" y="3803904"/>
            <a:ext cx="777240" cy="201168"/>
          </a:xfrm>
          <a:prstGeom prst="rect">
            <a:avLst/>
          </a:prstGeom>
          <a:noFill/>
        </p:spPr>
        <p:txBody>
          <a:bodyPr wrap="square">
            <a:spAutoFit/>
          </a:bodyPr>
          <a:lstStyle/>
          <a:p>
            <a:pPr algn="r">
              <a:defRPr sz="800" b="0">
                <a:solidFill>
                  <a:srgbClr val="F0F2F8"/>
                </a:solidFill>
                <a:latin typeface="Calibri"/>
              </a:defRPr>
            </a:pPr>
            <a:r>
              <a:t>2,108</a:t>
            </a:r>
          </a:p>
        </p:txBody>
      </p:sp>
      <p:sp>
        <p:nvSpPr>
          <p:cNvPr id="77" name="Rounded Rectangle 76"/>
          <p:cNvSpPr/>
          <p:nvPr/>
        </p:nvSpPr>
        <p:spPr>
          <a:xfrm>
            <a:off x="6217920" y="438912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6217920" y="4389120"/>
            <a:ext cx="686982"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263640" y="4398264"/>
            <a:ext cx="1371600" cy="201168"/>
          </a:xfrm>
          <a:prstGeom prst="rect">
            <a:avLst/>
          </a:prstGeom>
          <a:noFill/>
        </p:spPr>
        <p:txBody>
          <a:bodyPr wrap="square">
            <a:spAutoFit/>
          </a:bodyPr>
          <a:lstStyle/>
          <a:p>
            <a:pPr algn="l">
              <a:defRPr sz="800" b="1">
                <a:solidFill>
                  <a:srgbClr val="F0F2F8"/>
                </a:solidFill>
                <a:latin typeface="Calibri"/>
              </a:defRPr>
            </a:pPr>
            <a:r>
              <a:t>Direct</a:t>
            </a:r>
          </a:p>
        </p:txBody>
      </p:sp>
      <p:sp>
        <p:nvSpPr>
          <p:cNvPr id="80" name="TextBox 79"/>
          <p:cNvSpPr txBox="1"/>
          <p:nvPr/>
        </p:nvSpPr>
        <p:spPr>
          <a:xfrm>
            <a:off x="7955279" y="4398264"/>
            <a:ext cx="777240" cy="201168"/>
          </a:xfrm>
          <a:prstGeom prst="rect">
            <a:avLst/>
          </a:prstGeom>
          <a:noFill/>
        </p:spPr>
        <p:txBody>
          <a:bodyPr wrap="square">
            <a:spAutoFit/>
          </a:bodyPr>
          <a:lstStyle/>
          <a:p>
            <a:pPr algn="r">
              <a:defRPr sz="800" b="0">
                <a:solidFill>
                  <a:srgbClr val="F0F2F8"/>
                </a:solidFill>
                <a:latin typeface="Calibri"/>
              </a:defRPr>
            </a:pPr>
            <a:r>
              <a:t>1,483</a:t>
            </a:r>
          </a:p>
        </p:txBody>
      </p:sp>
      <p:sp>
        <p:nvSpPr>
          <p:cNvPr id="81" name="Rounded Rectangle 80"/>
          <p:cNvSpPr/>
          <p:nvPr/>
        </p:nvSpPr>
        <p:spPr>
          <a:xfrm>
            <a:off x="6217920" y="49834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p:cNvSpPr/>
          <p:nvPr/>
        </p:nvSpPr>
        <p:spPr>
          <a:xfrm>
            <a:off x="6217920" y="4983480"/>
            <a:ext cx="498444" cy="228600"/>
          </a:xfrm>
          <a:prstGeom prst="roundRect">
            <a:avLst/>
          </a:prstGeom>
          <a:solidFill>
            <a:srgbClr val="5A63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263640" y="4992624"/>
            <a:ext cx="1371600" cy="201168"/>
          </a:xfrm>
          <a:prstGeom prst="rect">
            <a:avLst/>
          </a:prstGeom>
          <a:noFill/>
        </p:spPr>
        <p:txBody>
          <a:bodyPr wrap="square">
            <a:spAutoFit/>
          </a:bodyPr>
          <a:lstStyle/>
          <a:p>
            <a:pPr algn="l">
              <a:defRPr sz="800" b="1">
                <a:solidFill>
                  <a:srgbClr val="F0F2F8"/>
                </a:solidFill>
                <a:latin typeface="Calibri"/>
              </a:defRPr>
            </a:pPr>
            <a:r>
              <a:t>Unasgn.</a:t>
            </a:r>
          </a:p>
        </p:txBody>
      </p:sp>
      <p:sp>
        <p:nvSpPr>
          <p:cNvPr id="84" name="TextBox 83"/>
          <p:cNvSpPr txBox="1"/>
          <p:nvPr/>
        </p:nvSpPr>
        <p:spPr>
          <a:xfrm>
            <a:off x="7955279" y="4992624"/>
            <a:ext cx="777240" cy="201168"/>
          </a:xfrm>
          <a:prstGeom prst="rect">
            <a:avLst/>
          </a:prstGeom>
          <a:noFill/>
        </p:spPr>
        <p:txBody>
          <a:bodyPr wrap="square">
            <a:spAutoFit/>
          </a:bodyPr>
          <a:lstStyle/>
          <a:p>
            <a:pPr algn="r">
              <a:defRPr sz="800" b="0">
                <a:solidFill>
                  <a:srgbClr val="F0F2F8"/>
                </a:solidFill>
                <a:latin typeface="Calibri"/>
              </a:defRPr>
            </a:pPr>
            <a:r>
              <a:t>1,076</a:t>
            </a:r>
          </a:p>
        </p:txBody>
      </p:sp>
      <p:sp>
        <p:nvSpPr>
          <p:cNvPr id="85" name="Rounded Rectangle 84"/>
          <p:cNvSpPr/>
          <p:nvPr/>
        </p:nvSpPr>
        <p:spPr>
          <a:xfrm>
            <a:off x="9006840" y="1371600"/>
            <a:ext cx="2743200" cy="45720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098280" y="1417320"/>
            <a:ext cx="2560320" cy="228600"/>
          </a:xfrm>
          <a:prstGeom prst="rect">
            <a:avLst/>
          </a:prstGeom>
          <a:noFill/>
        </p:spPr>
        <p:txBody>
          <a:bodyPr wrap="square">
            <a:spAutoFit/>
          </a:bodyPr>
          <a:lstStyle/>
          <a:p>
            <a:pPr algn="ctr">
              <a:defRPr sz="1000" b="1">
                <a:solidFill>
                  <a:srgbClr val="14B8A6"/>
                </a:solidFill>
                <a:latin typeface="Calibri"/>
              </a:defRPr>
            </a:pPr>
            <a:r>
              <a:t>APRILIE*</a:t>
            </a:r>
          </a:p>
        </p:txBody>
      </p:sp>
      <p:sp>
        <p:nvSpPr>
          <p:cNvPr id="87" name="TextBox 86"/>
          <p:cNvSpPr txBox="1"/>
          <p:nvPr/>
        </p:nvSpPr>
        <p:spPr>
          <a:xfrm>
            <a:off x="9098280" y="1645920"/>
            <a:ext cx="2560320" cy="228600"/>
          </a:xfrm>
          <a:prstGeom prst="rect">
            <a:avLst/>
          </a:prstGeom>
          <a:noFill/>
        </p:spPr>
        <p:txBody>
          <a:bodyPr wrap="square">
            <a:spAutoFit/>
          </a:bodyPr>
          <a:lstStyle/>
          <a:p>
            <a:pPr algn="ctr">
              <a:defRPr sz="1400" b="1">
                <a:solidFill>
                  <a:srgbClr val="F0F2F8"/>
                </a:solidFill>
                <a:latin typeface="Calibri"/>
              </a:defRPr>
            </a:pPr>
            <a:r>
              <a:t>9,742 ses</a:t>
            </a:r>
          </a:p>
        </p:txBody>
      </p:sp>
      <p:sp>
        <p:nvSpPr>
          <p:cNvPr id="88" name="Rounded Rectangle 87"/>
          <p:cNvSpPr/>
          <p:nvPr/>
        </p:nvSpPr>
        <p:spPr>
          <a:xfrm>
            <a:off x="9098280" y="20116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9098280" y="2011680"/>
            <a:ext cx="2560320" cy="228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9144000" y="2020824"/>
            <a:ext cx="1371600" cy="201168"/>
          </a:xfrm>
          <a:prstGeom prst="rect">
            <a:avLst/>
          </a:prstGeom>
          <a:noFill/>
        </p:spPr>
        <p:txBody>
          <a:bodyPr wrap="square">
            <a:spAutoFit/>
          </a:bodyPr>
          <a:lstStyle/>
          <a:p>
            <a:pPr algn="l">
              <a:defRPr sz="800" b="1">
                <a:solidFill>
                  <a:srgbClr val="F0F2F8"/>
                </a:solidFill>
                <a:latin typeface="Calibri"/>
              </a:defRPr>
            </a:pPr>
            <a:r>
              <a:t>Organic</a:t>
            </a:r>
          </a:p>
        </p:txBody>
      </p:sp>
      <p:sp>
        <p:nvSpPr>
          <p:cNvPr id="91" name="TextBox 90"/>
          <p:cNvSpPr txBox="1"/>
          <p:nvPr/>
        </p:nvSpPr>
        <p:spPr>
          <a:xfrm>
            <a:off x="10835640" y="2020824"/>
            <a:ext cx="777240" cy="201168"/>
          </a:xfrm>
          <a:prstGeom prst="rect">
            <a:avLst/>
          </a:prstGeom>
          <a:noFill/>
        </p:spPr>
        <p:txBody>
          <a:bodyPr wrap="square">
            <a:spAutoFit/>
          </a:bodyPr>
          <a:lstStyle/>
          <a:p>
            <a:pPr algn="r">
              <a:defRPr sz="800" b="0">
                <a:solidFill>
                  <a:srgbClr val="F0F2F8"/>
                </a:solidFill>
                <a:latin typeface="Calibri"/>
              </a:defRPr>
            </a:pPr>
            <a:r>
              <a:t>3,158</a:t>
            </a:r>
          </a:p>
        </p:txBody>
      </p:sp>
      <p:sp>
        <p:nvSpPr>
          <p:cNvPr id="92" name="Rounded Rectangle 91"/>
          <p:cNvSpPr/>
          <p:nvPr/>
        </p:nvSpPr>
        <p:spPr>
          <a:xfrm>
            <a:off x="9098280" y="260604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9098280" y="2606040"/>
            <a:ext cx="1667694"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144000" y="2615184"/>
            <a:ext cx="1371600" cy="201168"/>
          </a:xfrm>
          <a:prstGeom prst="rect">
            <a:avLst/>
          </a:prstGeom>
          <a:noFill/>
        </p:spPr>
        <p:txBody>
          <a:bodyPr wrap="square">
            <a:spAutoFit/>
          </a:bodyPr>
          <a:lstStyle/>
          <a:p>
            <a:pPr algn="l">
              <a:defRPr sz="800" b="1">
                <a:solidFill>
                  <a:srgbClr val="F0F2F8"/>
                </a:solidFill>
                <a:latin typeface="Calibri"/>
              </a:defRPr>
            </a:pPr>
            <a:r>
              <a:t>Paid Src</a:t>
            </a:r>
          </a:p>
        </p:txBody>
      </p:sp>
      <p:sp>
        <p:nvSpPr>
          <p:cNvPr id="95" name="TextBox 94"/>
          <p:cNvSpPr txBox="1"/>
          <p:nvPr/>
        </p:nvSpPr>
        <p:spPr>
          <a:xfrm>
            <a:off x="10835640" y="2615184"/>
            <a:ext cx="777240" cy="201168"/>
          </a:xfrm>
          <a:prstGeom prst="rect">
            <a:avLst/>
          </a:prstGeom>
          <a:noFill/>
        </p:spPr>
        <p:txBody>
          <a:bodyPr wrap="square">
            <a:spAutoFit/>
          </a:bodyPr>
          <a:lstStyle/>
          <a:p>
            <a:pPr algn="r">
              <a:defRPr sz="800" b="0">
                <a:solidFill>
                  <a:srgbClr val="F0F2F8"/>
                </a:solidFill>
                <a:latin typeface="Calibri"/>
              </a:defRPr>
            </a:pPr>
            <a:r>
              <a:t>2,057</a:t>
            </a:r>
          </a:p>
        </p:txBody>
      </p:sp>
      <p:sp>
        <p:nvSpPr>
          <p:cNvPr id="96" name="Rounded Rectangle 95"/>
          <p:cNvSpPr/>
          <p:nvPr/>
        </p:nvSpPr>
        <p:spPr>
          <a:xfrm>
            <a:off x="9098280" y="320040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96"/>
          <p:cNvSpPr/>
          <p:nvPr/>
        </p:nvSpPr>
        <p:spPr>
          <a:xfrm>
            <a:off x="9098280" y="3200400"/>
            <a:ext cx="1499060" cy="2286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144000" y="3209544"/>
            <a:ext cx="1371600" cy="201168"/>
          </a:xfrm>
          <a:prstGeom prst="rect">
            <a:avLst/>
          </a:prstGeom>
          <a:noFill/>
        </p:spPr>
        <p:txBody>
          <a:bodyPr wrap="square">
            <a:spAutoFit/>
          </a:bodyPr>
          <a:lstStyle/>
          <a:p>
            <a:pPr algn="l">
              <a:defRPr sz="800" b="1">
                <a:solidFill>
                  <a:srgbClr val="F0F2F8"/>
                </a:solidFill>
                <a:latin typeface="Calibri"/>
              </a:defRPr>
            </a:pPr>
            <a:r>
              <a:t>PMax</a:t>
            </a:r>
          </a:p>
        </p:txBody>
      </p:sp>
      <p:sp>
        <p:nvSpPr>
          <p:cNvPr id="99" name="TextBox 98"/>
          <p:cNvSpPr txBox="1"/>
          <p:nvPr/>
        </p:nvSpPr>
        <p:spPr>
          <a:xfrm>
            <a:off x="10835640" y="3209544"/>
            <a:ext cx="777240" cy="201168"/>
          </a:xfrm>
          <a:prstGeom prst="rect">
            <a:avLst/>
          </a:prstGeom>
          <a:noFill/>
        </p:spPr>
        <p:txBody>
          <a:bodyPr wrap="square">
            <a:spAutoFit/>
          </a:bodyPr>
          <a:lstStyle/>
          <a:p>
            <a:pPr algn="r">
              <a:defRPr sz="800" b="0">
                <a:solidFill>
                  <a:srgbClr val="F0F2F8"/>
                </a:solidFill>
                <a:latin typeface="Calibri"/>
              </a:defRPr>
            </a:pPr>
            <a:r>
              <a:t>1,849</a:t>
            </a:r>
          </a:p>
        </p:txBody>
      </p:sp>
      <p:sp>
        <p:nvSpPr>
          <p:cNvPr id="100" name="Rounded Rectangle 99"/>
          <p:cNvSpPr/>
          <p:nvPr/>
        </p:nvSpPr>
        <p:spPr>
          <a:xfrm>
            <a:off x="9098280" y="379476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9098280" y="3794760"/>
            <a:ext cx="843981"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9144000" y="3803904"/>
            <a:ext cx="1371600" cy="201168"/>
          </a:xfrm>
          <a:prstGeom prst="rect">
            <a:avLst/>
          </a:prstGeom>
          <a:noFill/>
        </p:spPr>
        <p:txBody>
          <a:bodyPr wrap="square">
            <a:spAutoFit/>
          </a:bodyPr>
          <a:lstStyle/>
          <a:p>
            <a:pPr algn="l">
              <a:defRPr sz="800" b="1">
                <a:solidFill>
                  <a:srgbClr val="F0F2F8"/>
                </a:solidFill>
                <a:latin typeface="Calibri"/>
              </a:defRPr>
            </a:pPr>
            <a:r>
              <a:t>Direct</a:t>
            </a:r>
          </a:p>
        </p:txBody>
      </p:sp>
      <p:sp>
        <p:nvSpPr>
          <p:cNvPr id="103" name="TextBox 102"/>
          <p:cNvSpPr txBox="1"/>
          <p:nvPr/>
        </p:nvSpPr>
        <p:spPr>
          <a:xfrm>
            <a:off x="10835640" y="3803904"/>
            <a:ext cx="777240" cy="201168"/>
          </a:xfrm>
          <a:prstGeom prst="rect">
            <a:avLst/>
          </a:prstGeom>
          <a:noFill/>
        </p:spPr>
        <p:txBody>
          <a:bodyPr wrap="square">
            <a:spAutoFit/>
          </a:bodyPr>
          <a:lstStyle/>
          <a:p>
            <a:pPr algn="r">
              <a:defRPr sz="800" b="0">
                <a:solidFill>
                  <a:srgbClr val="F0F2F8"/>
                </a:solidFill>
                <a:latin typeface="Calibri"/>
              </a:defRPr>
            </a:pPr>
            <a:r>
              <a:t>1,041</a:t>
            </a:r>
          </a:p>
        </p:txBody>
      </p:sp>
      <p:sp>
        <p:nvSpPr>
          <p:cNvPr id="104" name="Rounded Rectangle 103"/>
          <p:cNvSpPr/>
          <p:nvPr/>
        </p:nvSpPr>
        <p:spPr>
          <a:xfrm>
            <a:off x="9098280" y="438912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9098280" y="4389120"/>
            <a:ext cx="759664" cy="22860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9144000" y="4398264"/>
            <a:ext cx="1371600" cy="201168"/>
          </a:xfrm>
          <a:prstGeom prst="rect">
            <a:avLst/>
          </a:prstGeom>
          <a:noFill/>
        </p:spPr>
        <p:txBody>
          <a:bodyPr wrap="square">
            <a:spAutoFit/>
          </a:bodyPr>
          <a:lstStyle/>
          <a:p>
            <a:pPr algn="l">
              <a:defRPr sz="800" b="1">
                <a:solidFill>
                  <a:srgbClr val="F0F2F8"/>
                </a:solidFill>
                <a:latin typeface="Calibri"/>
              </a:defRPr>
            </a:pPr>
            <a:r>
              <a:t>Social</a:t>
            </a:r>
          </a:p>
        </p:txBody>
      </p:sp>
      <p:sp>
        <p:nvSpPr>
          <p:cNvPr id="107" name="TextBox 106"/>
          <p:cNvSpPr txBox="1"/>
          <p:nvPr/>
        </p:nvSpPr>
        <p:spPr>
          <a:xfrm>
            <a:off x="10835640" y="4398264"/>
            <a:ext cx="777240" cy="201168"/>
          </a:xfrm>
          <a:prstGeom prst="rect">
            <a:avLst/>
          </a:prstGeom>
          <a:noFill/>
        </p:spPr>
        <p:txBody>
          <a:bodyPr wrap="square">
            <a:spAutoFit/>
          </a:bodyPr>
          <a:lstStyle/>
          <a:p>
            <a:pPr algn="r">
              <a:defRPr sz="800" b="0">
                <a:solidFill>
                  <a:srgbClr val="F0F2F8"/>
                </a:solidFill>
                <a:latin typeface="Calibri"/>
              </a:defRPr>
            </a:pPr>
            <a:r>
              <a:t>937</a:t>
            </a:r>
          </a:p>
        </p:txBody>
      </p:sp>
      <p:sp>
        <p:nvSpPr>
          <p:cNvPr id="108" name="Rounded Rectangle 107"/>
          <p:cNvSpPr/>
          <p:nvPr/>
        </p:nvSpPr>
        <p:spPr>
          <a:xfrm>
            <a:off x="9098280" y="4983480"/>
            <a:ext cx="25603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9098280" y="4983480"/>
            <a:ext cx="458068" cy="228600"/>
          </a:xfrm>
          <a:prstGeom prst="roundRect">
            <a:avLst/>
          </a:prstGeom>
          <a:solidFill>
            <a:srgbClr val="5A63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9144000" y="4992624"/>
            <a:ext cx="1371600" cy="201168"/>
          </a:xfrm>
          <a:prstGeom prst="rect">
            <a:avLst/>
          </a:prstGeom>
          <a:noFill/>
        </p:spPr>
        <p:txBody>
          <a:bodyPr wrap="square">
            <a:spAutoFit/>
          </a:bodyPr>
          <a:lstStyle/>
          <a:p>
            <a:pPr algn="l">
              <a:defRPr sz="800" b="1">
                <a:solidFill>
                  <a:srgbClr val="F0F2F8"/>
                </a:solidFill>
                <a:latin typeface="Calibri"/>
              </a:defRPr>
            </a:pPr>
            <a:r>
              <a:t>Unasgn.</a:t>
            </a:r>
          </a:p>
        </p:txBody>
      </p:sp>
      <p:sp>
        <p:nvSpPr>
          <p:cNvPr id="111" name="TextBox 110"/>
          <p:cNvSpPr txBox="1"/>
          <p:nvPr/>
        </p:nvSpPr>
        <p:spPr>
          <a:xfrm>
            <a:off x="10835640" y="4992624"/>
            <a:ext cx="777240" cy="201168"/>
          </a:xfrm>
          <a:prstGeom prst="rect">
            <a:avLst/>
          </a:prstGeom>
          <a:noFill/>
        </p:spPr>
        <p:txBody>
          <a:bodyPr wrap="square">
            <a:spAutoFit/>
          </a:bodyPr>
          <a:lstStyle/>
          <a:p>
            <a:pPr algn="r">
              <a:defRPr sz="800" b="0">
                <a:solidFill>
                  <a:srgbClr val="F0F2F8"/>
                </a:solidFill>
                <a:latin typeface="Calibri"/>
              </a:defRPr>
            </a:pPr>
            <a:r>
              <a:t>565</a:t>
            </a:r>
          </a:p>
        </p:txBody>
      </p:sp>
      <p:sp>
        <p:nvSpPr>
          <p:cNvPr id="112" name="TextBox 111"/>
          <p:cNvSpPr txBox="1"/>
          <p:nvPr/>
        </p:nvSpPr>
        <p:spPr>
          <a:xfrm>
            <a:off x="365760" y="6035040"/>
            <a:ext cx="10972800" cy="182880"/>
          </a:xfrm>
          <a:prstGeom prst="rect">
            <a:avLst/>
          </a:prstGeom>
          <a:noFill/>
        </p:spPr>
        <p:txBody>
          <a:bodyPr wrap="square">
            <a:spAutoFit/>
          </a:bodyPr>
          <a:lstStyle/>
          <a:p>
            <a:pPr algn="l">
              <a:defRPr sz="800" b="0">
                <a:solidFill>
                  <a:srgbClr val="5A6380"/>
                </a:solidFill>
                <a:latin typeface="Calibri"/>
              </a:defRPr>
            </a:pPr>
            <a:r>
              <a:t>* Aprilie = doar primele 14 zile</a:t>
            </a:r>
          </a:p>
        </p:txBody>
      </p:sp>
      <p:sp>
        <p:nvSpPr>
          <p:cNvPr id="113" name="Rounded Rectangle 112"/>
          <p:cNvSpPr/>
          <p:nvPr/>
        </p:nvSpPr>
        <p:spPr>
          <a:xfrm>
            <a:off x="365760" y="6263640"/>
            <a:ext cx="5486400" cy="45720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365760" y="6263640"/>
            <a:ext cx="54864"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548640" y="6291072"/>
            <a:ext cx="5212080" cy="182880"/>
          </a:xfrm>
          <a:prstGeom prst="rect">
            <a:avLst/>
          </a:prstGeom>
          <a:noFill/>
        </p:spPr>
        <p:txBody>
          <a:bodyPr wrap="square">
            <a:spAutoFit/>
          </a:bodyPr>
          <a:lstStyle/>
          <a:p>
            <a:pPr algn="l">
              <a:defRPr sz="1000" b="1">
                <a:solidFill>
                  <a:srgbClr val="10B981"/>
                </a:solidFill>
                <a:latin typeface="Calibri"/>
              </a:defRPr>
            </a:pPr>
            <a:r>
              <a:t>📈 Organic Search crește constant:</a:t>
            </a:r>
          </a:p>
        </p:txBody>
      </p:sp>
      <p:sp>
        <p:nvSpPr>
          <p:cNvPr id="116" name="TextBox 115"/>
          <p:cNvSpPr txBox="1"/>
          <p:nvPr/>
        </p:nvSpPr>
        <p:spPr>
          <a:xfrm>
            <a:off x="548640" y="6492240"/>
            <a:ext cx="5212080" cy="182880"/>
          </a:xfrm>
          <a:prstGeom prst="rect">
            <a:avLst/>
          </a:prstGeom>
          <a:noFill/>
        </p:spPr>
        <p:txBody>
          <a:bodyPr wrap="square">
            <a:spAutoFit/>
          </a:bodyPr>
          <a:lstStyle/>
          <a:p>
            <a:pPr algn="l">
              <a:defRPr sz="1000" b="0">
                <a:solidFill>
                  <a:srgbClr val="8B95B0"/>
                </a:solidFill>
                <a:latin typeface="Calibri"/>
              </a:defRPr>
            </a:pPr>
            <a:r>
              <a:t>De la #3 (Ian) → #1 (Mar/Apr) — SEO-ul funcționează!</a:t>
            </a:r>
          </a:p>
        </p:txBody>
      </p:sp>
      <p:sp>
        <p:nvSpPr>
          <p:cNvPr id="117" name="Rounded Rectangle 116"/>
          <p:cNvSpPr/>
          <p:nvPr/>
        </p:nvSpPr>
        <p:spPr>
          <a:xfrm>
            <a:off x="6126480" y="6263640"/>
            <a:ext cx="5486400" cy="45720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ounded Rectangle 117"/>
          <p:cNvSpPr/>
          <p:nvPr/>
        </p:nvSpPr>
        <p:spPr>
          <a:xfrm>
            <a:off x="6126480" y="6263640"/>
            <a:ext cx="54864" cy="4572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6309360" y="6291072"/>
            <a:ext cx="5212080" cy="182880"/>
          </a:xfrm>
          <a:prstGeom prst="rect">
            <a:avLst/>
          </a:prstGeom>
          <a:noFill/>
        </p:spPr>
        <p:txBody>
          <a:bodyPr wrap="square">
            <a:spAutoFit/>
          </a:bodyPr>
          <a:lstStyle/>
          <a:p>
            <a:pPr algn="l">
              <a:defRPr sz="1000" b="1">
                <a:solidFill>
                  <a:srgbClr val="F59E0B"/>
                </a:solidFill>
                <a:latin typeface="Calibri"/>
              </a:defRPr>
            </a:pPr>
            <a:r>
              <a:t>📉 Paid Social (Meta) scade:</a:t>
            </a:r>
          </a:p>
        </p:txBody>
      </p:sp>
      <p:sp>
        <p:nvSpPr>
          <p:cNvPr id="120" name="TextBox 119"/>
          <p:cNvSpPr txBox="1"/>
          <p:nvPr/>
        </p:nvSpPr>
        <p:spPr>
          <a:xfrm>
            <a:off x="6309360" y="6492240"/>
            <a:ext cx="5212080" cy="182880"/>
          </a:xfrm>
          <a:prstGeom prst="rect">
            <a:avLst/>
          </a:prstGeom>
          <a:noFill/>
        </p:spPr>
        <p:txBody>
          <a:bodyPr wrap="square">
            <a:spAutoFit/>
          </a:bodyPr>
          <a:lstStyle/>
          <a:p>
            <a:pPr algn="l">
              <a:defRPr sz="1000" b="0">
                <a:solidFill>
                  <a:srgbClr val="8B95B0"/>
                </a:solidFill>
                <a:latin typeface="Calibri"/>
              </a:defRPr>
            </a:pPr>
            <a:r>
              <a:t>De la 4,124 (Ian) → 937 (Apr) — buget redus.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LANDING PAGES</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Pe ce pagini ajung prima dată vizitatorii?</a:t>
            </a:r>
          </a:p>
        </p:txBody>
      </p:sp>
      <p:sp>
        <p:nvSpPr>
          <p:cNvPr id="4" name="Rounded Rectangle 3"/>
          <p:cNvSpPr/>
          <p:nvPr/>
        </p:nvSpPr>
        <p:spPr>
          <a:xfrm>
            <a:off x="457200" y="1280160"/>
            <a:ext cx="11247120" cy="3657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98448"/>
            <a:ext cx="3474720" cy="320040"/>
          </a:xfrm>
          <a:prstGeom prst="rect">
            <a:avLst/>
          </a:prstGeom>
          <a:noFill/>
        </p:spPr>
        <p:txBody>
          <a:bodyPr wrap="square">
            <a:spAutoFit/>
          </a:bodyPr>
          <a:lstStyle/>
          <a:p>
            <a:pPr algn="l">
              <a:defRPr sz="900" b="1">
                <a:solidFill>
                  <a:srgbClr val="F0F2F8"/>
                </a:solidFill>
                <a:latin typeface="Calibri"/>
              </a:defRPr>
            </a:pPr>
            <a:r>
              <a:t>PAGINA</a:t>
            </a:r>
          </a:p>
        </p:txBody>
      </p:sp>
      <p:sp>
        <p:nvSpPr>
          <p:cNvPr id="6" name="TextBox 5"/>
          <p:cNvSpPr txBox="1"/>
          <p:nvPr/>
        </p:nvSpPr>
        <p:spPr>
          <a:xfrm>
            <a:off x="4114800" y="1298448"/>
            <a:ext cx="731520" cy="320040"/>
          </a:xfrm>
          <a:prstGeom prst="rect">
            <a:avLst/>
          </a:prstGeom>
          <a:noFill/>
        </p:spPr>
        <p:txBody>
          <a:bodyPr wrap="square">
            <a:spAutoFit/>
          </a:bodyPr>
          <a:lstStyle/>
          <a:p>
            <a:pPr algn="r">
              <a:defRPr sz="900" b="1">
                <a:solidFill>
                  <a:srgbClr val="F0F2F8"/>
                </a:solidFill>
                <a:latin typeface="Calibri"/>
              </a:defRPr>
            </a:pPr>
            <a:r>
              <a:t>SESIUNI</a:t>
            </a:r>
          </a:p>
        </p:txBody>
      </p:sp>
      <p:sp>
        <p:nvSpPr>
          <p:cNvPr id="7" name="TextBox 6"/>
          <p:cNvSpPr txBox="1"/>
          <p:nvPr/>
        </p:nvSpPr>
        <p:spPr>
          <a:xfrm>
            <a:off x="5029200" y="1298448"/>
            <a:ext cx="6400800" cy="320040"/>
          </a:xfrm>
          <a:prstGeom prst="rect">
            <a:avLst/>
          </a:prstGeom>
          <a:noFill/>
        </p:spPr>
        <p:txBody>
          <a:bodyPr wrap="square">
            <a:spAutoFit/>
          </a:bodyPr>
          <a:lstStyle/>
          <a:p>
            <a:pPr algn="l">
              <a:defRPr sz="900" b="1">
                <a:solidFill>
                  <a:srgbClr val="F0F2F8"/>
                </a:solidFill>
                <a:latin typeface="Calibri"/>
              </a:defRPr>
            </a:pPr>
            <a:r>
              <a:t>CE ÎNSEAMNĂ</a:t>
            </a:r>
          </a:p>
        </p:txBody>
      </p:sp>
      <p:sp>
        <p:nvSpPr>
          <p:cNvPr id="8" name="Rounded Rectangle 7"/>
          <p:cNvSpPr/>
          <p:nvPr/>
        </p:nvSpPr>
        <p:spPr>
          <a:xfrm>
            <a:off x="457200" y="1737360"/>
            <a:ext cx="11247120" cy="411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 y="1737360"/>
            <a:ext cx="54864"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783080"/>
            <a:ext cx="3383280" cy="320040"/>
          </a:xfrm>
          <a:prstGeom prst="rect">
            <a:avLst/>
          </a:prstGeom>
          <a:noFill/>
        </p:spPr>
        <p:txBody>
          <a:bodyPr wrap="square">
            <a:spAutoFit/>
          </a:bodyPr>
          <a:lstStyle/>
          <a:p>
            <a:pPr algn="l">
              <a:defRPr sz="900" b="1">
                <a:solidFill>
                  <a:srgbClr val="F0F2F8"/>
                </a:solidFill>
                <a:latin typeface="Calibri"/>
              </a:defRPr>
            </a:pPr>
            <a:r>
              <a:t>/collections/all?filter=Longevitate</a:t>
            </a:r>
          </a:p>
        </p:txBody>
      </p:sp>
      <p:sp>
        <p:nvSpPr>
          <p:cNvPr id="11" name="TextBox 10"/>
          <p:cNvSpPr txBox="1"/>
          <p:nvPr/>
        </p:nvSpPr>
        <p:spPr>
          <a:xfrm>
            <a:off x="4114800" y="1783080"/>
            <a:ext cx="731520" cy="320040"/>
          </a:xfrm>
          <a:prstGeom prst="rect">
            <a:avLst/>
          </a:prstGeom>
          <a:noFill/>
        </p:spPr>
        <p:txBody>
          <a:bodyPr wrap="square">
            <a:spAutoFit/>
          </a:bodyPr>
          <a:lstStyle/>
          <a:p>
            <a:pPr algn="r">
              <a:defRPr sz="1000" b="1">
                <a:solidFill>
                  <a:srgbClr val="6366F1"/>
                </a:solidFill>
                <a:latin typeface="Calibri"/>
              </a:defRPr>
            </a:pPr>
            <a:r>
              <a:t>10,874</a:t>
            </a:r>
          </a:p>
        </p:txBody>
      </p:sp>
      <p:sp>
        <p:nvSpPr>
          <p:cNvPr id="12" name="TextBox 11"/>
          <p:cNvSpPr txBox="1"/>
          <p:nvPr/>
        </p:nvSpPr>
        <p:spPr>
          <a:xfrm>
            <a:off x="5029200" y="1783080"/>
            <a:ext cx="6400800" cy="320040"/>
          </a:xfrm>
          <a:prstGeom prst="rect">
            <a:avLst/>
          </a:prstGeom>
          <a:noFill/>
        </p:spPr>
        <p:txBody>
          <a:bodyPr wrap="square">
            <a:spAutoFit/>
          </a:bodyPr>
          <a:lstStyle/>
          <a:p>
            <a:pPr algn="l">
              <a:defRPr sz="900" b="0">
                <a:solidFill>
                  <a:srgbClr val="8B95B0"/>
                </a:solidFill>
                <a:latin typeface="Calibri"/>
              </a:defRPr>
            </a:pPr>
            <a:r>
              <a:t>Colecția filtrata pe Longevitate — visitors din Google Ads PMax Longevity</a:t>
            </a:r>
          </a:p>
        </p:txBody>
      </p:sp>
      <p:sp>
        <p:nvSpPr>
          <p:cNvPr id="13" name="Rounded Rectangle 12"/>
          <p:cNvSpPr/>
          <p:nvPr/>
        </p:nvSpPr>
        <p:spPr>
          <a:xfrm>
            <a:off x="457200" y="2221991"/>
            <a:ext cx="11247120" cy="41148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2221991"/>
            <a:ext cx="54864" cy="4114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267711"/>
            <a:ext cx="3383280" cy="320040"/>
          </a:xfrm>
          <a:prstGeom prst="rect">
            <a:avLst/>
          </a:prstGeom>
          <a:noFill/>
        </p:spPr>
        <p:txBody>
          <a:bodyPr wrap="square">
            <a:spAutoFit/>
          </a:bodyPr>
          <a:lstStyle/>
          <a:p>
            <a:pPr algn="l">
              <a:defRPr sz="900" b="1">
                <a:solidFill>
                  <a:srgbClr val="F0F2F8"/>
                </a:solidFill>
                <a:latin typeface="Calibri"/>
              </a:defRPr>
            </a:pPr>
            <a:r>
              <a:t>/ (Homepage)</a:t>
            </a:r>
          </a:p>
        </p:txBody>
      </p:sp>
      <p:sp>
        <p:nvSpPr>
          <p:cNvPr id="16" name="TextBox 15"/>
          <p:cNvSpPr txBox="1"/>
          <p:nvPr/>
        </p:nvSpPr>
        <p:spPr>
          <a:xfrm>
            <a:off x="4114800" y="2267711"/>
            <a:ext cx="731520" cy="320040"/>
          </a:xfrm>
          <a:prstGeom prst="rect">
            <a:avLst/>
          </a:prstGeom>
          <a:noFill/>
        </p:spPr>
        <p:txBody>
          <a:bodyPr wrap="square">
            <a:spAutoFit/>
          </a:bodyPr>
          <a:lstStyle/>
          <a:p>
            <a:pPr algn="r">
              <a:defRPr sz="1000" b="1">
                <a:solidFill>
                  <a:srgbClr val="8B5CF6"/>
                </a:solidFill>
                <a:latin typeface="Calibri"/>
              </a:defRPr>
            </a:pPr>
            <a:r>
              <a:t>4,702</a:t>
            </a:r>
          </a:p>
        </p:txBody>
      </p:sp>
      <p:sp>
        <p:nvSpPr>
          <p:cNvPr id="17" name="TextBox 16"/>
          <p:cNvSpPr txBox="1"/>
          <p:nvPr/>
        </p:nvSpPr>
        <p:spPr>
          <a:xfrm>
            <a:off x="5029200" y="2267711"/>
            <a:ext cx="6400800" cy="320040"/>
          </a:xfrm>
          <a:prstGeom prst="rect">
            <a:avLst/>
          </a:prstGeom>
          <a:noFill/>
        </p:spPr>
        <p:txBody>
          <a:bodyPr wrap="square">
            <a:spAutoFit/>
          </a:bodyPr>
          <a:lstStyle/>
          <a:p>
            <a:pPr algn="l">
              <a:defRPr sz="900" b="0">
                <a:solidFill>
                  <a:srgbClr val="8B95B0"/>
                </a:solidFill>
                <a:latin typeface="Calibri"/>
              </a:defRPr>
            </a:pPr>
            <a:r>
              <a:t>Pagina principală — clienți recurenți care știu brandul</a:t>
            </a:r>
          </a:p>
        </p:txBody>
      </p:sp>
      <p:sp>
        <p:nvSpPr>
          <p:cNvPr id="18" name="Rounded Rectangle 17"/>
          <p:cNvSpPr/>
          <p:nvPr/>
        </p:nvSpPr>
        <p:spPr>
          <a:xfrm>
            <a:off x="457200" y="2706624"/>
            <a:ext cx="11247120" cy="411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7200" y="2706624"/>
            <a:ext cx="54864"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2752344"/>
            <a:ext cx="3383280" cy="320040"/>
          </a:xfrm>
          <a:prstGeom prst="rect">
            <a:avLst/>
          </a:prstGeom>
          <a:noFill/>
        </p:spPr>
        <p:txBody>
          <a:bodyPr wrap="square">
            <a:spAutoFit/>
          </a:bodyPr>
          <a:lstStyle/>
          <a:p>
            <a:pPr algn="l">
              <a:defRPr sz="900" b="1">
                <a:solidFill>
                  <a:srgbClr val="F0F2F8"/>
                </a:solidFill>
                <a:latin typeface="Calibri"/>
              </a:defRPr>
            </a:pPr>
            <a:r>
              <a:t>/blog/cura-cu-magneziu</a:t>
            </a:r>
          </a:p>
        </p:txBody>
      </p:sp>
      <p:sp>
        <p:nvSpPr>
          <p:cNvPr id="21" name="TextBox 20"/>
          <p:cNvSpPr txBox="1"/>
          <p:nvPr/>
        </p:nvSpPr>
        <p:spPr>
          <a:xfrm>
            <a:off x="4114800" y="2752344"/>
            <a:ext cx="731520" cy="320040"/>
          </a:xfrm>
          <a:prstGeom prst="rect">
            <a:avLst/>
          </a:prstGeom>
          <a:noFill/>
        </p:spPr>
        <p:txBody>
          <a:bodyPr wrap="square">
            <a:spAutoFit/>
          </a:bodyPr>
          <a:lstStyle/>
          <a:p>
            <a:pPr algn="r">
              <a:defRPr sz="1000" b="1">
                <a:solidFill>
                  <a:srgbClr val="10B981"/>
                </a:solidFill>
                <a:latin typeface="Calibri"/>
              </a:defRPr>
            </a:pPr>
            <a:r>
              <a:t>2,685</a:t>
            </a:r>
          </a:p>
        </p:txBody>
      </p:sp>
      <p:sp>
        <p:nvSpPr>
          <p:cNvPr id="22" name="TextBox 21"/>
          <p:cNvSpPr txBox="1"/>
          <p:nvPr/>
        </p:nvSpPr>
        <p:spPr>
          <a:xfrm>
            <a:off x="5029200" y="2752344"/>
            <a:ext cx="6400800" cy="320040"/>
          </a:xfrm>
          <a:prstGeom prst="rect">
            <a:avLst/>
          </a:prstGeom>
          <a:noFill/>
        </p:spPr>
        <p:txBody>
          <a:bodyPr wrap="square">
            <a:spAutoFit/>
          </a:bodyPr>
          <a:lstStyle/>
          <a:p>
            <a:pPr algn="l">
              <a:defRPr sz="900" b="0">
                <a:solidFill>
                  <a:srgbClr val="8B95B0"/>
                </a:solidFill>
                <a:latin typeface="Calibri"/>
              </a:defRPr>
            </a:pPr>
            <a:r>
              <a:t>Articol SEO: 'Cât durează o cură cu magneziu' — trafic organic gratuit</a:t>
            </a:r>
          </a:p>
        </p:txBody>
      </p:sp>
      <p:sp>
        <p:nvSpPr>
          <p:cNvPr id="23" name="Rounded Rectangle 22"/>
          <p:cNvSpPr/>
          <p:nvPr/>
        </p:nvSpPr>
        <p:spPr>
          <a:xfrm>
            <a:off x="457200" y="3191256"/>
            <a:ext cx="11247120" cy="41148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57200" y="3191256"/>
            <a:ext cx="54864"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 y="3236976"/>
            <a:ext cx="3383280" cy="320040"/>
          </a:xfrm>
          <a:prstGeom prst="rect">
            <a:avLst/>
          </a:prstGeom>
          <a:noFill/>
        </p:spPr>
        <p:txBody>
          <a:bodyPr wrap="square">
            <a:spAutoFit/>
          </a:bodyPr>
          <a:lstStyle/>
          <a:p>
            <a:pPr algn="l">
              <a:defRPr sz="900" b="1">
                <a:solidFill>
                  <a:srgbClr val="F0F2F8"/>
                </a:solidFill>
                <a:latin typeface="Calibri"/>
              </a:defRPr>
            </a:pPr>
            <a:r>
              <a:t>/blog/post-intermitent-longevitate</a:t>
            </a:r>
          </a:p>
        </p:txBody>
      </p:sp>
      <p:sp>
        <p:nvSpPr>
          <p:cNvPr id="26" name="TextBox 25"/>
          <p:cNvSpPr txBox="1"/>
          <p:nvPr/>
        </p:nvSpPr>
        <p:spPr>
          <a:xfrm>
            <a:off x="4114800" y="3236976"/>
            <a:ext cx="731520" cy="320040"/>
          </a:xfrm>
          <a:prstGeom prst="rect">
            <a:avLst/>
          </a:prstGeom>
          <a:noFill/>
        </p:spPr>
        <p:txBody>
          <a:bodyPr wrap="square">
            <a:spAutoFit/>
          </a:bodyPr>
          <a:lstStyle/>
          <a:p>
            <a:pPr algn="r">
              <a:defRPr sz="1000" b="1">
                <a:solidFill>
                  <a:srgbClr val="10B981"/>
                </a:solidFill>
                <a:latin typeface="Calibri"/>
              </a:defRPr>
            </a:pPr>
            <a:r>
              <a:t>2,602</a:t>
            </a:r>
          </a:p>
        </p:txBody>
      </p:sp>
      <p:sp>
        <p:nvSpPr>
          <p:cNvPr id="27" name="TextBox 26"/>
          <p:cNvSpPr txBox="1"/>
          <p:nvPr/>
        </p:nvSpPr>
        <p:spPr>
          <a:xfrm>
            <a:off x="5029200" y="3236976"/>
            <a:ext cx="6400800" cy="320040"/>
          </a:xfrm>
          <a:prstGeom prst="rect">
            <a:avLst/>
          </a:prstGeom>
          <a:noFill/>
        </p:spPr>
        <p:txBody>
          <a:bodyPr wrap="square">
            <a:spAutoFit/>
          </a:bodyPr>
          <a:lstStyle/>
          <a:p>
            <a:pPr algn="l">
              <a:defRPr sz="900" b="0">
                <a:solidFill>
                  <a:srgbClr val="8B95B0"/>
                </a:solidFill>
                <a:latin typeface="Calibri"/>
              </a:defRPr>
            </a:pPr>
            <a:r>
              <a:t>Articol SEO: 'Beneficiile postului intermitent' — audiență health</a:t>
            </a:r>
          </a:p>
        </p:txBody>
      </p:sp>
      <p:sp>
        <p:nvSpPr>
          <p:cNvPr id="28" name="Rounded Rectangle 27"/>
          <p:cNvSpPr/>
          <p:nvPr/>
        </p:nvSpPr>
        <p:spPr>
          <a:xfrm>
            <a:off x="457200" y="3675887"/>
            <a:ext cx="11247120" cy="411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57200" y="3675887"/>
            <a:ext cx="54864"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3721607"/>
            <a:ext cx="3383280" cy="320040"/>
          </a:xfrm>
          <a:prstGeom prst="rect">
            <a:avLst/>
          </a:prstGeom>
          <a:noFill/>
        </p:spPr>
        <p:txBody>
          <a:bodyPr wrap="square">
            <a:spAutoFit/>
          </a:bodyPr>
          <a:lstStyle/>
          <a:p>
            <a:pPr algn="l">
              <a:defRPr sz="900" b="1">
                <a:solidFill>
                  <a:srgbClr val="F0F2F8"/>
                </a:solidFill>
                <a:latin typeface="Calibri"/>
              </a:defRPr>
            </a:pPr>
            <a:r>
              <a:t>/blog/melatonina-doza</a:t>
            </a:r>
          </a:p>
        </p:txBody>
      </p:sp>
      <p:sp>
        <p:nvSpPr>
          <p:cNvPr id="31" name="TextBox 30"/>
          <p:cNvSpPr txBox="1"/>
          <p:nvPr/>
        </p:nvSpPr>
        <p:spPr>
          <a:xfrm>
            <a:off x="4114800" y="3721607"/>
            <a:ext cx="731520" cy="320040"/>
          </a:xfrm>
          <a:prstGeom prst="rect">
            <a:avLst/>
          </a:prstGeom>
          <a:noFill/>
        </p:spPr>
        <p:txBody>
          <a:bodyPr wrap="square">
            <a:spAutoFit/>
          </a:bodyPr>
          <a:lstStyle/>
          <a:p>
            <a:pPr algn="r">
              <a:defRPr sz="1000" b="1">
                <a:solidFill>
                  <a:srgbClr val="10B981"/>
                </a:solidFill>
                <a:latin typeface="Calibri"/>
              </a:defRPr>
            </a:pPr>
            <a:r>
              <a:t>1,716</a:t>
            </a:r>
          </a:p>
        </p:txBody>
      </p:sp>
      <p:sp>
        <p:nvSpPr>
          <p:cNvPr id="32" name="TextBox 31"/>
          <p:cNvSpPr txBox="1"/>
          <p:nvPr/>
        </p:nvSpPr>
        <p:spPr>
          <a:xfrm>
            <a:off x="5029200" y="3721607"/>
            <a:ext cx="6400800" cy="320040"/>
          </a:xfrm>
          <a:prstGeom prst="rect">
            <a:avLst/>
          </a:prstGeom>
          <a:noFill/>
        </p:spPr>
        <p:txBody>
          <a:bodyPr wrap="square">
            <a:spAutoFit/>
          </a:bodyPr>
          <a:lstStyle/>
          <a:p>
            <a:pPr algn="l">
              <a:defRPr sz="900" b="0">
                <a:solidFill>
                  <a:srgbClr val="8B95B0"/>
                </a:solidFill>
                <a:latin typeface="Calibri"/>
              </a:defRPr>
            </a:pPr>
            <a:r>
              <a:t>Articol SEO: Melatonină — doze și contraindicații</a:t>
            </a:r>
          </a:p>
        </p:txBody>
      </p:sp>
      <p:sp>
        <p:nvSpPr>
          <p:cNvPr id="33" name="Rounded Rectangle 32"/>
          <p:cNvSpPr/>
          <p:nvPr/>
        </p:nvSpPr>
        <p:spPr>
          <a:xfrm>
            <a:off x="457200" y="4160520"/>
            <a:ext cx="11247120" cy="41148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457200" y="4160520"/>
            <a:ext cx="54864"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4206240"/>
            <a:ext cx="3383280" cy="320040"/>
          </a:xfrm>
          <a:prstGeom prst="rect">
            <a:avLst/>
          </a:prstGeom>
          <a:noFill/>
        </p:spPr>
        <p:txBody>
          <a:bodyPr wrap="square">
            <a:spAutoFit/>
          </a:bodyPr>
          <a:lstStyle/>
          <a:p>
            <a:pPr algn="l">
              <a:defRPr sz="900" b="1">
                <a:solidFill>
                  <a:srgbClr val="F0F2F8"/>
                </a:solidFill>
                <a:latin typeface="Calibri"/>
              </a:defRPr>
            </a:pPr>
            <a:r>
              <a:t>/blog/berberina-beneficii</a:t>
            </a:r>
          </a:p>
        </p:txBody>
      </p:sp>
      <p:sp>
        <p:nvSpPr>
          <p:cNvPr id="36" name="TextBox 35"/>
          <p:cNvSpPr txBox="1"/>
          <p:nvPr/>
        </p:nvSpPr>
        <p:spPr>
          <a:xfrm>
            <a:off x="4114800" y="4206240"/>
            <a:ext cx="731520" cy="320040"/>
          </a:xfrm>
          <a:prstGeom prst="rect">
            <a:avLst/>
          </a:prstGeom>
          <a:noFill/>
        </p:spPr>
        <p:txBody>
          <a:bodyPr wrap="square">
            <a:spAutoFit/>
          </a:bodyPr>
          <a:lstStyle/>
          <a:p>
            <a:pPr algn="r">
              <a:defRPr sz="1000" b="1">
                <a:solidFill>
                  <a:srgbClr val="F59E0B"/>
                </a:solidFill>
                <a:latin typeface="Calibri"/>
              </a:defRPr>
            </a:pPr>
            <a:r>
              <a:t>1,309</a:t>
            </a:r>
          </a:p>
        </p:txBody>
      </p:sp>
      <p:sp>
        <p:nvSpPr>
          <p:cNvPr id="37" name="TextBox 36"/>
          <p:cNvSpPr txBox="1"/>
          <p:nvPr/>
        </p:nvSpPr>
        <p:spPr>
          <a:xfrm>
            <a:off x="5029200" y="4206240"/>
            <a:ext cx="6400800" cy="320040"/>
          </a:xfrm>
          <a:prstGeom prst="rect">
            <a:avLst/>
          </a:prstGeom>
          <a:noFill/>
        </p:spPr>
        <p:txBody>
          <a:bodyPr wrap="square">
            <a:spAutoFit/>
          </a:bodyPr>
          <a:lstStyle/>
          <a:p>
            <a:pPr algn="l">
              <a:defRPr sz="900" b="0">
                <a:solidFill>
                  <a:srgbClr val="8B95B0"/>
                </a:solidFill>
                <a:latin typeface="Calibri"/>
              </a:defRPr>
            </a:pPr>
            <a:r>
              <a:t>Articol SEO accesat și prin Google Ads (DSA) — trafic mixt</a:t>
            </a:r>
          </a:p>
        </p:txBody>
      </p:sp>
      <p:sp>
        <p:nvSpPr>
          <p:cNvPr id="38" name="Rounded Rectangle 37"/>
          <p:cNvSpPr/>
          <p:nvPr/>
        </p:nvSpPr>
        <p:spPr>
          <a:xfrm>
            <a:off x="457200" y="4645152"/>
            <a:ext cx="11247120" cy="411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457200" y="4645152"/>
            <a:ext cx="54864"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94360" y="4690872"/>
            <a:ext cx="3383280" cy="320040"/>
          </a:xfrm>
          <a:prstGeom prst="rect">
            <a:avLst/>
          </a:prstGeom>
          <a:noFill/>
        </p:spPr>
        <p:txBody>
          <a:bodyPr wrap="square">
            <a:spAutoFit/>
          </a:bodyPr>
          <a:lstStyle/>
          <a:p>
            <a:pPr algn="l">
              <a:defRPr sz="900" b="1">
                <a:solidFill>
                  <a:srgbClr val="F0F2F8"/>
                </a:solidFill>
                <a:latin typeface="Calibri"/>
              </a:defRPr>
            </a:pPr>
            <a:r>
              <a:t>/blog/cand-se-ia-probioticul</a:t>
            </a:r>
          </a:p>
        </p:txBody>
      </p:sp>
      <p:sp>
        <p:nvSpPr>
          <p:cNvPr id="41" name="TextBox 40"/>
          <p:cNvSpPr txBox="1"/>
          <p:nvPr/>
        </p:nvSpPr>
        <p:spPr>
          <a:xfrm>
            <a:off x="4114800" y="4690872"/>
            <a:ext cx="731520" cy="320040"/>
          </a:xfrm>
          <a:prstGeom prst="rect">
            <a:avLst/>
          </a:prstGeom>
          <a:noFill/>
        </p:spPr>
        <p:txBody>
          <a:bodyPr wrap="square">
            <a:spAutoFit/>
          </a:bodyPr>
          <a:lstStyle/>
          <a:p>
            <a:pPr algn="r">
              <a:defRPr sz="1000" b="1">
                <a:solidFill>
                  <a:srgbClr val="10B981"/>
                </a:solidFill>
                <a:latin typeface="Calibri"/>
              </a:defRPr>
            </a:pPr>
            <a:r>
              <a:t>1,094</a:t>
            </a:r>
          </a:p>
        </p:txBody>
      </p:sp>
      <p:sp>
        <p:nvSpPr>
          <p:cNvPr id="42" name="TextBox 41"/>
          <p:cNvSpPr txBox="1"/>
          <p:nvPr/>
        </p:nvSpPr>
        <p:spPr>
          <a:xfrm>
            <a:off x="5029200" y="4690872"/>
            <a:ext cx="6400800" cy="320040"/>
          </a:xfrm>
          <a:prstGeom prst="rect">
            <a:avLst/>
          </a:prstGeom>
          <a:noFill/>
        </p:spPr>
        <p:txBody>
          <a:bodyPr wrap="square">
            <a:spAutoFit/>
          </a:bodyPr>
          <a:lstStyle/>
          <a:p>
            <a:pPr algn="l">
              <a:defRPr sz="900" b="0">
                <a:solidFill>
                  <a:srgbClr val="8B95B0"/>
                </a:solidFill>
                <a:latin typeface="Calibri"/>
              </a:defRPr>
            </a:pPr>
            <a:r>
              <a:t>Articol SEO: Probiotice — trafic 100% organic</a:t>
            </a:r>
          </a:p>
        </p:txBody>
      </p:sp>
      <p:sp>
        <p:nvSpPr>
          <p:cNvPr id="43" name="Rounded Rectangle 42"/>
          <p:cNvSpPr/>
          <p:nvPr/>
        </p:nvSpPr>
        <p:spPr>
          <a:xfrm>
            <a:off x="457200" y="5129783"/>
            <a:ext cx="11247120" cy="41148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457200" y="5129783"/>
            <a:ext cx="54864" cy="41148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4360" y="5175503"/>
            <a:ext cx="3383280" cy="320040"/>
          </a:xfrm>
          <a:prstGeom prst="rect">
            <a:avLst/>
          </a:prstGeom>
          <a:noFill/>
        </p:spPr>
        <p:txBody>
          <a:bodyPr wrap="square">
            <a:spAutoFit/>
          </a:bodyPr>
          <a:lstStyle/>
          <a:p>
            <a:pPr algn="l">
              <a:defRPr sz="900" b="1">
                <a:solidFill>
                  <a:srgbClr val="F0F2F8"/>
                </a:solidFill>
                <a:latin typeface="Calibri"/>
              </a:defRPr>
            </a:pPr>
            <a:r>
              <a:t>/products/pachet-oboseala-stres</a:t>
            </a:r>
          </a:p>
        </p:txBody>
      </p:sp>
      <p:sp>
        <p:nvSpPr>
          <p:cNvPr id="46" name="TextBox 45"/>
          <p:cNvSpPr txBox="1"/>
          <p:nvPr/>
        </p:nvSpPr>
        <p:spPr>
          <a:xfrm>
            <a:off x="4114800" y="5175503"/>
            <a:ext cx="731520" cy="320040"/>
          </a:xfrm>
          <a:prstGeom prst="rect">
            <a:avLst/>
          </a:prstGeom>
          <a:noFill/>
        </p:spPr>
        <p:txBody>
          <a:bodyPr wrap="square">
            <a:spAutoFit/>
          </a:bodyPr>
          <a:lstStyle/>
          <a:p>
            <a:pPr algn="r">
              <a:defRPr sz="1000" b="1">
                <a:solidFill>
                  <a:srgbClr val="EC4899"/>
                </a:solidFill>
                <a:latin typeface="Calibri"/>
              </a:defRPr>
            </a:pPr>
            <a:r>
              <a:t>559</a:t>
            </a:r>
          </a:p>
        </p:txBody>
      </p:sp>
      <p:sp>
        <p:nvSpPr>
          <p:cNvPr id="47" name="TextBox 46"/>
          <p:cNvSpPr txBox="1"/>
          <p:nvPr/>
        </p:nvSpPr>
        <p:spPr>
          <a:xfrm>
            <a:off x="5029200" y="5175503"/>
            <a:ext cx="6400800" cy="320040"/>
          </a:xfrm>
          <a:prstGeom prst="rect">
            <a:avLst/>
          </a:prstGeom>
          <a:noFill/>
        </p:spPr>
        <p:txBody>
          <a:bodyPr wrap="square">
            <a:spAutoFit/>
          </a:bodyPr>
          <a:lstStyle/>
          <a:p>
            <a:pPr algn="l">
              <a:defRPr sz="900" b="0">
                <a:solidFill>
                  <a:srgbClr val="8B95B0"/>
                </a:solidFill>
                <a:latin typeface="Calibri"/>
              </a:defRPr>
            </a:pPr>
            <a:r>
              <a:t>Pagină de produs — vizitatori din campanii Google și Meta</a:t>
            </a:r>
          </a:p>
        </p:txBody>
      </p:sp>
      <p:sp>
        <p:nvSpPr>
          <p:cNvPr id="48" name="Rounded Rectangle 47"/>
          <p:cNvSpPr/>
          <p:nvPr/>
        </p:nvSpPr>
        <p:spPr>
          <a:xfrm>
            <a:off x="457200" y="5614416"/>
            <a:ext cx="11247120" cy="411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457200" y="5614416"/>
            <a:ext cx="54864" cy="41148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94360" y="5660136"/>
            <a:ext cx="3383280" cy="320040"/>
          </a:xfrm>
          <a:prstGeom prst="rect">
            <a:avLst/>
          </a:prstGeom>
          <a:noFill/>
        </p:spPr>
        <p:txBody>
          <a:bodyPr wrap="square">
            <a:spAutoFit/>
          </a:bodyPr>
          <a:lstStyle/>
          <a:p>
            <a:pPr algn="l">
              <a:defRPr sz="900" b="1">
                <a:solidFill>
                  <a:srgbClr val="F0F2F8"/>
                </a:solidFill>
                <a:latin typeface="Calibri"/>
              </a:defRPr>
            </a:pPr>
            <a:r>
              <a:t>/products/berberina-500mg</a:t>
            </a:r>
          </a:p>
        </p:txBody>
      </p:sp>
      <p:sp>
        <p:nvSpPr>
          <p:cNvPr id="51" name="TextBox 50"/>
          <p:cNvSpPr txBox="1"/>
          <p:nvPr/>
        </p:nvSpPr>
        <p:spPr>
          <a:xfrm>
            <a:off x="4114800" y="5660136"/>
            <a:ext cx="731520" cy="320040"/>
          </a:xfrm>
          <a:prstGeom prst="rect">
            <a:avLst/>
          </a:prstGeom>
          <a:noFill/>
        </p:spPr>
        <p:txBody>
          <a:bodyPr wrap="square">
            <a:spAutoFit/>
          </a:bodyPr>
          <a:lstStyle/>
          <a:p>
            <a:pPr algn="r">
              <a:defRPr sz="1000" b="1">
                <a:solidFill>
                  <a:srgbClr val="EC4899"/>
                </a:solidFill>
                <a:latin typeface="Calibri"/>
              </a:defRPr>
            </a:pPr>
            <a:r>
              <a:t>499</a:t>
            </a:r>
          </a:p>
        </p:txBody>
      </p:sp>
      <p:sp>
        <p:nvSpPr>
          <p:cNvPr id="52" name="TextBox 51"/>
          <p:cNvSpPr txBox="1"/>
          <p:nvPr/>
        </p:nvSpPr>
        <p:spPr>
          <a:xfrm>
            <a:off x="5029200" y="5660136"/>
            <a:ext cx="6400800" cy="320040"/>
          </a:xfrm>
          <a:prstGeom prst="rect">
            <a:avLst/>
          </a:prstGeom>
          <a:noFill/>
        </p:spPr>
        <p:txBody>
          <a:bodyPr wrap="square">
            <a:spAutoFit/>
          </a:bodyPr>
          <a:lstStyle/>
          <a:p>
            <a:pPr algn="l">
              <a:defRPr sz="900" b="0">
                <a:solidFill>
                  <a:srgbClr val="8B95B0"/>
                </a:solidFill>
                <a:latin typeface="Calibri"/>
              </a:defRPr>
            </a:pPr>
            <a:r>
              <a:t>Pagină de produs — trafic din căutări organice și PMax</a:t>
            </a:r>
          </a:p>
        </p:txBody>
      </p:sp>
      <p:sp>
        <p:nvSpPr>
          <p:cNvPr id="53" name="Rounded Rectangle 52"/>
          <p:cNvSpPr/>
          <p:nvPr/>
        </p:nvSpPr>
        <p:spPr>
          <a:xfrm>
            <a:off x="457200" y="6099048"/>
            <a:ext cx="11247120" cy="41148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457200" y="6099048"/>
            <a:ext cx="54864"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94360" y="6144768"/>
            <a:ext cx="3383280" cy="320040"/>
          </a:xfrm>
          <a:prstGeom prst="rect">
            <a:avLst/>
          </a:prstGeom>
          <a:noFill/>
        </p:spPr>
        <p:txBody>
          <a:bodyPr wrap="square">
            <a:spAutoFit/>
          </a:bodyPr>
          <a:lstStyle/>
          <a:p>
            <a:pPr algn="l">
              <a:defRPr sz="900" b="1">
                <a:solidFill>
                  <a:srgbClr val="F0F2F8"/>
                </a:solidFill>
                <a:latin typeface="Calibri"/>
              </a:defRPr>
            </a:pPr>
            <a:r>
              <a:t>/collections/oferteactuale</a:t>
            </a:r>
          </a:p>
        </p:txBody>
      </p:sp>
      <p:sp>
        <p:nvSpPr>
          <p:cNvPr id="56" name="TextBox 55"/>
          <p:cNvSpPr txBox="1"/>
          <p:nvPr/>
        </p:nvSpPr>
        <p:spPr>
          <a:xfrm>
            <a:off x="4114800" y="6144768"/>
            <a:ext cx="731520" cy="320040"/>
          </a:xfrm>
          <a:prstGeom prst="rect">
            <a:avLst/>
          </a:prstGeom>
          <a:noFill/>
        </p:spPr>
        <p:txBody>
          <a:bodyPr wrap="square">
            <a:spAutoFit/>
          </a:bodyPr>
          <a:lstStyle/>
          <a:p>
            <a:pPr algn="r">
              <a:defRPr sz="1000" b="1">
                <a:solidFill>
                  <a:srgbClr val="F59E0B"/>
                </a:solidFill>
                <a:latin typeface="Calibri"/>
              </a:defRPr>
            </a:pPr>
            <a:r>
              <a:t>546</a:t>
            </a:r>
          </a:p>
        </p:txBody>
      </p:sp>
      <p:sp>
        <p:nvSpPr>
          <p:cNvPr id="57" name="TextBox 56"/>
          <p:cNvSpPr txBox="1"/>
          <p:nvPr/>
        </p:nvSpPr>
        <p:spPr>
          <a:xfrm>
            <a:off x="5029200" y="6144768"/>
            <a:ext cx="6400800" cy="320040"/>
          </a:xfrm>
          <a:prstGeom prst="rect">
            <a:avLst/>
          </a:prstGeom>
          <a:noFill/>
        </p:spPr>
        <p:txBody>
          <a:bodyPr wrap="square">
            <a:spAutoFit/>
          </a:bodyPr>
          <a:lstStyle/>
          <a:p>
            <a:pPr algn="l">
              <a:defRPr sz="900" b="0">
                <a:solidFill>
                  <a:srgbClr val="8B95B0"/>
                </a:solidFill>
                <a:latin typeface="Calibri"/>
              </a:defRPr>
            </a:pPr>
            <a:r>
              <a:t>Pagina de oferte curente — vizitatori din Klaviyo și Direct</a:t>
            </a:r>
          </a:p>
        </p:txBody>
      </p:sp>
      <p:sp>
        <p:nvSpPr>
          <p:cNvPr id="58" name="Rounded Rectangle 57"/>
          <p:cNvSpPr/>
          <p:nvPr/>
        </p:nvSpPr>
        <p:spPr>
          <a:xfrm>
            <a:off x="457200" y="6583680"/>
            <a:ext cx="11247120" cy="22860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40080" y="6583680"/>
            <a:ext cx="10972800" cy="228600"/>
          </a:xfrm>
          <a:prstGeom prst="rect">
            <a:avLst/>
          </a:prstGeom>
          <a:noFill/>
        </p:spPr>
        <p:txBody>
          <a:bodyPr wrap="square">
            <a:spAutoFit/>
          </a:bodyPr>
          <a:lstStyle/>
          <a:p>
            <a:pPr algn="l">
              <a:defRPr sz="1000" b="0">
                <a:solidFill>
                  <a:srgbClr val="F59E0B"/>
                </a:solidFill>
                <a:latin typeface="Calibri"/>
              </a:defRPr>
            </a:pPr>
            <a:r>
              <a:t>💡 5 din top 10 landing pages sunt articole de blog (SEO) — conținutul educațional atrage trafic organic gratuit și constant.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BUYER PERSONA</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Profilul Clientului din GA4</a:t>
            </a:r>
          </a:p>
        </p:txBody>
      </p:sp>
      <p:sp>
        <p:nvSpPr>
          <p:cNvPr id="4" name="Rounded Rectangle 3"/>
          <p:cNvSpPr/>
          <p:nvPr/>
        </p:nvSpPr>
        <p:spPr>
          <a:xfrm>
            <a:off x="457200" y="1463040"/>
            <a:ext cx="11247120" cy="40233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1828800"/>
            <a:ext cx="1097280" cy="109728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65960"/>
            <a:ext cx="1097280" cy="1097280"/>
          </a:xfrm>
          <a:prstGeom prst="rect">
            <a:avLst/>
          </a:prstGeom>
          <a:noFill/>
        </p:spPr>
        <p:txBody>
          <a:bodyPr wrap="square">
            <a:spAutoFit/>
          </a:bodyPr>
          <a:lstStyle/>
          <a:p>
            <a:pPr algn="ctr">
              <a:defRPr sz="4800" b="0">
                <a:solidFill>
                  <a:srgbClr val="F0F2F8"/>
                </a:solidFill>
                <a:latin typeface="Calibri"/>
              </a:defRPr>
            </a:pPr>
            <a:r>
              <a:t>👩</a:t>
            </a:r>
          </a:p>
        </p:txBody>
      </p:sp>
      <p:sp>
        <p:nvSpPr>
          <p:cNvPr id="7" name="TextBox 6"/>
          <p:cNvSpPr txBox="1"/>
          <p:nvPr/>
        </p:nvSpPr>
        <p:spPr>
          <a:xfrm>
            <a:off x="2286000" y="2011680"/>
            <a:ext cx="7315200" cy="457200"/>
          </a:xfrm>
          <a:prstGeom prst="rect">
            <a:avLst/>
          </a:prstGeom>
          <a:noFill/>
        </p:spPr>
        <p:txBody>
          <a:bodyPr wrap="square">
            <a:spAutoFit/>
          </a:bodyPr>
          <a:lstStyle/>
          <a:p>
            <a:pPr algn="l">
              <a:defRPr sz="2800" b="1">
                <a:solidFill>
                  <a:srgbClr val="F0F2F8"/>
                </a:solidFill>
                <a:latin typeface="Calibri"/>
              </a:defRPr>
            </a:pPr>
            <a:r>
              <a:t>Elena, 45-54 ani</a:t>
            </a:r>
          </a:p>
        </p:txBody>
      </p:sp>
      <p:sp>
        <p:nvSpPr>
          <p:cNvPr id="8" name="TextBox 7"/>
          <p:cNvSpPr txBox="1"/>
          <p:nvPr/>
        </p:nvSpPr>
        <p:spPr>
          <a:xfrm>
            <a:off x="914400" y="3291840"/>
            <a:ext cx="10058400" cy="1371600"/>
          </a:xfrm>
          <a:prstGeom prst="rect">
            <a:avLst/>
          </a:prstGeom>
          <a:noFill/>
        </p:spPr>
        <p:txBody>
          <a:bodyPr wrap="square">
            <a:spAutoFit/>
          </a:bodyPr>
          <a:lstStyle/>
          <a:p>
            <a:pPr algn="l">
              <a:defRPr sz="1400" b="0">
                <a:solidFill>
                  <a:srgbClr val="F0F2F8"/>
                </a:solidFill>
                <a:latin typeface="Calibri"/>
              </a:defRPr>
            </a:pPr>
            <a:r>
              <a:t>Românca din București, accesează de pe mobil, vine prin Google Ads sau căutări organice. Interesată de longevitate și sănătate preventivă. Citește blogul (magneziu, post intermitent, berberină), apoi explorează colecția de suplimente. În 2025 și 2026, profilul rămâne consistent - aceeași femeie 45+ din urban, pe mobil.</a:t>
            </a:r>
          </a:p>
        </p:txBody>
      </p:sp>
      <p:sp>
        <p:nvSpPr>
          <p:cNvPr id="9" name="Rounded Rectangle 8"/>
          <p:cNvSpPr/>
          <p:nvPr/>
        </p:nvSpPr>
        <p:spPr>
          <a:xfrm>
            <a:off x="914400" y="4389120"/>
            <a:ext cx="2194560" cy="365760"/>
          </a:xfrm>
          <a:prstGeom prst="roundRect">
            <a:avLst>
              <a:gd name="adj" fmla="val 50000"/>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434840"/>
            <a:ext cx="2194560" cy="274320"/>
          </a:xfrm>
          <a:prstGeom prst="rect">
            <a:avLst/>
          </a:prstGeom>
          <a:noFill/>
        </p:spPr>
        <p:txBody>
          <a:bodyPr wrap="square">
            <a:spAutoFit/>
          </a:bodyPr>
          <a:lstStyle/>
          <a:p>
            <a:pPr algn="ctr">
              <a:defRPr sz="1100" b="1">
                <a:solidFill>
                  <a:srgbClr val="6366F1"/>
                </a:solidFill>
                <a:latin typeface="Calibri"/>
              </a:defRPr>
            </a:pPr>
            <a:r>
              <a:t>Femeie 45-54</a:t>
            </a:r>
          </a:p>
        </p:txBody>
      </p:sp>
      <p:sp>
        <p:nvSpPr>
          <p:cNvPr id="11" name="Rounded Rectangle 10"/>
          <p:cNvSpPr/>
          <p:nvPr/>
        </p:nvSpPr>
        <p:spPr>
          <a:xfrm>
            <a:off x="3291840" y="4389120"/>
            <a:ext cx="2194560" cy="365760"/>
          </a:xfrm>
          <a:prstGeom prst="roundRect">
            <a:avLst>
              <a:gd name="adj" fmla="val 50000"/>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4434840"/>
            <a:ext cx="2194560" cy="274320"/>
          </a:xfrm>
          <a:prstGeom prst="rect">
            <a:avLst/>
          </a:prstGeom>
          <a:noFill/>
        </p:spPr>
        <p:txBody>
          <a:bodyPr wrap="square">
            <a:spAutoFit/>
          </a:bodyPr>
          <a:lstStyle/>
          <a:p>
            <a:pPr algn="ctr">
              <a:defRPr sz="1100" b="1">
                <a:solidFill>
                  <a:srgbClr val="6366F1"/>
                </a:solidFill>
                <a:latin typeface="Calibri"/>
              </a:defRPr>
            </a:pPr>
            <a:r>
              <a:t>București / Timișoara</a:t>
            </a:r>
          </a:p>
        </p:txBody>
      </p:sp>
      <p:sp>
        <p:nvSpPr>
          <p:cNvPr id="13" name="Rounded Rectangle 12"/>
          <p:cNvSpPr/>
          <p:nvPr/>
        </p:nvSpPr>
        <p:spPr>
          <a:xfrm>
            <a:off x="5669280" y="4389120"/>
            <a:ext cx="2194560" cy="365760"/>
          </a:xfrm>
          <a:prstGeom prst="roundRect">
            <a:avLst>
              <a:gd name="adj" fmla="val 50000"/>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4434840"/>
            <a:ext cx="2194560" cy="274320"/>
          </a:xfrm>
          <a:prstGeom prst="rect">
            <a:avLst/>
          </a:prstGeom>
          <a:noFill/>
        </p:spPr>
        <p:txBody>
          <a:bodyPr wrap="square">
            <a:spAutoFit/>
          </a:bodyPr>
          <a:lstStyle/>
          <a:p>
            <a:pPr algn="ctr">
              <a:defRPr sz="1100" b="1">
                <a:solidFill>
                  <a:srgbClr val="6366F1"/>
                </a:solidFill>
                <a:latin typeface="Calibri"/>
              </a:defRPr>
            </a:pPr>
            <a:r>
              <a:t>Mobile 88%</a:t>
            </a:r>
          </a:p>
        </p:txBody>
      </p:sp>
      <p:sp>
        <p:nvSpPr>
          <p:cNvPr id="15" name="Rounded Rectangle 14"/>
          <p:cNvSpPr/>
          <p:nvPr/>
        </p:nvSpPr>
        <p:spPr>
          <a:xfrm>
            <a:off x="8046720" y="4389120"/>
            <a:ext cx="2194560" cy="365760"/>
          </a:xfrm>
          <a:prstGeom prst="roundRect">
            <a:avLst>
              <a:gd name="adj" fmla="val 50000"/>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0" y="4434840"/>
            <a:ext cx="2194560" cy="274320"/>
          </a:xfrm>
          <a:prstGeom prst="rect">
            <a:avLst/>
          </a:prstGeom>
          <a:noFill/>
        </p:spPr>
        <p:txBody>
          <a:bodyPr wrap="square">
            <a:spAutoFit/>
          </a:bodyPr>
          <a:lstStyle/>
          <a:p>
            <a:pPr algn="ctr">
              <a:defRPr sz="1100" b="1">
                <a:solidFill>
                  <a:srgbClr val="6366F1"/>
                </a:solidFill>
                <a:latin typeface="Calibri"/>
              </a:defRPr>
            </a:pPr>
            <a:r>
              <a:t>Google CPC #1</a:t>
            </a:r>
          </a:p>
        </p:txBody>
      </p:sp>
      <p:sp>
        <p:nvSpPr>
          <p:cNvPr id="17" name="Rounded Rectangle 16"/>
          <p:cNvSpPr/>
          <p:nvPr/>
        </p:nvSpPr>
        <p:spPr>
          <a:xfrm>
            <a:off x="914400" y="4937759"/>
            <a:ext cx="2194560" cy="365760"/>
          </a:xfrm>
          <a:prstGeom prst="roundRect">
            <a:avLst>
              <a:gd name="adj" fmla="val 50000"/>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983479"/>
            <a:ext cx="2194560" cy="274320"/>
          </a:xfrm>
          <a:prstGeom prst="rect">
            <a:avLst/>
          </a:prstGeom>
          <a:noFill/>
        </p:spPr>
        <p:txBody>
          <a:bodyPr wrap="square">
            <a:spAutoFit/>
          </a:bodyPr>
          <a:lstStyle/>
          <a:p>
            <a:pPr algn="ctr">
              <a:defRPr sz="1100" b="1">
                <a:solidFill>
                  <a:srgbClr val="6366F1"/>
                </a:solidFill>
                <a:latin typeface="Calibri"/>
              </a:defRPr>
            </a:pPr>
            <a:r>
              <a:t>Longevitate</a:t>
            </a:r>
          </a:p>
        </p:txBody>
      </p:sp>
      <p:sp>
        <p:nvSpPr>
          <p:cNvPr id="19" name="Rounded Rectangle 18"/>
          <p:cNvSpPr/>
          <p:nvPr/>
        </p:nvSpPr>
        <p:spPr>
          <a:xfrm>
            <a:off x="3291840" y="4937759"/>
            <a:ext cx="2194560" cy="365760"/>
          </a:xfrm>
          <a:prstGeom prst="roundRect">
            <a:avLst>
              <a:gd name="adj" fmla="val 50000"/>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4983479"/>
            <a:ext cx="2194560" cy="274320"/>
          </a:xfrm>
          <a:prstGeom prst="rect">
            <a:avLst/>
          </a:prstGeom>
          <a:noFill/>
        </p:spPr>
        <p:txBody>
          <a:bodyPr wrap="square">
            <a:spAutoFit/>
          </a:bodyPr>
          <a:lstStyle/>
          <a:p>
            <a:pPr algn="ctr">
              <a:defRPr sz="1100" b="1">
                <a:solidFill>
                  <a:srgbClr val="6366F1"/>
                </a:solidFill>
                <a:latin typeface="Calibri"/>
              </a:defRPr>
            </a:pPr>
            <a:r>
              <a:t>Română</a:t>
            </a:r>
          </a:p>
        </p:txBody>
      </p:sp>
      <p:sp>
        <p:nvSpPr>
          <p:cNvPr id="21" name="Rounded Rectangle 20"/>
          <p:cNvSpPr/>
          <p:nvPr/>
        </p:nvSpPr>
        <p:spPr>
          <a:xfrm>
            <a:off x="5669280" y="4937759"/>
            <a:ext cx="2194560" cy="365760"/>
          </a:xfrm>
          <a:prstGeom prst="roundRect">
            <a:avLst>
              <a:gd name="adj" fmla="val 50000"/>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0" y="4983479"/>
            <a:ext cx="2194560" cy="274320"/>
          </a:xfrm>
          <a:prstGeom prst="rect">
            <a:avLst/>
          </a:prstGeom>
          <a:noFill/>
        </p:spPr>
        <p:txBody>
          <a:bodyPr wrap="square">
            <a:spAutoFit/>
          </a:bodyPr>
          <a:lstStyle/>
          <a:p>
            <a:pPr algn="ctr">
              <a:defRPr sz="1100" b="1">
                <a:solidFill>
                  <a:srgbClr val="6366F1"/>
                </a:solidFill>
                <a:latin typeface="Calibri"/>
              </a:defRPr>
            </a:pPr>
            <a:r>
              <a:t>Blog-first journey</a:t>
            </a:r>
          </a:p>
        </p:txBody>
      </p:sp>
      <p:sp>
        <p:nvSpPr>
          <p:cNvPr id="23" name="Rounded Rectangle 22"/>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10972800" cy="274320"/>
          </a:xfrm>
          <a:prstGeom prst="rect">
            <a:avLst/>
          </a:prstGeom>
          <a:noFill/>
        </p:spPr>
        <p:txBody>
          <a:bodyPr wrap="square">
            <a:spAutoFit/>
          </a:bodyPr>
          <a:lstStyle/>
          <a:p>
            <a:pPr algn="l">
              <a:defRPr sz="1000" b="0">
                <a:solidFill>
                  <a:srgbClr val="F59E0B"/>
                </a:solidFill>
                <a:latin typeface="Calibri"/>
              </a:defRPr>
            </a:pPr>
            <a:r>
              <a:t>💡 2025: 81K femei vs 34K bărbați. 45-54 ani = Segment #1. Mobile = 88% trafic.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DEMOGRAFIE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Vârstă și Gen din Google Analytics (2025 vs 2026)</a:t>
            </a:r>
          </a:p>
        </p:txBody>
      </p:sp>
      <p:sp>
        <p:nvSpPr>
          <p:cNvPr id="4" name="Rounded Rectangle 3"/>
          <p:cNvSpPr/>
          <p:nvPr/>
        </p:nvSpPr>
        <p:spPr>
          <a:xfrm>
            <a:off x="457200" y="1463040"/>
            <a:ext cx="5486400" cy="4937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5120640" cy="274320"/>
          </a:xfrm>
          <a:prstGeom prst="rect">
            <a:avLst/>
          </a:prstGeom>
          <a:noFill/>
        </p:spPr>
        <p:txBody>
          <a:bodyPr wrap="square">
            <a:spAutoFit/>
          </a:bodyPr>
          <a:lstStyle/>
          <a:p>
            <a:pPr algn="l">
              <a:defRPr sz="1000" b="1">
                <a:solidFill>
                  <a:srgbClr val="8B95B0"/>
                </a:solidFill>
                <a:latin typeface="Calibri"/>
              </a:defRPr>
            </a:pPr>
            <a:r>
              <a:t>VÂRSTĂ — UTILIZATORI CUNOSCUȚI (GA4 demographics)</a:t>
            </a:r>
          </a:p>
        </p:txBody>
      </p:sp>
      <p:sp>
        <p:nvSpPr>
          <p:cNvPr id="6" name="TextBox 5"/>
          <p:cNvSpPr txBox="1"/>
          <p:nvPr/>
        </p:nvSpPr>
        <p:spPr>
          <a:xfrm>
            <a:off x="640080" y="1965960"/>
            <a:ext cx="914400" cy="228600"/>
          </a:xfrm>
          <a:prstGeom prst="rect">
            <a:avLst/>
          </a:prstGeom>
          <a:noFill/>
        </p:spPr>
        <p:txBody>
          <a:bodyPr wrap="square">
            <a:spAutoFit/>
          </a:bodyPr>
          <a:lstStyle/>
          <a:p>
            <a:pPr algn="l">
              <a:defRPr sz="1100" b="1">
                <a:solidFill>
                  <a:srgbClr val="EF4444"/>
                </a:solidFill>
                <a:latin typeface="Calibri"/>
              </a:defRPr>
            </a:pPr>
            <a:r>
              <a:t>65+</a:t>
            </a:r>
          </a:p>
        </p:txBody>
      </p:sp>
      <p:sp>
        <p:nvSpPr>
          <p:cNvPr id="7" name="Rounded Rectangle 6"/>
          <p:cNvSpPr/>
          <p:nvPr/>
        </p:nvSpPr>
        <p:spPr>
          <a:xfrm>
            <a:off x="1463040" y="1965960"/>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463040" y="1965960"/>
            <a:ext cx="411480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54480" y="1975103"/>
            <a:ext cx="1371600" cy="228600"/>
          </a:xfrm>
          <a:prstGeom prst="rect">
            <a:avLst/>
          </a:prstGeom>
          <a:noFill/>
        </p:spPr>
        <p:txBody>
          <a:bodyPr wrap="square">
            <a:spAutoFit/>
          </a:bodyPr>
          <a:lstStyle/>
          <a:p>
            <a:pPr algn="l">
              <a:defRPr sz="800" b="0">
                <a:solidFill>
                  <a:srgbClr val="F0F2F8"/>
                </a:solidFill>
                <a:latin typeface="Calibri"/>
              </a:defRPr>
            </a:pPr>
            <a:r>
              <a:t>2025: 40,187</a:t>
            </a:r>
          </a:p>
        </p:txBody>
      </p:sp>
      <p:sp>
        <p:nvSpPr>
          <p:cNvPr id="10" name="Rounded Rectangle 9"/>
          <p:cNvSpPr/>
          <p:nvPr/>
        </p:nvSpPr>
        <p:spPr>
          <a:xfrm>
            <a:off x="1463040" y="2267712"/>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463040" y="2267712"/>
            <a:ext cx="559466" cy="256032"/>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2276856"/>
            <a:ext cx="1371600" cy="228600"/>
          </a:xfrm>
          <a:prstGeom prst="rect">
            <a:avLst/>
          </a:prstGeom>
          <a:noFill/>
        </p:spPr>
        <p:txBody>
          <a:bodyPr wrap="square">
            <a:spAutoFit/>
          </a:bodyPr>
          <a:lstStyle/>
          <a:p>
            <a:pPr algn="l">
              <a:defRPr sz="800" b="0">
                <a:solidFill>
                  <a:srgbClr val="F0F2F8"/>
                </a:solidFill>
                <a:latin typeface="Calibri"/>
              </a:defRPr>
            </a:pPr>
            <a:r>
              <a:t>2026: 5,464</a:t>
            </a:r>
          </a:p>
        </p:txBody>
      </p:sp>
      <p:sp>
        <p:nvSpPr>
          <p:cNvPr id="13" name="TextBox 12"/>
          <p:cNvSpPr txBox="1"/>
          <p:nvPr/>
        </p:nvSpPr>
        <p:spPr>
          <a:xfrm>
            <a:off x="640080" y="2715768"/>
            <a:ext cx="914400" cy="228600"/>
          </a:xfrm>
          <a:prstGeom prst="rect">
            <a:avLst/>
          </a:prstGeom>
          <a:noFill/>
        </p:spPr>
        <p:txBody>
          <a:bodyPr wrap="square">
            <a:spAutoFit/>
          </a:bodyPr>
          <a:lstStyle/>
          <a:p>
            <a:pPr algn="l">
              <a:defRPr sz="1100" b="1">
                <a:solidFill>
                  <a:srgbClr val="F59E0B"/>
                </a:solidFill>
                <a:latin typeface="Calibri"/>
              </a:defRPr>
            </a:pPr>
            <a:r>
              <a:t>45-54</a:t>
            </a:r>
          </a:p>
        </p:txBody>
      </p:sp>
      <p:sp>
        <p:nvSpPr>
          <p:cNvPr id="14" name="Rounded Rectangle 13"/>
          <p:cNvSpPr/>
          <p:nvPr/>
        </p:nvSpPr>
        <p:spPr>
          <a:xfrm>
            <a:off x="1463040" y="2715768"/>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463040" y="2715768"/>
            <a:ext cx="4021726"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54480" y="2724911"/>
            <a:ext cx="1371600" cy="228600"/>
          </a:xfrm>
          <a:prstGeom prst="rect">
            <a:avLst/>
          </a:prstGeom>
          <a:noFill/>
        </p:spPr>
        <p:txBody>
          <a:bodyPr wrap="square">
            <a:spAutoFit/>
          </a:bodyPr>
          <a:lstStyle/>
          <a:p>
            <a:pPr algn="l">
              <a:defRPr sz="800" b="0">
                <a:solidFill>
                  <a:srgbClr val="F0F2F8"/>
                </a:solidFill>
                <a:latin typeface="Calibri"/>
              </a:defRPr>
            </a:pPr>
            <a:r>
              <a:t>2025: 39,278</a:t>
            </a:r>
          </a:p>
        </p:txBody>
      </p:sp>
      <p:sp>
        <p:nvSpPr>
          <p:cNvPr id="17" name="Rounded Rectangle 16"/>
          <p:cNvSpPr/>
          <p:nvPr/>
        </p:nvSpPr>
        <p:spPr>
          <a:xfrm>
            <a:off x="1463040" y="3017520"/>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463040" y="3017520"/>
            <a:ext cx="865616" cy="256032"/>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54480" y="3026663"/>
            <a:ext cx="1371600" cy="228600"/>
          </a:xfrm>
          <a:prstGeom prst="rect">
            <a:avLst/>
          </a:prstGeom>
          <a:noFill/>
        </p:spPr>
        <p:txBody>
          <a:bodyPr wrap="square">
            <a:spAutoFit/>
          </a:bodyPr>
          <a:lstStyle/>
          <a:p>
            <a:pPr algn="l">
              <a:defRPr sz="800" b="0">
                <a:solidFill>
                  <a:srgbClr val="F0F2F8"/>
                </a:solidFill>
                <a:latin typeface="Calibri"/>
              </a:defRPr>
            </a:pPr>
            <a:r>
              <a:t>2026: 8,454</a:t>
            </a:r>
          </a:p>
        </p:txBody>
      </p:sp>
      <p:sp>
        <p:nvSpPr>
          <p:cNvPr id="20" name="TextBox 19"/>
          <p:cNvSpPr txBox="1"/>
          <p:nvPr/>
        </p:nvSpPr>
        <p:spPr>
          <a:xfrm>
            <a:off x="640080" y="3465576"/>
            <a:ext cx="914400" cy="228600"/>
          </a:xfrm>
          <a:prstGeom prst="rect">
            <a:avLst/>
          </a:prstGeom>
          <a:noFill/>
        </p:spPr>
        <p:txBody>
          <a:bodyPr wrap="square">
            <a:spAutoFit/>
          </a:bodyPr>
          <a:lstStyle/>
          <a:p>
            <a:pPr algn="l">
              <a:defRPr sz="1100" b="1">
                <a:solidFill>
                  <a:srgbClr val="EC4899"/>
                </a:solidFill>
                <a:latin typeface="Calibri"/>
              </a:defRPr>
            </a:pPr>
            <a:r>
              <a:t>55-64</a:t>
            </a:r>
          </a:p>
        </p:txBody>
      </p:sp>
      <p:sp>
        <p:nvSpPr>
          <p:cNvPr id="21" name="Rounded Rectangle 20"/>
          <p:cNvSpPr/>
          <p:nvPr/>
        </p:nvSpPr>
        <p:spPr>
          <a:xfrm>
            <a:off x="1463040" y="3465576"/>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463040" y="3465576"/>
            <a:ext cx="1750686"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54480" y="3474720"/>
            <a:ext cx="1371600" cy="228600"/>
          </a:xfrm>
          <a:prstGeom prst="rect">
            <a:avLst/>
          </a:prstGeom>
          <a:noFill/>
        </p:spPr>
        <p:txBody>
          <a:bodyPr wrap="square">
            <a:spAutoFit/>
          </a:bodyPr>
          <a:lstStyle/>
          <a:p>
            <a:pPr algn="l">
              <a:defRPr sz="800" b="0">
                <a:solidFill>
                  <a:srgbClr val="F0F2F8"/>
                </a:solidFill>
                <a:latin typeface="Calibri"/>
              </a:defRPr>
            </a:pPr>
            <a:r>
              <a:t>2025: 17,098</a:t>
            </a:r>
          </a:p>
        </p:txBody>
      </p:sp>
      <p:sp>
        <p:nvSpPr>
          <p:cNvPr id="24" name="Rounded Rectangle 23"/>
          <p:cNvSpPr/>
          <p:nvPr/>
        </p:nvSpPr>
        <p:spPr>
          <a:xfrm>
            <a:off x="1463040" y="3767328"/>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463040" y="3767328"/>
            <a:ext cx="290586" cy="256032"/>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554480" y="3776472"/>
            <a:ext cx="1371600" cy="228600"/>
          </a:xfrm>
          <a:prstGeom prst="rect">
            <a:avLst/>
          </a:prstGeom>
          <a:noFill/>
        </p:spPr>
        <p:txBody>
          <a:bodyPr wrap="square">
            <a:spAutoFit/>
          </a:bodyPr>
          <a:lstStyle/>
          <a:p>
            <a:pPr algn="l">
              <a:defRPr sz="800" b="0">
                <a:solidFill>
                  <a:srgbClr val="F0F2F8"/>
                </a:solidFill>
                <a:latin typeface="Calibri"/>
              </a:defRPr>
            </a:pPr>
            <a:r>
              <a:t>2026: 2,838</a:t>
            </a:r>
          </a:p>
        </p:txBody>
      </p:sp>
      <p:sp>
        <p:nvSpPr>
          <p:cNvPr id="27" name="TextBox 26"/>
          <p:cNvSpPr txBox="1"/>
          <p:nvPr/>
        </p:nvSpPr>
        <p:spPr>
          <a:xfrm>
            <a:off x="640080" y="4215383"/>
            <a:ext cx="914400" cy="228600"/>
          </a:xfrm>
          <a:prstGeom prst="rect">
            <a:avLst/>
          </a:prstGeom>
          <a:noFill/>
        </p:spPr>
        <p:txBody>
          <a:bodyPr wrap="square">
            <a:spAutoFit/>
          </a:bodyPr>
          <a:lstStyle/>
          <a:p>
            <a:pPr algn="l">
              <a:defRPr sz="1100" b="1">
                <a:solidFill>
                  <a:srgbClr val="8B5CF6"/>
                </a:solidFill>
                <a:latin typeface="Calibri"/>
              </a:defRPr>
            </a:pPr>
            <a:r>
              <a:t>35-44</a:t>
            </a:r>
          </a:p>
        </p:txBody>
      </p:sp>
      <p:sp>
        <p:nvSpPr>
          <p:cNvPr id="28" name="Rounded Rectangle 27"/>
          <p:cNvSpPr/>
          <p:nvPr/>
        </p:nvSpPr>
        <p:spPr>
          <a:xfrm>
            <a:off x="1463040" y="4215383"/>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463040" y="4215383"/>
            <a:ext cx="1238525"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554480" y="4224527"/>
            <a:ext cx="1371600" cy="228600"/>
          </a:xfrm>
          <a:prstGeom prst="rect">
            <a:avLst/>
          </a:prstGeom>
          <a:noFill/>
        </p:spPr>
        <p:txBody>
          <a:bodyPr wrap="square">
            <a:spAutoFit/>
          </a:bodyPr>
          <a:lstStyle/>
          <a:p>
            <a:pPr algn="l">
              <a:defRPr sz="800" b="0">
                <a:solidFill>
                  <a:srgbClr val="F0F2F8"/>
                </a:solidFill>
                <a:latin typeface="Calibri"/>
              </a:defRPr>
            </a:pPr>
            <a:r>
              <a:t>2025: 12,096</a:t>
            </a:r>
          </a:p>
        </p:txBody>
      </p:sp>
      <p:sp>
        <p:nvSpPr>
          <p:cNvPr id="31" name="Rounded Rectangle 30"/>
          <p:cNvSpPr/>
          <p:nvPr/>
        </p:nvSpPr>
        <p:spPr>
          <a:xfrm>
            <a:off x="1463040" y="4517136"/>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463040" y="4517136"/>
            <a:ext cx="277992" cy="256032"/>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554480" y="4526279"/>
            <a:ext cx="1371600" cy="228600"/>
          </a:xfrm>
          <a:prstGeom prst="rect">
            <a:avLst/>
          </a:prstGeom>
          <a:noFill/>
        </p:spPr>
        <p:txBody>
          <a:bodyPr wrap="square">
            <a:spAutoFit/>
          </a:bodyPr>
          <a:lstStyle/>
          <a:p>
            <a:pPr algn="l">
              <a:defRPr sz="800" b="0">
                <a:solidFill>
                  <a:srgbClr val="F0F2F8"/>
                </a:solidFill>
                <a:latin typeface="Calibri"/>
              </a:defRPr>
            </a:pPr>
            <a:r>
              <a:t>2026: 2,715</a:t>
            </a:r>
          </a:p>
        </p:txBody>
      </p:sp>
      <p:sp>
        <p:nvSpPr>
          <p:cNvPr id="34" name="TextBox 33"/>
          <p:cNvSpPr txBox="1"/>
          <p:nvPr/>
        </p:nvSpPr>
        <p:spPr>
          <a:xfrm>
            <a:off x="640080" y="4965192"/>
            <a:ext cx="914400" cy="228600"/>
          </a:xfrm>
          <a:prstGeom prst="rect">
            <a:avLst/>
          </a:prstGeom>
          <a:noFill/>
        </p:spPr>
        <p:txBody>
          <a:bodyPr wrap="square">
            <a:spAutoFit/>
          </a:bodyPr>
          <a:lstStyle/>
          <a:p>
            <a:pPr algn="l">
              <a:defRPr sz="1100" b="1">
                <a:solidFill>
                  <a:srgbClr val="6366F1"/>
                </a:solidFill>
                <a:latin typeface="Calibri"/>
              </a:defRPr>
            </a:pPr>
            <a:r>
              <a:t>25-34</a:t>
            </a:r>
          </a:p>
        </p:txBody>
      </p:sp>
      <p:sp>
        <p:nvSpPr>
          <p:cNvPr id="35" name="Rounded Rectangle 34"/>
          <p:cNvSpPr/>
          <p:nvPr/>
        </p:nvSpPr>
        <p:spPr>
          <a:xfrm>
            <a:off x="1463040" y="4965192"/>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463040" y="4965192"/>
            <a:ext cx="922648"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554480" y="4974336"/>
            <a:ext cx="1371600" cy="228600"/>
          </a:xfrm>
          <a:prstGeom prst="rect">
            <a:avLst/>
          </a:prstGeom>
          <a:noFill/>
        </p:spPr>
        <p:txBody>
          <a:bodyPr wrap="square">
            <a:spAutoFit/>
          </a:bodyPr>
          <a:lstStyle/>
          <a:p>
            <a:pPr algn="l">
              <a:defRPr sz="800" b="0">
                <a:solidFill>
                  <a:srgbClr val="F0F2F8"/>
                </a:solidFill>
                <a:latin typeface="Calibri"/>
              </a:defRPr>
            </a:pPr>
            <a:r>
              <a:t>2025: 9,011</a:t>
            </a:r>
          </a:p>
        </p:txBody>
      </p:sp>
      <p:sp>
        <p:nvSpPr>
          <p:cNvPr id="38" name="Rounded Rectangle 37"/>
          <p:cNvSpPr/>
          <p:nvPr/>
        </p:nvSpPr>
        <p:spPr>
          <a:xfrm>
            <a:off x="1463040" y="5266944"/>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463040" y="5266944"/>
            <a:ext cx="233145" cy="256032"/>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554480" y="5276088"/>
            <a:ext cx="1371600" cy="228600"/>
          </a:xfrm>
          <a:prstGeom prst="rect">
            <a:avLst/>
          </a:prstGeom>
          <a:noFill/>
        </p:spPr>
        <p:txBody>
          <a:bodyPr wrap="square">
            <a:spAutoFit/>
          </a:bodyPr>
          <a:lstStyle/>
          <a:p>
            <a:pPr algn="l">
              <a:defRPr sz="800" b="0">
                <a:solidFill>
                  <a:srgbClr val="F0F2F8"/>
                </a:solidFill>
                <a:latin typeface="Calibri"/>
              </a:defRPr>
            </a:pPr>
            <a:r>
              <a:t>2026: 2,277</a:t>
            </a:r>
          </a:p>
        </p:txBody>
      </p:sp>
      <p:sp>
        <p:nvSpPr>
          <p:cNvPr id="41" name="TextBox 40"/>
          <p:cNvSpPr txBox="1"/>
          <p:nvPr/>
        </p:nvSpPr>
        <p:spPr>
          <a:xfrm>
            <a:off x="640080" y="5715000"/>
            <a:ext cx="914400" cy="228600"/>
          </a:xfrm>
          <a:prstGeom prst="rect">
            <a:avLst/>
          </a:prstGeom>
          <a:noFill/>
        </p:spPr>
        <p:txBody>
          <a:bodyPr wrap="square">
            <a:spAutoFit/>
          </a:bodyPr>
          <a:lstStyle/>
          <a:p>
            <a:pPr algn="l">
              <a:defRPr sz="1100" b="1">
                <a:solidFill>
                  <a:srgbClr val="14B8A6"/>
                </a:solidFill>
                <a:latin typeface="Calibri"/>
              </a:defRPr>
            </a:pPr>
            <a:r>
              <a:t>18-24</a:t>
            </a:r>
          </a:p>
        </p:txBody>
      </p:sp>
      <p:sp>
        <p:nvSpPr>
          <p:cNvPr id="42" name="Rounded Rectangle 41"/>
          <p:cNvSpPr/>
          <p:nvPr/>
        </p:nvSpPr>
        <p:spPr>
          <a:xfrm>
            <a:off x="1463040" y="5715000"/>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463040" y="5715000"/>
            <a:ext cx="202325"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554480" y="5724144"/>
            <a:ext cx="1371600" cy="228600"/>
          </a:xfrm>
          <a:prstGeom prst="rect">
            <a:avLst/>
          </a:prstGeom>
          <a:noFill/>
        </p:spPr>
        <p:txBody>
          <a:bodyPr wrap="square">
            <a:spAutoFit/>
          </a:bodyPr>
          <a:lstStyle/>
          <a:p>
            <a:pPr algn="l">
              <a:defRPr sz="800" b="0">
                <a:solidFill>
                  <a:srgbClr val="F0F2F8"/>
                </a:solidFill>
                <a:latin typeface="Calibri"/>
              </a:defRPr>
            </a:pPr>
            <a:r>
              <a:t>2025: 1,976</a:t>
            </a:r>
          </a:p>
        </p:txBody>
      </p:sp>
      <p:sp>
        <p:nvSpPr>
          <p:cNvPr id="45" name="Rounded Rectangle 44"/>
          <p:cNvSpPr/>
          <p:nvPr/>
        </p:nvSpPr>
        <p:spPr>
          <a:xfrm>
            <a:off x="1463040" y="6016752"/>
            <a:ext cx="4114800" cy="256032"/>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1463040" y="6016752"/>
            <a:ext cx="42390" cy="256032"/>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554480" y="6025896"/>
            <a:ext cx="1371600" cy="228600"/>
          </a:xfrm>
          <a:prstGeom prst="rect">
            <a:avLst/>
          </a:prstGeom>
          <a:noFill/>
        </p:spPr>
        <p:txBody>
          <a:bodyPr wrap="square">
            <a:spAutoFit/>
          </a:bodyPr>
          <a:lstStyle/>
          <a:p>
            <a:pPr algn="l">
              <a:defRPr sz="800" b="0">
                <a:solidFill>
                  <a:srgbClr val="F0F2F8"/>
                </a:solidFill>
                <a:latin typeface="Calibri"/>
              </a:defRPr>
            </a:pPr>
            <a:r>
              <a:t>2026: 414</a:t>
            </a:r>
          </a:p>
        </p:txBody>
      </p:sp>
      <p:sp>
        <p:nvSpPr>
          <p:cNvPr id="48" name="Rounded Rectangle 47"/>
          <p:cNvSpPr/>
          <p:nvPr/>
        </p:nvSpPr>
        <p:spPr>
          <a:xfrm>
            <a:off x="6217920" y="1463040"/>
            <a:ext cx="5303520" cy="23774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0" y="1554480"/>
            <a:ext cx="4937760" cy="274320"/>
          </a:xfrm>
          <a:prstGeom prst="rect">
            <a:avLst/>
          </a:prstGeom>
          <a:noFill/>
        </p:spPr>
        <p:txBody>
          <a:bodyPr wrap="square">
            <a:spAutoFit/>
          </a:bodyPr>
          <a:lstStyle/>
          <a:p>
            <a:pPr algn="l">
              <a:defRPr sz="1000" b="1">
                <a:solidFill>
                  <a:srgbClr val="8B95B0"/>
                </a:solidFill>
                <a:latin typeface="Calibri"/>
              </a:defRPr>
            </a:pPr>
            <a:r>
              <a:t>GEN</a:t>
            </a:r>
          </a:p>
        </p:txBody>
      </p:sp>
      <p:sp>
        <p:nvSpPr>
          <p:cNvPr id="50" name="TextBox 49"/>
          <p:cNvSpPr txBox="1"/>
          <p:nvPr/>
        </p:nvSpPr>
        <p:spPr>
          <a:xfrm>
            <a:off x="6400800" y="1920240"/>
            <a:ext cx="2286000" cy="228600"/>
          </a:xfrm>
          <a:prstGeom prst="rect">
            <a:avLst/>
          </a:prstGeom>
          <a:noFill/>
        </p:spPr>
        <p:txBody>
          <a:bodyPr wrap="square">
            <a:spAutoFit/>
          </a:bodyPr>
          <a:lstStyle/>
          <a:p>
            <a:pPr algn="l">
              <a:defRPr sz="1000" b="1">
                <a:solidFill>
                  <a:srgbClr val="F59E0B"/>
                </a:solidFill>
                <a:latin typeface="Calibri"/>
              </a:defRPr>
            </a:pPr>
            <a:r>
              <a:t>2025:</a:t>
            </a:r>
          </a:p>
        </p:txBody>
      </p:sp>
      <p:sp>
        <p:nvSpPr>
          <p:cNvPr id="51" name="Rounded Rectangle 50"/>
          <p:cNvSpPr/>
          <p:nvPr/>
        </p:nvSpPr>
        <p:spPr>
          <a:xfrm>
            <a:off x="6400800" y="2194560"/>
            <a:ext cx="493776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400800" y="2194560"/>
            <a:ext cx="3464953" cy="3657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92240" y="2221992"/>
            <a:ext cx="1828800" cy="320040"/>
          </a:xfrm>
          <a:prstGeom prst="rect">
            <a:avLst/>
          </a:prstGeom>
          <a:noFill/>
        </p:spPr>
        <p:txBody>
          <a:bodyPr wrap="square">
            <a:spAutoFit/>
          </a:bodyPr>
          <a:lstStyle/>
          <a:p>
            <a:pPr algn="l">
              <a:defRPr sz="1000" b="1">
                <a:solidFill>
                  <a:srgbClr val="F0F2F8"/>
                </a:solidFill>
                <a:latin typeface="Calibri"/>
              </a:defRPr>
            </a:pPr>
            <a:r>
              <a:t>Femei 70%</a:t>
            </a:r>
          </a:p>
        </p:txBody>
      </p:sp>
      <p:sp>
        <p:nvSpPr>
          <p:cNvPr id="54" name="TextBox 53"/>
          <p:cNvSpPr txBox="1"/>
          <p:nvPr/>
        </p:nvSpPr>
        <p:spPr>
          <a:xfrm>
            <a:off x="9601200" y="2221992"/>
            <a:ext cx="1463040" cy="320040"/>
          </a:xfrm>
          <a:prstGeom prst="rect">
            <a:avLst/>
          </a:prstGeom>
          <a:noFill/>
        </p:spPr>
        <p:txBody>
          <a:bodyPr wrap="square">
            <a:spAutoFit/>
          </a:bodyPr>
          <a:lstStyle/>
          <a:p>
            <a:pPr algn="r">
              <a:defRPr sz="1000" b="1">
                <a:solidFill>
                  <a:srgbClr val="F0F2F8"/>
                </a:solidFill>
                <a:latin typeface="Calibri"/>
              </a:defRPr>
            </a:pPr>
            <a:r>
              <a:t>Bărbați 30%</a:t>
            </a:r>
          </a:p>
        </p:txBody>
      </p:sp>
      <p:sp>
        <p:nvSpPr>
          <p:cNvPr id="55" name="TextBox 54"/>
          <p:cNvSpPr txBox="1"/>
          <p:nvPr/>
        </p:nvSpPr>
        <p:spPr>
          <a:xfrm>
            <a:off x="6400800" y="2697480"/>
            <a:ext cx="2286000" cy="228600"/>
          </a:xfrm>
          <a:prstGeom prst="rect">
            <a:avLst/>
          </a:prstGeom>
          <a:noFill/>
        </p:spPr>
        <p:txBody>
          <a:bodyPr wrap="square">
            <a:spAutoFit/>
          </a:bodyPr>
          <a:lstStyle/>
          <a:p>
            <a:pPr algn="l">
              <a:defRPr sz="1000" b="1">
                <a:solidFill>
                  <a:srgbClr val="6366F1"/>
                </a:solidFill>
                <a:latin typeface="Calibri"/>
              </a:defRPr>
            </a:pPr>
            <a:r>
              <a:t>2026:</a:t>
            </a:r>
          </a:p>
        </p:txBody>
      </p:sp>
      <p:sp>
        <p:nvSpPr>
          <p:cNvPr id="56" name="Rounded Rectangle 55"/>
          <p:cNvSpPr/>
          <p:nvPr/>
        </p:nvSpPr>
        <p:spPr>
          <a:xfrm>
            <a:off x="6400800" y="2926080"/>
            <a:ext cx="493776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6400800" y="2926080"/>
            <a:ext cx="3202937" cy="3657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92240" y="2953512"/>
            <a:ext cx="1828800" cy="320040"/>
          </a:xfrm>
          <a:prstGeom prst="rect">
            <a:avLst/>
          </a:prstGeom>
          <a:noFill/>
        </p:spPr>
        <p:txBody>
          <a:bodyPr wrap="square">
            <a:spAutoFit/>
          </a:bodyPr>
          <a:lstStyle/>
          <a:p>
            <a:pPr algn="l">
              <a:defRPr sz="1000" b="1">
                <a:solidFill>
                  <a:srgbClr val="F0F2F8"/>
                </a:solidFill>
                <a:latin typeface="Calibri"/>
              </a:defRPr>
            </a:pPr>
            <a:r>
              <a:t>Femei 65%</a:t>
            </a:r>
          </a:p>
        </p:txBody>
      </p:sp>
      <p:sp>
        <p:nvSpPr>
          <p:cNvPr id="59" name="TextBox 58"/>
          <p:cNvSpPr txBox="1"/>
          <p:nvPr/>
        </p:nvSpPr>
        <p:spPr>
          <a:xfrm>
            <a:off x="9601200" y="2953512"/>
            <a:ext cx="1463040" cy="320040"/>
          </a:xfrm>
          <a:prstGeom prst="rect">
            <a:avLst/>
          </a:prstGeom>
          <a:noFill/>
        </p:spPr>
        <p:txBody>
          <a:bodyPr wrap="square">
            <a:spAutoFit/>
          </a:bodyPr>
          <a:lstStyle/>
          <a:p>
            <a:pPr algn="r">
              <a:defRPr sz="1000" b="1">
                <a:solidFill>
                  <a:srgbClr val="F0F2F8"/>
                </a:solidFill>
                <a:latin typeface="Calibri"/>
              </a:defRPr>
            </a:pPr>
            <a:r>
              <a:t>Bărbați 35%</a:t>
            </a:r>
          </a:p>
        </p:txBody>
      </p:sp>
      <p:sp>
        <p:nvSpPr>
          <p:cNvPr id="60" name="Rounded Rectangle 59"/>
          <p:cNvSpPr/>
          <p:nvPr/>
        </p:nvSpPr>
        <p:spPr>
          <a:xfrm>
            <a:off x="6217920" y="4023360"/>
            <a:ext cx="5303520" cy="23774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6217920" y="4023360"/>
            <a:ext cx="54864" cy="23774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0" y="4114800"/>
            <a:ext cx="4937760" cy="274320"/>
          </a:xfrm>
          <a:prstGeom prst="rect">
            <a:avLst/>
          </a:prstGeom>
          <a:noFill/>
        </p:spPr>
        <p:txBody>
          <a:bodyPr wrap="square">
            <a:spAutoFit/>
          </a:bodyPr>
          <a:lstStyle/>
          <a:p>
            <a:pPr algn="l">
              <a:defRPr sz="1100" b="1">
                <a:solidFill>
                  <a:srgbClr val="F59E0B"/>
                </a:solidFill>
                <a:latin typeface="Calibri"/>
              </a:defRPr>
            </a:pPr>
            <a:r>
              <a:t>⚠️ ATENȚIE LA INTERPRETARE</a:t>
            </a:r>
          </a:p>
        </p:txBody>
      </p:sp>
      <p:sp>
        <p:nvSpPr>
          <p:cNvPr id="63" name="TextBox 62"/>
          <p:cNvSpPr txBox="1"/>
          <p:nvPr/>
        </p:nvSpPr>
        <p:spPr>
          <a:xfrm>
            <a:off x="6400800" y="4480560"/>
            <a:ext cx="4937760" cy="320040"/>
          </a:xfrm>
          <a:prstGeom prst="rect">
            <a:avLst/>
          </a:prstGeom>
          <a:noFill/>
        </p:spPr>
        <p:txBody>
          <a:bodyPr wrap="square">
            <a:spAutoFit/>
          </a:bodyPr>
          <a:lstStyle/>
          <a:p>
            <a:pPr algn="l">
              <a:defRPr sz="1000" b="1">
                <a:solidFill>
                  <a:srgbClr val="F0F2F8"/>
                </a:solidFill>
                <a:latin typeface="Calibri"/>
              </a:defRPr>
            </a:pPr>
            <a:r>
              <a:t>GA4 cunoaște vârsta doar la ~40% din useri</a:t>
            </a:r>
          </a:p>
        </p:txBody>
      </p:sp>
      <p:sp>
        <p:nvSpPr>
          <p:cNvPr id="64" name="TextBox 63"/>
          <p:cNvSpPr txBox="1"/>
          <p:nvPr/>
        </p:nvSpPr>
        <p:spPr>
          <a:xfrm>
            <a:off x="6400800" y="4846320"/>
            <a:ext cx="4937760" cy="548640"/>
          </a:xfrm>
          <a:prstGeom prst="rect">
            <a:avLst/>
          </a:prstGeom>
          <a:noFill/>
        </p:spPr>
        <p:txBody>
          <a:bodyPr wrap="square">
            <a:spAutoFit/>
          </a:bodyPr>
          <a:lstStyle/>
          <a:p>
            <a:pPr algn="l">
              <a:defRPr sz="1000" b="0">
                <a:solidFill>
                  <a:srgbClr val="8B95B0"/>
                </a:solidFill>
                <a:latin typeface="Calibri"/>
              </a:defRPr>
            </a:pPr>
            <a:r>
              <a:t>160K din 271K users (2025) sunt "unknown". Profilul de 45-54 / 65+ este al celor logati in Google cu ad personalization. Quiz-ul (auto-raportat) arata 25-39 = #1.</a:t>
            </a:r>
          </a:p>
        </p:txBody>
      </p:sp>
      <p:sp>
        <p:nvSpPr>
          <p:cNvPr id="65" name="TextBox 64"/>
          <p:cNvSpPr txBox="1"/>
          <p:nvPr/>
        </p:nvSpPr>
        <p:spPr>
          <a:xfrm>
            <a:off x="6400800" y="5486400"/>
            <a:ext cx="4937760" cy="502920"/>
          </a:xfrm>
          <a:prstGeom prst="rect">
            <a:avLst/>
          </a:prstGeom>
          <a:noFill/>
        </p:spPr>
        <p:txBody>
          <a:bodyPr wrap="square">
            <a:spAutoFit/>
          </a:bodyPr>
          <a:lstStyle/>
          <a:p>
            <a:pPr algn="l">
              <a:defRPr sz="1000" b="0">
                <a:solidFill>
                  <a:srgbClr val="5A6380"/>
                </a:solidFill>
                <a:latin typeface="Calibri"/>
              </a:defRPr>
            </a:pPr>
            <a:r>
              <a:t>Quiz = varsta reala declarata</a:t>
            </a:r>
            <a:br/>
            <a:r>
              <a:t>GA4 = varsta estimata de Google (doar useri logati)</a:t>
            </a:r>
          </a:p>
        </p:txBody>
      </p:sp>
      <p:sp>
        <p:nvSpPr>
          <p:cNvPr id="66" name="Rounded Rectangle 65"/>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40080" y="6473952"/>
            <a:ext cx="10972800" cy="274320"/>
          </a:xfrm>
          <a:prstGeom prst="rect">
            <a:avLst/>
          </a:prstGeom>
          <a:noFill/>
        </p:spPr>
        <p:txBody>
          <a:bodyPr wrap="square">
            <a:spAutoFit/>
          </a:bodyPr>
          <a:lstStyle/>
          <a:p>
            <a:pPr algn="l">
              <a:defRPr sz="1000" b="0">
                <a:solidFill>
                  <a:srgbClr val="F59E0B"/>
                </a:solidFill>
                <a:latin typeface="Calibri"/>
              </a:defRPr>
            </a:pPr>
            <a:r>
              <a:t>💡 GA4: 45-54 ani #1 (useri logați Google) vs Quiz: 25-39 ani #1 (vârstă reală auto-raportată). Ambele sunt valide, dar completarul e mai precis.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DEVICE &amp; RETENȚIE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De pe ce dispozitive accesează site-ul?</a:t>
            </a:r>
          </a:p>
        </p:txBody>
      </p:sp>
      <p:sp>
        <p:nvSpPr>
          <p:cNvPr id="4" name="Rounded Rectangle 3"/>
          <p:cNvSpPr/>
          <p:nvPr/>
        </p:nvSpPr>
        <p:spPr>
          <a:xfrm>
            <a:off x="457200" y="1463040"/>
            <a:ext cx="5029200" cy="27432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4663440" cy="274320"/>
          </a:xfrm>
          <a:prstGeom prst="rect">
            <a:avLst/>
          </a:prstGeom>
          <a:noFill/>
        </p:spPr>
        <p:txBody>
          <a:bodyPr wrap="square">
            <a:spAutoFit/>
          </a:bodyPr>
          <a:lstStyle/>
          <a:p>
            <a:pPr algn="l">
              <a:defRPr sz="1000" b="1">
                <a:solidFill>
                  <a:srgbClr val="8B95B0"/>
                </a:solidFill>
                <a:latin typeface="Calibri"/>
              </a:defRPr>
            </a:pPr>
            <a:r>
              <a:t>DEVICE — SESIUNI</a:t>
            </a:r>
          </a:p>
        </p:txBody>
      </p:sp>
      <p:sp>
        <p:nvSpPr>
          <p:cNvPr id="6" name="TextBox 5"/>
          <p:cNvSpPr txBox="1"/>
          <p:nvPr/>
        </p:nvSpPr>
        <p:spPr>
          <a:xfrm>
            <a:off x="640080" y="1920240"/>
            <a:ext cx="2743200" cy="274320"/>
          </a:xfrm>
          <a:prstGeom prst="rect">
            <a:avLst/>
          </a:prstGeom>
          <a:noFill/>
        </p:spPr>
        <p:txBody>
          <a:bodyPr wrap="square">
            <a:spAutoFit/>
          </a:bodyPr>
          <a:lstStyle/>
          <a:p>
            <a:pPr algn="l">
              <a:defRPr sz="1400" b="1">
                <a:solidFill>
                  <a:srgbClr val="EC4899"/>
                </a:solidFill>
                <a:latin typeface="Calibri"/>
              </a:defRPr>
            </a:pPr>
            <a:r>
              <a:t>📱 Mobile</a:t>
            </a:r>
          </a:p>
        </p:txBody>
      </p:sp>
      <p:sp>
        <p:nvSpPr>
          <p:cNvPr id="7" name="TextBox 6"/>
          <p:cNvSpPr txBox="1"/>
          <p:nvPr/>
        </p:nvSpPr>
        <p:spPr>
          <a:xfrm>
            <a:off x="3657600" y="1920240"/>
            <a:ext cx="1188720" cy="274320"/>
          </a:xfrm>
          <a:prstGeom prst="rect">
            <a:avLst/>
          </a:prstGeom>
          <a:noFill/>
        </p:spPr>
        <p:txBody>
          <a:bodyPr wrap="square">
            <a:spAutoFit/>
          </a:bodyPr>
          <a:lstStyle/>
          <a:p>
            <a:pPr algn="r">
              <a:defRPr sz="2200" b="1">
                <a:solidFill>
                  <a:srgbClr val="EC4899"/>
                </a:solidFill>
                <a:latin typeface="Calibri"/>
              </a:defRPr>
            </a:pPr>
            <a:r>
              <a:t>88%</a:t>
            </a:r>
          </a:p>
        </p:txBody>
      </p:sp>
      <p:sp>
        <p:nvSpPr>
          <p:cNvPr id="8" name="TextBox 7"/>
          <p:cNvSpPr txBox="1"/>
          <p:nvPr/>
        </p:nvSpPr>
        <p:spPr>
          <a:xfrm>
            <a:off x="640080" y="2240280"/>
            <a:ext cx="1828800" cy="182880"/>
          </a:xfrm>
          <a:prstGeom prst="rect">
            <a:avLst/>
          </a:prstGeom>
          <a:noFill/>
        </p:spPr>
        <p:txBody>
          <a:bodyPr wrap="square">
            <a:spAutoFit/>
          </a:bodyPr>
          <a:lstStyle/>
          <a:p>
            <a:pPr algn="l">
              <a:defRPr sz="1000" b="0">
                <a:solidFill>
                  <a:srgbClr val="8B95B0"/>
                </a:solidFill>
                <a:latin typeface="Calibri"/>
              </a:defRPr>
            </a:pPr>
            <a:r>
              <a:t>2025: 315,522</a:t>
            </a:r>
          </a:p>
        </p:txBody>
      </p:sp>
      <p:sp>
        <p:nvSpPr>
          <p:cNvPr id="9" name="TextBox 8"/>
          <p:cNvSpPr txBox="1"/>
          <p:nvPr/>
        </p:nvSpPr>
        <p:spPr>
          <a:xfrm>
            <a:off x="3108960" y="2240280"/>
            <a:ext cx="1828800" cy="182880"/>
          </a:xfrm>
          <a:prstGeom prst="rect">
            <a:avLst/>
          </a:prstGeom>
          <a:noFill/>
        </p:spPr>
        <p:txBody>
          <a:bodyPr wrap="square">
            <a:spAutoFit/>
          </a:bodyPr>
          <a:lstStyle/>
          <a:p>
            <a:pPr algn="r">
              <a:defRPr sz="1000" b="0">
                <a:solidFill>
                  <a:srgbClr val="8B95B0"/>
                </a:solidFill>
                <a:latin typeface="Calibri"/>
              </a:defRPr>
            </a:pPr>
            <a:r>
              <a:t>2026: 67,158</a:t>
            </a:r>
          </a:p>
        </p:txBody>
      </p:sp>
      <p:sp>
        <p:nvSpPr>
          <p:cNvPr id="10" name="TextBox 9"/>
          <p:cNvSpPr txBox="1"/>
          <p:nvPr/>
        </p:nvSpPr>
        <p:spPr>
          <a:xfrm>
            <a:off x="640080" y="2743200"/>
            <a:ext cx="2743200" cy="274320"/>
          </a:xfrm>
          <a:prstGeom prst="rect">
            <a:avLst/>
          </a:prstGeom>
          <a:noFill/>
        </p:spPr>
        <p:txBody>
          <a:bodyPr wrap="square">
            <a:spAutoFit/>
          </a:bodyPr>
          <a:lstStyle/>
          <a:p>
            <a:pPr algn="l">
              <a:defRPr sz="1400" b="1">
                <a:solidFill>
                  <a:srgbClr val="6366F1"/>
                </a:solidFill>
                <a:latin typeface="Calibri"/>
              </a:defRPr>
            </a:pPr>
            <a:r>
              <a:t>💻 Desktop</a:t>
            </a:r>
          </a:p>
        </p:txBody>
      </p:sp>
      <p:sp>
        <p:nvSpPr>
          <p:cNvPr id="11" name="TextBox 10"/>
          <p:cNvSpPr txBox="1"/>
          <p:nvPr/>
        </p:nvSpPr>
        <p:spPr>
          <a:xfrm>
            <a:off x="3657600" y="2743200"/>
            <a:ext cx="1188720" cy="274320"/>
          </a:xfrm>
          <a:prstGeom prst="rect">
            <a:avLst/>
          </a:prstGeom>
          <a:noFill/>
        </p:spPr>
        <p:txBody>
          <a:bodyPr wrap="square">
            <a:spAutoFit/>
          </a:bodyPr>
          <a:lstStyle/>
          <a:p>
            <a:pPr algn="r">
              <a:defRPr sz="2200" b="1">
                <a:solidFill>
                  <a:srgbClr val="6366F1"/>
                </a:solidFill>
                <a:latin typeface="Calibri"/>
              </a:defRPr>
            </a:pPr>
            <a:r>
              <a:t>11%</a:t>
            </a:r>
          </a:p>
        </p:txBody>
      </p:sp>
      <p:sp>
        <p:nvSpPr>
          <p:cNvPr id="12" name="TextBox 11"/>
          <p:cNvSpPr txBox="1"/>
          <p:nvPr/>
        </p:nvSpPr>
        <p:spPr>
          <a:xfrm>
            <a:off x="640080" y="3063240"/>
            <a:ext cx="1828800" cy="182880"/>
          </a:xfrm>
          <a:prstGeom prst="rect">
            <a:avLst/>
          </a:prstGeom>
          <a:noFill/>
        </p:spPr>
        <p:txBody>
          <a:bodyPr wrap="square">
            <a:spAutoFit/>
          </a:bodyPr>
          <a:lstStyle/>
          <a:p>
            <a:pPr algn="l">
              <a:defRPr sz="1000" b="0">
                <a:solidFill>
                  <a:srgbClr val="8B95B0"/>
                </a:solidFill>
                <a:latin typeface="Calibri"/>
              </a:defRPr>
            </a:pPr>
            <a:r>
              <a:t>2025: 35,972</a:t>
            </a:r>
          </a:p>
        </p:txBody>
      </p:sp>
      <p:sp>
        <p:nvSpPr>
          <p:cNvPr id="13" name="TextBox 12"/>
          <p:cNvSpPr txBox="1"/>
          <p:nvPr/>
        </p:nvSpPr>
        <p:spPr>
          <a:xfrm>
            <a:off x="3108960" y="3063240"/>
            <a:ext cx="1828800" cy="182880"/>
          </a:xfrm>
          <a:prstGeom prst="rect">
            <a:avLst/>
          </a:prstGeom>
          <a:noFill/>
        </p:spPr>
        <p:txBody>
          <a:bodyPr wrap="square">
            <a:spAutoFit/>
          </a:bodyPr>
          <a:lstStyle/>
          <a:p>
            <a:pPr algn="r">
              <a:defRPr sz="1000" b="0">
                <a:solidFill>
                  <a:srgbClr val="8B95B0"/>
                </a:solidFill>
                <a:latin typeface="Calibri"/>
              </a:defRPr>
            </a:pPr>
            <a:r>
              <a:t>2026: 8,769</a:t>
            </a:r>
          </a:p>
        </p:txBody>
      </p:sp>
      <p:sp>
        <p:nvSpPr>
          <p:cNvPr id="14" name="TextBox 13"/>
          <p:cNvSpPr txBox="1"/>
          <p:nvPr/>
        </p:nvSpPr>
        <p:spPr>
          <a:xfrm>
            <a:off x="640080" y="3566160"/>
            <a:ext cx="2743200" cy="274320"/>
          </a:xfrm>
          <a:prstGeom prst="rect">
            <a:avLst/>
          </a:prstGeom>
          <a:noFill/>
        </p:spPr>
        <p:txBody>
          <a:bodyPr wrap="square">
            <a:spAutoFit/>
          </a:bodyPr>
          <a:lstStyle/>
          <a:p>
            <a:pPr algn="l">
              <a:defRPr sz="1400" b="1">
                <a:solidFill>
                  <a:srgbClr val="14B8A6"/>
                </a:solidFill>
                <a:latin typeface="Calibri"/>
              </a:defRPr>
            </a:pPr>
            <a:r>
              <a:t>📋 Tablet</a:t>
            </a:r>
          </a:p>
        </p:txBody>
      </p:sp>
      <p:sp>
        <p:nvSpPr>
          <p:cNvPr id="15" name="TextBox 14"/>
          <p:cNvSpPr txBox="1"/>
          <p:nvPr/>
        </p:nvSpPr>
        <p:spPr>
          <a:xfrm>
            <a:off x="3657600" y="3566160"/>
            <a:ext cx="1188720" cy="274320"/>
          </a:xfrm>
          <a:prstGeom prst="rect">
            <a:avLst/>
          </a:prstGeom>
          <a:noFill/>
        </p:spPr>
        <p:txBody>
          <a:bodyPr wrap="square">
            <a:spAutoFit/>
          </a:bodyPr>
          <a:lstStyle/>
          <a:p>
            <a:pPr algn="r">
              <a:defRPr sz="2200" b="1">
                <a:solidFill>
                  <a:srgbClr val="14B8A6"/>
                </a:solidFill>
                <a:latin typeface="Calibri"/>
              </a:defRPr>
            </a:pPr>
            <a:r>
              <a:t>1%</a:t>
            </a:r>
          </a:p>
        </p:txBody>
      </p:sp>
      <p:sp>
        <p:nvSpPr>
          <p:cNvPr id="16" name="TextBox 15"/>
          <p:cNvSpPr txBox="1"/>
          <p:nvPr/>
        </p:nvSpPr>
        <p:spPr>
          <a:xfrm>
            <a:off x="640080" y="3886200"/>
            <a:ext cx="1828800" cy="182880"/>
          </a:xfrm>
          <a:prstGeom prst="rect">
            <a:avLst/>
          </a:prstGeom>
          <a:noFill/>
        </p:spPr>
        <p:txBody>
          <a:bodyPr wrap="square">
            <a:spAutoFit/>
          </a:bodyPr>
          <a:lstStyle/>
          <a:p>
            <a:pPr algn="l">
              <a:defRPr sz="1000" b="0">
                <a:solidFill>
                  <a:srgbClr val="8B95B0"/>
                </a:solidFill>
                <a:latin typeface="Calibri"/>
              </a:defRPr>
            </a:pPr>
            <a:r>
              <a:t>2025: 3,673</a:t>
            </a:r>
          </a:p>
        </p:txBody>
      </p:sp>
      <p:sp>
        <p:nvSpPr>
          <p:cNvPr id="17" name="TextBox 16"/>
          <p:cNvSpPr txBox="1"/>
          <p:nvPr/>
        </p:nvSpPr>
        <p:spPr>
          <a:xfrm>
            <a:off x="3108960" y="3886200"/>
            <a:ext cx="1828800" cy="182880"/>
          </a:xfrm>
          <a:prstGeom prst="rect">
            <a:avLst/>
          </a:prstGeom>
          <a:noFill/>
        </p:spPr>
        <p:txBody>
          <a:bodyPr wrap="square">
            <a:spAutoFit/>
          </a:bodyPr>
          <a:lstStyle/>
          <a:p>
            <a:pPr algn="r">
              <a:defRPr sz="1000" b="0">
                <a:solidFill>
                  <a:srgbClr val="8B95B0"/>
                </a:solidFill>
                <a:latin typeface="Calibri"/>
              </a:defRPr>
            </a:pPr>
            <a:r>
              <a:t>2026: 567</a:t>
            </a:r>
          </a:p>
        </p:txBody>
      </p:sp>
      <p:sp>
        <p:nvSpPr>
          <p:cNvPr id="18" name="Rounded Rectangle 17"/>
          <p:cNvSpPr/>
          <p:nvPr/>
        </p:nvSpPr>
        <p:spPr>
          <a:xfrm>
            <a:off x="5760720" y="1463040"/>
            <a:ext cx="5943600" cy="27432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0" y="1554480"/>
            <a:ext cx="5577840" cy="274320"/>
          </a:xfrm>
          <a:prstGeom prst="rect">
            <a:avLst/>
          </a:prstGeom>
          <a:noFill/>
        </p:spPr>
        <p:txBody>
          <a:bodyPr wrap="square">
            <a:spAutoFit/>
          </a:bodyPr>
          <a:lstStyle/>
          <a:p>
            <a:pPr algn="l">
              <a:defRPr sz="1000" b="1">
                <a:solidFill>
                  <a:srgbClr val="8B95B0"/>
                </a:solidFill>
                <a:latin typeface="Calibri"/>
              </a:defRPr>
            </a:pPr>
            <a:r>
              <a:t>NEW vs RETURNING USERS</a:t>
            </a:r>
          </a:p>
        </p:txBody>
      </p:sp>
      <p:sp>
        <p:nvSpPr>
          <p:cNvPr id="20" name="TextBox 19"/>
          <p:cNvSpPr txBox="1"/>
          <p:nvPr/>
        </p:nvSpPr>
        <p:spPr>
          <a:xfrm>
            <a:off x="5943600" y="1965960"/>
            <a:ext cx="5486400" cy="274320"/>
          </a:xfrm>
          <a:prstGeom prst="rect">
            <a:avLst/>
          </a:prstGeom>
          <a:noFill/>
        </p:spPr>
        <p:txBody>
          <a:bodyPr wrap="square">
            <a:spAutoFit/>
          </a:bodyPr>
          <a:lstStyle/>
          <a:p>
            <a:pPr algn="l">
              <a:defRPr sz="1000" b="1">
                <a:solidFill>
                  <a:srgbClr val="F59E0B"/>
                </a:solidFill>
                <a:latin typeface="Calibri"/>
              </a:defRPr>
            </a:pPr>
            <a:r>
              <a:t>2025</a:t>
            </a:r>
          </a:p>
        </p:txBody>
      </p:sp>
      <p:sp>
        <p:nvSpPr>
          <p:cNvPr id="21" name="Rounded Rectangle 20"/>
          <p:cNvSpPr/>
          <p:nvPr/>
        </p:nvSpPr>
        <p:spPr>
          <a:xfrm>
            <a:off x="5943600" y="2286000"/>
            <a:ext cx="54864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943600" y="2286000"/>
            <a:ext cx="4705658"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40" y="2331720"/>
            <a:ext cx="2743200" cy="274320"/>
          </a:xfrm>
          <a:prstGeom prst="rect">
            <a:avLst/>
          </a:prstGeom>
          <a:noFill/>
        </p:spPr>
        <p:txBody>
          <a:bodyPr wrap="square">
            <a:spAutoFit/>
          </a:bodyPr>
          <a:lstStyle/>
          <a:p>
            <a:pPr algn="l">
              <a:defRPr sz="1000" b="1">
                <a:solidFill>
                  <a:srgbClr val="F0F2F8"/>
                </a:solidFill>
                <a:latin typeface="Calibri"/>
              </a:defRPr>
            </a:pPr>
            <a:r>
              <a:t>New 86%</a:t>
            </a:r>
          </a:p>
        </p:txBody>
      </p:sp>
      <p:sp>
        <p:nvSpPr>
          <p:cNvPr id="24" name="TextBox 23"/>
          <p:cNvSpPr txBox="1"/>
          <p:nvPr/>
        </p:nvSpPr>
        <p:spPr>
          <a:xfrm>
            <a:off x="8595360" y="2331720"/>
            <a:ext cx="2743200" cy="274320"/>
          </a:xfrm>
          <a:prstGeom prst="rect">
            <a:avLst/>
          </a:prstGeom>
          <a:noFill/>
        </p:spPr>
        <p:txBody>
          <a:bodyPr wrap="square">
            <a:spAutoFit/>
          </a:bodyPr>
          <a:lstStyle/>
          <a:p>
            <a:pPr algn="r">
              <a:defRPr sz="1000" b="1">
                <a:solidFill>
                  <a:srgbClr val="F0F2F8"/>
                </a:solidFill>
                <a:latin typeface="Calibri"/>
              </a:defRPr>
            </a:pPr>
            <a:r>
              <a:t>Ret 14%</a:t>
            </a:r>
          </a:p>
        </p:txBody>
      </p:sp>
      <p:sp>
        <p:nvSpPr>
          <p:cNvPr id="25" name="TextBox 24"/>
          <p:cNvSpPr txBox="1"/>
          <p:nvPr/>
        </p:nvSpPr>
        <p:spPr>
          <a:xfrm>
            <a:off x="5943600" y="2788920"/>
            <a:ext cx="5486400" cy="274320"/>
          </a:xfrm>
          <a:prstGeom prst="rect">
            <a:avLst/>
          </a:prstGeom>
          <a:noFill/>
        </p:spPr>
        <p:txBody>
          <a:bodyPr wrap="square">
            <a:spAutoFit/>
          </a:bodyPr>
          <a:lstStyle/>
          <a:p>
            <a:pPr algn="l">
              <a:defRPr sz="1000" b="1">
                <a:solidFill>
                  <a:srgbClr val="6366F1"/>
                </a:solidFill>
                <a:latin typeface="Calibri"/>
              </a:defRPr>
            </a:pPr>
            <a:r>
              <a:t>2026</a:t>
            </a:r>
          </a:p>
        </p:txBody>
      </p:sp>
      <p:sp>
        <p:nvSpPr>
          <p:cNvPr id="26" name="Rounded Rectangle 25"/>
          <p:cNvSpPr/>
          <p:nvPr/>
        </p:nvSpPr>
        <p:spPr>
          <a:xfrm>
            <a:off x="5943600" y="3063240"/>
            <a:ext cx="5486400" cy="32004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943600" y="3063240"/>
            <a:ext cx="4656023"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035040" y="3108960"/>
            <a:ext cx="2743200" cy="274320"/>
          </a:xfrm>
          <a:prstGeom prst="rect">
            <a:avLst/>
          </a:prstGeom>
          <a:noFill/>
        </p:spPr>
        <p:txBody>
          <a:bodyPr wrap="square">
            <a:spAutoFit/>
          </a:bodyPr>
          <a:lstStyle/>
          <a:p>
            <a:pPr algn="l">
              <a:defRPr sz="1000" b="1">
                <a:solidFill>
                  <a:srgbClr val="F0F2F8"/>
                </a:solidFill>
                <a:latin typeface="Calibri"/>
              </a:defRPr>
            </a:pPr>
            <a:r>
              <a:t>New 85%</a:t>
            </a:r>
          </a:p>
        </p:txBody>
      </p:sp>
      <p:sp>
        <p:nvSpPr>
          <p:cNvPr id="29" name="TextBox 28"/>
          <p:cNvSpPr txBox="1"/>
          <p:nvPr/>
        </p:nvSpPr>
        <p:spPr>
          <a:xfrm>
            <a:off x="8595360" y="3108960"/>
            <a:ext cx="2743200" cy="274320"/>
          </a:xfrm>
          <a:prstGeom prst="rect">
            <a:avLst/>
          </a:prstGeom>
          <a:noFill/>
        </p:spPr>
        <p:txBody>
          <a:bodyPr wrap="square">
            <a:spAutoFit/>
          </a:bodyPr>
          <a:lstStyle/>
          <a:p>
            <a:pPr algn="r">
              <a:defRPr sz="1000" b="1">
                <a:solidFill>
                  <a:srgbClr val="F0F2F8"/>
                </a:solidFill>
                <a:latin typeface="Calibri"/>
              </a:defRPr>
            </a:pPr>
            <a:r>
              <a:t>Ret 15%</a:t>
            </a:r>
          </a:p>
        </p:txBody>
      </p:sp>
      <p:sp>
        <p:nvSpPr>
          <p:cNvPr id="30" name="Rounded Rectangle 29"/>
          <p:cNvSpPr/>
          <p:nvPr/>
        </p:nvSpPr>
        <p:spPr>
          <a:xfrm>
            <a:off x="457200" y="4434840"/>
            <a:ext cx="11247120" cy="18288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526280"/>
            <a:ext cx="10972800" cy="274320"/>
          </a:xfrm>
          <a:prstGeom prst="rect">
            <a:avLst/>
          </a:prstGeom>
          <a:noFill/>
        </p:spPr>
        <p:txBody>
          <a:bodyPr wrap="square">
            <a:spAutoFit/>
          </a:bodyPr>
          <a:lstStyle/>
          <a:p>
            <a:pPr algn="l">
              <a:defRPr sz="1100" b="1">
                <a:solidFill>
                  <a:srgbClr val="8B95B0"/>
                </a:solidFill>
                <a:latin typeface="Calibri"/>
              </a:defRPr>
            </a:pPr>
            <a:r>
              <a:t>REVENUE PER DEVICE — de ce contează desktop-ul?</a:t>
            </a:r>
          </a:p>
        </p:txBody>
      </p:sp>
      <p:sp>
        <p:nvSpPr>
          <p:cNvPr id="32" name="Rounded Rectangle 31"/>
          <p:cNvSpPr/>
          <p:nvPr/>
        </p:nvSpPr>
        <p:spPr>
          <a:xfrm>
            <a:off x="640080" y="4892040"/>
            <a:ext cx="5394960" cy="118872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 y="4937760"/>
            <a:ext cx="914400" cy="228600"/>
          </a:xfrm>
          <a:prstGeom prst="rect">
            <a:avLst/>
          </a:prstGeom>
          <a:noFill/>
        </p:spPr>
        <p:txBody>
          <a:bodyPr wrap="square">
            <a:spAutoFit/>
          </a:bodyPr>
          <a:lstStyle/>
          <a:p>
            <a:pPr algn="l">
              <a:defRPr sz="1200" b="1">
                <a:solidFill>
                  <a:srgbClr val="F59E0B"/>
                </a:solidFill>
                <a:latin typeface="Calibri"/>
              </a:defRPr>
            </a:pPr>
            <a:r>
              <a:t>2025</a:t>
            </a:r>
          </a:p>
        </p:txBody>
      </p:sp>
      <p:sp>
        <p:nvSpPr>
          <p:cNvPr id="34" name="TextBox 33"/>
          <p:cNvSpPr txBox="1"/>
          <p:nvPr/>
        </p:nvSpPr>
        <p:spPr>
          <a:xfrm>
            <a:off x="777240" y="5212080"/>
            <a:ext cx="5029200" cy="228600"/>
          </a:xfrm>
          <a:prstGeom prst="rect">
            <a:avLst/>
          </a:prstGeom>
          <a:noFill/>
        </p:spPr>
        <p:txBody>
          <a:bodyPr wrap="square">
            <a:spAutoFit/>
          </a:bodyPr>
          <a:lstStyle/>
          <a:p>
            <a:pPr algn="l">
              <a:defRPr sz="1000" b="0">
                <a:solidFill>
                  <a:srgbClr val="F0F2F8"/>
                </a:solidFill>
                <a:latin typeface="Calibri"/>
              </a:defRPr>
            </a:pPr>
            <a:r>
              <a:t>Mobile: 728,097 RON (2.31 RON/user)</a:t>
            </a:r>
          </a:p>
        </p:txBody>
      </p:sp>
      <p:sp>
        <p:nvSpPr>
          <p:cNvPr id="35" name="TextBox 34"/>
          <p:cNvSpPr txBox="1"/>
          <p:nvPr/>
        </p:nvSpPr>
        <p:spPr>
          <a:xfrm>
            <a:off x="777240" y="5486400"/>
            <a:ext cx="5029200" cy="228600"/>
          </a:xfrm>
          <a:prstGeom prst="rect">
            <a:avLst/>
          </a:prstGeom>
          <a:noFill/>
        </p:spPr>
        <p:txBody>
          <a:bodyPr wrap="square">
            <a:spAutoFit/>
          </a:bodyPr>
          <a:lstStyle/>
          <a:p>
            <a:pPr algn="l">
              <a:defRPr sz="1000" b="0">
                <a:solidFill>
                  <a:srgbClr val="F0F2F8"/>
                </a:solidFill>
                <a:latin typeface="Calibri"/>
              </a:defRPr>
            </a:pPr>
            <a:r>
              <a:t>Desktop: 248,796 RON (6.91 RON/ses)</a:t>
            </a:r>
          </a:p>
        </p:txBody>
      </p:sp>
      <p:sp>
        <p:nvSpPr>
          <p:cNvPr id="36" name="Rounded Rectangle 35"/>
          <p:cNvSpPr/>
          <p:nvPr/>
        </p:nvSpPr>
        <p:spPr>
          <a:xfrm>
            <a:off x="6309360" y="4892040"/>
            <a:ext cx="5394960" cy="118872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46520" y="4937760"/>
            <a:ext cx="914400" cy="228600"/>
          </a:xfrm>
          <a:prstGeom prst="rect">
            <a:avLst/>
          </a:prstGeom>
          <a:noFill/>
        </p:spPr>
        <p:txBody>
          <a:bodyPr wrap="square">
            <a:spAutoFit/>
          </a:bodyPr>
          <a:lstStyle/>
          <a:p>
            <a:pPr algn="l">
              <a:defRPr sz="1200" b="1">
                <a:solidFill>
                  <a:srgbClr val="6366F1"/>
                </a:solidFill>
                <a:latin typeface="Calibri"/>
              </a:defRPr>
            </a:pPr>
            <a:r>
              <a:t>2026</a:t>
            </a:r>
          </a:p>
        </p:txBody>
      </p:sp>
      <p:sp>
        <p:nvSpPr>
          <p:cNvPr id="38" name="TextBox 37"/>
          <p:cNvSpPr txBox="1"/>
          <p:nvPr/>
        </p:nvSpPr>
        <p:spPr>
          <a:xfrm>
            <a:off x="6446520" y="5212080"/>
            <a:ext cx="5029200" cy="228600"/>
          </a:xfrm>
          <a:prstGeom prst="rect">
            <a:avLst/>
          </a:prstGeom>
          <a:noFill/>
        </p:spPr>
        <p:txBody>
          <a:bodyPr wrap="square">
            <a:spAutoFit/>
          </a:bodyPr>
          <a:lstStyle/>
          <a:p>
            <a:pPr algn="l">
              <a:defRPr sz="1000" b="0">
                <a:solidFill>
                  <a:srgbClr val="F0F2F8"/>
                </a:solidFill>
                <a:latin typeface="Calibri"/>
              </a:defRPr>
            </a:pPr>
            <a:r>
              <a:t>Mobile: 126,942 RON (2.50 RON/user)</a:t>
            </a:r>
          </a:p>
        </p:txBody>
      </p:sp>
      <p:sp>
        <p:nvSpPr>
          <p:cNvPr id="39" name="TextBox 38"/>
          <p:cNvSpPr txBox="1"/>
          <p:nvPr/>
        </p:nvSpPr>
        <p:spPr>
          <a:xfrm>
            <a:off x="6446520" y="5486400"/>
            <a:ext cx="5029200" cy="228600"/>
          </a:xfrm>
          <a:prstGeom prst="rect">
            <a:avLst/>
          </a:prstGeom>
          <a:noFill/>
        </p:spPr>
        <p:txBody>
          <a:bodyPr wrap="square">
            <a:spAutoFit/>
          </a:bodyPr>
          <a:lstStyle/>
          <a:p>
            <a:pPr algn="l">
              <a:defRPr sz="1000" b="0">
                <a:solidFill>
                  <a:srgbClr val="F0F2F8"/>
                </a:solidFill>
                <a:latin typeface="Calibri"/>
              </a:defRPr>
            </a:pPr>
            <a:r>
              <a:t>Desktop: 124,322 RON (19.1 RON/user)</a:t>
            </a:r>
          </a:p>
        </p:txBody>
      </p:sp>
      <p:sp>
        <p:nvSpPr>
          <p:cNvPr id="40" name="TextBox 39"/>
          <p:cNvSpPr txBox="1"/>
          <p:nvPr/>
        </p:nvSpPr>
        <p:spPr>
          <a:xfrm>
            <a:off x="6446520" y="5760720"/>
            <a:ext cx="5029200" cy="228600"/>
          </a:xfrm>
          <a:prstGeom prst="rect">
            <a:avLst/>
          </a:prstGeom>
          <a:noFill/>
        </p:spPr>
        <p:txBody>
          <a:bodyPr wrap="square">
            <a:spAutoFit/>
          </a:bodyPr>
          <a:lstStyle/>
          <a:p>
            <a:pPr algn="l">
              <a:defRPr sz="1000" b="1">
                <a:solidFill>
                  <a:srgbClr val="10B981"/>
                </a:solidFill>
                <a:latin typeface="Calibri"/>
              </a:defRPr>
            </a:pPr>
            <a:r>
              <a:t>Desktop revenue/user 3x mai mare vs 2025!</a:t>
            </a:r>
          </a:p>
        </p:txBody>
      </p:sp>
      <p:sp>
        <p:nvSpPr>
          <p:cNvPr id="41" name="Rounded Rectangle 40"/>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080" y="6473952"/>
            <a:ext cx="10972800" cy="274320"/>
          </a:xfrm>
          <a:prstGeom prst="rect">
            <a:avLst/>
          </a:prstGeom>
          <a:noFill/>
        </p:spPr>
        <p:txBody>
          <a:bodyPr wrap="square">
            <a:spAutoFit/>
          </a:bodyPr>
          <a:lstStyle/>
          <a:p>
            <a:pPr algn="l">
              <a:defRPr sz="1000" b="0">
                <a:solidFill>
                  <a:srgbClr val="F59E0B"/>
                </a:solidFill>
                <a:latin typeface="Calibri"/>
              </a:defRPr>
            </a:pPr>
            <a:r>
              <a:t>💡 88% vin de pe mobil dar desktop convertește mult mai bine (19.1 vs 2.5 RON/user). Optimizarea desktop = quick win.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COMPORTAMENT &amp; ENGAGEMENT</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Bounce Rate &amp; Durata Sesiunii (2025 vs 2026)</a:t>
            </a:r>
          </a:p>
        </p:txBody>
      </p:sp>
      <p:sp>
        <p:nvSpPr>
          <p:cNvPr id="4" name="Rounded Rectangle 3"/>
          <p:cNvSpPr/>
          <p:nvPr/>
        </p:nvSpPr>
        <p:spPr>
          <a:xfrm>
            <a:off x="457200" y="1463040"/>
            <a:ext cx="5394960" cy="36576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28800"/>
            <a:ext cx="4846320" cy="457200"/>
          </a:xfrm>
          <a:prstGeom prst="rect">
            <a:avLst/>
          </a:prstGeom>
          <a:noFill/>
        </p:spPr>
        <p:txBody>
          <a:bodyPr wrap="square">
            <a:spAutoFit/>
          </a:bodyPr>
          <a:lstStyle/>
          <a:p>
            <a:pPr algn="ctr">
              <a:defRPr sz="1800" b="1">
                <a:solidFill>
                  <a:srgbClr val="8B95B0"/>
                </a:solidFill>
                <a:latin typeface="Calibri"/>
              </a:defRPr>
            </a:pPr>
            <a:r>
              <a:t>BOUNCE RATE</a:t>
            </a:r>
          </a:p>
        </p:txBody>
      </p:sp>
      <p:sp>
        <p:nvSpPr>
          <p:cNvPr id="6" name="TextBox 5"/>
          <p:cNvSpPr txBox="1"/>
          <p:nvPr/>
        </p:nvSpPr>
        <p:spPr>
          <a:xfrm>
            <a:off x="1371600" y="2926080"/>
            <a:ext cx="1371600" cy="365760"/>
          </a:xfrm>
          <a:prstGeom prst="rect">
            <a:avLst/>
          </a:prstGeom>
          <a:noFill/>
        </p:spPr>
        <p:txBody>
          <a:bodyPr wrap="square">
            <a:spAutoFit/>
          </a:bodyPr>
          <a:lstStyle/>
          <a:p>
            <a:pPr algn="ctr">
              <a:defRPr sz="1400" b="1">
                <a:solidFill>
                  <a:srgbClr val="F59E0B"/>
                </a:solidFill>
                <a:latin typeface="Calibri"/>
              </a:defRPr>
            </a:pPr>
            <a:r>
              <a:t>2025:</a:t>
            </a:r>
          </a:p>
        </p:txBody>
      </p:sp>
      <p:sp>
        <p:nvSpPr>
          <p:cNvPr id="7" name="TextBox 6"/>
          <p:cNvSpPr txBox="1"/>
          <p:nvPr/>
        </p:nvSpPr>
        <p:spPr>
          <a:xfrm>
            <a:off x="1371600" y="3291840"/>
            <a:ext cx="1371600" cy="731520"/>
          </a:xfrm>
          <a:prstGeom prst="rect">
            <a:avLst/>
          </a:prstGeom>
          <a:noFill/>
        </p:spPr>
        <p:txBody>
          <a:bodyPr wrap="square">
            <a:spAutoFit/>
          </a:bodyPr>
          <a:lstStyle/>
          <a:p>
            <a:pPr algn="ctr">
              <a:defRPr sz="4200" b="1">
                <a:solidFill>
                  <a:srgbClr val="EF4444"/>
                </a:solidFill>
                <a:latin typeface="Calibri"/>
              </a:defRPr>
            </a:pPr>
            <a:r>
              <a:t>31%</a:t>
            </a:r>
          </a:p>
        </p:txBody>
      </p:sp>
      <p:sp>
        <p:nvSpPr>
          <p:cNvPr id="8" name="TextBox 7"/>
          <p:cNvSpPr txBox="1"/>
          <p:nvPr/>
        </p:nvSpPr>
        <p:spPr>
          <a:xfrm>
            <a:off x="3657600" y="2926080"/>
            <a:ext cx="1371600" cy="365760"/>
          </a:xfrm>
          <a:prstGeom prst="rect">
            <a:avLst/>
          </a:prstGeom>
          <a:noFill/>
        </p:spPr>
        <p:txBody>
          <a:bodyPr wrap="square">
            <a:spAutoFit/>
          </a:bodyPr>
          <a:lstStyle/>
          <a:p>
            <a:pPr algn="ctr">
              <a:defRPr sz="1400" b="1">
                <a:solidFill>
                  <a:srgbClr val="6366F1"/>
                </a:solidFill>
                <a:latin typeface="Calibri"/>
              </a:defRPr>
            </a:pPr>
            <a:r>
              <a:t>2026:</a:t>
            </a:r>
          </a:p>
        </p:txBody>
      </p:sp>
      <p:sp>
        <p:nvSpPr>
          <p:cNvPr id="9" name="TextBox 8"/>
          <p:cNvSpPr txBox="1"/>
          <p:nvPr/>
        </p:nvSpPr>
        <p:spPr>
          <a:xfrm>
            <a:off x="3657600" y="3291840"/>
            <a:ext cx="1371600" cy="731520"/>
          </a:xfrm>
          <a:prstGeom prst="rect">
            <a:avLst/>
          </a:prstGeom>
          <a:noFill/>
        </p:spPr>
        <p:txBody>
          <a:bodyPr wrap="square">
            <a:spAutoFit/>
          </a:bodyPr>
          <a:lstStyle/>
          <a:p>
            <a:pPr algn="ctr">
              <a:defRPr sz="4200" b="1">
                <a:solidFill>
                  <a:srgbClr val="10B981"/>
                </a:solidFill>
                <a:latin typeface="Calibri"/>
              </a:defRPr>
            </a:pPr>
            <a:r>
              <a:t>2%</a:t>
            </a:r>
          </a:p>
        </p:txBody>
      </p:sp>
      <p:sp>
        <p:nvSpPr>
          <p:cNvPr id="10" name="TextBox 9"/>
          <p:cNvSpPr txBox="1"/>
          <p:nvPr/>
        </p:nvSpPr>
        <p:spPr>
          <a:xfrm>
            <a:off x="731520" y="4389120"/>
            <a:ext cx="4846320" cy="457200"/>
          </a:xfrm>
          <a:prstGeom prst="rect">
            <a:avLst/>
          </a:prstGeom>
          <a:noFill/>
        </p:spPr>
        <p:txBody>
          <a:bodyPr wrap="square">
            <a:spAutoFit/>
          </a:bodyPr>
          <a:lstStyle/>
          <a:p>
            <a:pPr algn="ctr">
              <a:defRPr sz="1200" b="0">
                <a:solidFill>
                  <a:srgbClr val="F0F2F8"/>
                </a:solidFill>
                <a:latin typeface="Calibri"/>
              </a:defRPr>
            </a:pPr>
            <a:r>
              <a:t>Scădere de -93%. Aproape toți vizitatorii interacționează cu site-ul în 2026.</a:t>
            </a:r>
          </a:p>
        </p:txBody>
      </p:sp>
      <p:sp>
        <p:nvSpPr>
          <p:cNvPr id="11" name="Rounded Rectangle 10"/>
          <p:cNvSpPr/>
          <p:nvPr/>
        </p:nvSpPr>
        <p:spPr>
          <a:xfrm>
            <a:off x="6217920" y="1463040"/>
            <a:ext cx="5486400" cy="36576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828800"/>
            <a:ext cx="4937760" cy="457200"/>
          </a:xfrm>
          <a:prstGeom prst="rect">
            <a:avLst/>
          </a:prstGeom>
          <a:noFill/>
        </p:spPr>
        <p:txBody>
          <a:bodyPr wrap="square">
            <a:spAutoFit/>
          </a:bodyPr>
          <a:lstStyle/>
          <a:p>
            <a:pPr algn="ctr">
              <a:defRPr sz="1800" b="1">
                <a:solidFill>
                  <a:srgbClr val="8B95B0"/>
                </a:solidFill>
                <a:latin typeface="Calibri"/>
              </a:defRPr>
            </a:pPr>
            <a:r>
              <a:t>AVERAGE SESSION DURATION</a:t>
            </a:r>
          </a:p>
        </p:txBody>
      </p:sp>
      <p:sp>
        <p:nvSpPr>
          <p:cNvPr id="13" name="TextBox 12"/>
          <p:cNvSpPr txBox="1"/>
          <p:nvPr/>
        </p:nvSpPr>
        <p:spPr>
          <a:xfrm>
            <a:off x="6949440" y="2926080"/>
            <a:ext cx="1371600" cy="365760"/>
          </a:xfrm>
          <a:prstGeom prst="rect">
            <a:avLst/>
          </a:prstGeom>
          <a:noFill/>
        </p:spPr>
        <p:txBody>
          <a:bodyPr wrap="square">
            <a:spAutoFit/>
          </a:bodyPr>
          <a:lstStyle/>
          <a:p>
            <a:pPr algn="ctr">
              <a:defRPr sz="1400" b="1">
                <a:solidFill>
                  <a:srgbClr val="F59E0B"/>
                </a:solidFill>
                <a:latin typeface="Calibri"/>
              </a:defRPr>
            </a:pPr>
            <a:r>
              <a:t>2025:</a:t>
            </a:r>
          </a:p>
        </p:txBody>
      </p:sp>
      <p:sp>
        <p:nvSpPr>
          <p:cNvPr id="14" name="TextBox 13"/>
          <p:cNvSpPr txBox="1"/>
          <p:nvPr/>
        </p:nvSpPr>
        <p:spPr>
          <a:xfrm>
            <a:off x="6949440" y="3291840"/>
            <a:ext cx="1371600" cy="731520"/>
          </a:xfrm>
          <a:prstGeom prst="rect">
            <a:avLst/>
          </a:prstGeom>
          <a:noFill/>
        </p:spPr>
        <p:txBody>
          <a:bodyPr wrap="square">
            <a:spAutoFit/>
          </a:bodyPr>
          <a:lstStyle/>
          <a:p>
            <a:pPr algn="ctr">
              <a:defRPr sz="4200" b="1">
                <a:solidFill>
                  <a:srgbClr val="F59E0B"/>
                </a:solidFill>
                <a:latin typeface="Calibri"/>
              </a:defRPr>
            </a:pPr>
            <a:r>
              <a:t>2:59</a:t>
            </a:r>
          </a:p>
        </p:txBody>
      </p:sp>
      <p:sp>
        <p:nvSpPr>
          <p:cNvPr id="15" name="TextBox 14"/>
          <p:cNvSpPr txBox="1"/>
          <p:nvPr/>
        </p:nvSpPr>
        <p:spPr>
          <a:xfrm>
            <a:off x="9418320" y="2926080"/>
            <a:ext cx="1371600" cy="365760"/>
          </a:xfrm>
          <a:prstGeom prst="rect">
            <a:avLst/>
          </a:prstGeom>
          <a:noFill/>
        </p:spPr>
        <p:txBody>
          <a:bodyPr wrap="square">
            <a:spAutoFit/>
          </a:bodyPr>
          <a:lstStyle/>
          <a:p>
            <a:pPr algn="ctr">
              <a:defRPr sz="1400" b="1">
                <a:solidFill>
                  <a:srgbClr val="6366F1"/>
                </a:solidFill>
                <a:latin typeface="Calibri"/>
              </a:defRPr>
            </a:pPr>
            <a:r>
              <a:t>2026:</a:t>
            </a:r>
          </a:p>
        </p:txBody>
      </p:sp>
      <p:sp>
        <p:nvSpPr>
          <p:cNvPr id="16" name="TextBox 15"/>
          <p:cNvSpPr txBox="1"/>
          <p:nvPr/>
        </p:nvSpPr>
        <p:spPr>
          <a:xfrm>
            <a:off x="9418320" y="3291840"/>
            <a:ext cx="1371600" cy="731520"/>
          </a:xfrm>
          <a:prstGeom prst="rect">
            <a:avLst/>
          </a:prstGeom>
          <a:noFill/>
        </p:spPr>
        <p:txBody>
          <a:bodyPr wrap="square">
            <a:spAutoFit/>
          </a:bodyPr>
          <a:lstStyle/>
          <a:p>
            <a:pPr algn="ctr">
              <a:defRPr sz="4200" b="1">
                <a:solidFill>
                  <a:srgbClr val="10B981"/>
                </a:solidFill>
                <a:latin typeface="Calibri"/>
              </a:defRPr>
            </a:pPr>
            <a:r>
              <a:t>4:37</a:t>
            </a:r>
          </a:p>
        </p:txBody>
      </p:sp>
      <p:sp>
        <p:nvSpPr>
          <p:cNvPr id="17" name="TextBox 16"/>
          <p:cNvSpPr txBox="1"/>
          <p:nvPr/>
        </p:nvSpPr>
        <p:spPr>
          <a:xfrm>
            <a:off x="6492240" y="4389120"/>
            <a:ext cx="4937760" cy="457200"/>
          </a:xfrm>
          <a:prstGeom prst="rect">
            <a:avLst/>
          </a:prstGeom>
          <a:noFill/>
        </p:spPr>
        <p:txBody>
          <a:bodyPr wrap="square">
            <a:spAutoFit/>
          </a:bodyPr>
          <a:lstStyle/>
          <a:p>
            <a:pPr algn="ctr">
              <a:defRPr sz="1200" b="0">
                <a:solidFill>
                  <a:srgbClr val="F0F2F8"/>
                </a:solidFill>
                <a:latin typeface="Calibri"/>
              </a:defRPr>
            </a:pPr>
            <a:r>
              <a:t>Creștere de +54%. Oamenii petrec mult mai mult timp citind blogul și explorând produsele.</a:t>
            </a:r>
          </a:p>
        </p:txBody>
      </p:sp>
      <p:sp>
        <p:nvSpPr>
          <p:cNvPr id="18" name="Rounded Rectangle 17"/>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10972800" cy="274320"/>
          </a:xfrm>
          <a:prstGeom prst="rect">
            <a:avLst/>
          </a:prstGeom>
          <a:noFill/>
        </p:spPr>
        <p:txBody>
          <a:bodyPr wrap="square">
            <a:spAutoFit/>
          </a:bodyPr>
          <a:lstStyle/>
          <a:p>
            <a:pPr algn="l">
              <a:defRPr sz="1000" b="0">
                <a:solidFill>
                  <a:srgbClr val="F59E0B"/>
                </a:solidFill>
                <a:latin typeface="Calibri"/>
              </a:defRPr>
            </a:pPr>
            <a:r>
              <a:t>💡 Calitatea traficului s-a îmbunătățit masiv în 2026. Utilizatorii sunt mai calificați și consumă mai mult conținut.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GEOGRAFIE</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Orașe și țări — de unde vine traficul?</a:t>
            </a:r>
          </a:p>
        </p:txBody>
      </p:sp>
      <p:sp>
        <p:nvSpPr>
          <p:cNvPr id="4" name="Rounded Rectangle 3"/>
          <p:cNvSpPr/>
          <p:nvPr/>
        </p:nvSpPr>
        <p:spPr>
          <a:xfrm>
            <a:off x="457200" y="1371600"/>
            <a:ext cx="5486400" cy="50292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0"/>
            <a:ext cx="5120640" cy="274320"/>
          </a:xfrm>
          <a:prstGeom prst="rect">
            <a:avLst/>
          </a:prstGeom>
          <a:noFill/>
        </p:spPr>
        <p:txBody>
          <a:bodyPr wrap="square">
            <a:spAutoFit/>
          </a:bodyPr>
          <a:lstStyle/>
          <a:p>
            <a:pPr algn="l">
              <a:defRPr sz="1000" b="1">
                <a:solidFill>
                  <a:srgbClr val="8B95B0"/>
                </a:solidFill>
                <a:latin typeface="Calibri"/>
              </a:defRPr>
            </a:pPr>
            <a:r>
              <a:t>TOP ORAȘE GA4 (sesiuni 2025 vs 2026)</a:t>
            </a:r>
          </a:p>
        </p:txBody>
      </p:sp>
      <p:sp>
        <p:nvSpPr>
          <p:cNvPr id="6" name="TextBox 5"/>
          <p:cNvSpPr txBox="1"/>
          <p:nvPr/>
        </p:nvSpPr>
        <p:spPr>
          <a:xfrm>
            <a:off x="640080" y="1792224"/>
            <a:ext cx="1188720" cy="274320"/>
          </a:xfrm>
          <a:prstGeom prst="rect">
            <a:avLst/>
          </a:prstGeom>
          <a:noFill/>
        </p:spPr>
        <p:txBody>
          <a:bodyPr wrap="square">
            <a:spAutoFit/>
          </a:bodyPr>
          <a:lstStyle/>
          <a:p>
            <a:pPr algn="l">
              <a:defRPr sz="900" b="1">
                <a:solidFill>
                  <a:srgbClr val="F0F2F8"/>
                </a:solidFill>
                <a:latin typeface="Calibri"/>
              </a:defRPr>
            </a:pPr>
            <a:r>
              <a:t>București</a:t>
            </a:r>
          </a:p>
        </p:txBody>
      </p:sp>
      <p:sp>
        <p:nvSpPr>
          <p:cNvPr id="7" name="Rounded Rectangle 6"/>
          <p:cNvSpPr/>
          <p:nvPr/>
        </p:nvSpPr>
        <p:spPr>
          <a:xfrm>
            <a:off x="1920240" y="1801368"/>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920240" y="1801368"/>
            <a:ext cx="3840480"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920240" y="1965960"/>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920240" y="1965960"/>
            <a:ext cx="706868"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167127"/>
            <a:ext cx="1188720" cy="274320"/>
          </a:xfrm>
          <a:prstGeom prst="rect">
            <a:avLst/>
          </a:prstGeom>
          <a:noFill/>
        </p:spPr>
        <p:txBody>
          <a:bodyPr wrap="square">
            <a:spAutoFit/>
          </a:bodyPr>
          <a:lstStyle/>
          <a:p>
            <a:pPr algn="l">
              <a:defRPr sz="900" b="1">
                <a:solidFill>
                  <a:srgbClr val="F0F2F8"/>
                </a:solidFill>
                <a:latin typeface="Calibri"/>
              </a:defRPr>
            </a:pPr>
            <a:r>
              <a:t>Timișoara</a:t>
            </a:r>
          </a:p>
        </p:txBody>
      </p:sp>
      <p:sp>
        <p:nvSpPr>
          <p:cNvPr id="12" name="Rounded Rectangle 11"/>
          <p:cNvSpPr/>
          <p:nvPr/>
        </p:nvSpPr>
        <p:spPr>
          <a:xfrm>
            <a:off x="1920240" y="2176272"/>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920240" y="2176272"/>
            <a:ext cx="992742"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920240" y="2340864"/>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920240" y="2340864"/>
            <a:ext cx="225491"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542032"/>
            <a:ext cx="1188720" cy="274320"/>
          </a:xfrm>
          <a:prstGeom prst="rect">
            <a:avLst/>
          </a:prstGeom>
          <a:noFill/>
        </p:spPr>
        <p:txBody>
          <a:bodyPr wrap="square">
            <a:spAutoFit/>
          </a:bodyPr>
          <a:lstStyle/>
          <a:p>
            <a:pPr algn="l">
              <a:defRPr sz="900" b="1">
                <a:solidFill>
                  <a:srgbClr val="F0F2F8"/>
                </a:solidFill>
                <a:latin typeface="Calibri"/>
              </a:defRPr>
            </a:pPr>
            <a:r>
              <a:t>Cluj</a:t>
            </a:r>
          </a:p>
        </p:txBody>
      </p:sp>
      <p:sp>
        <p:nvSpPr>
          <p:cNvPr id="17" name="Rounded Rectangle 16"/>
          <p:cNvSpPr/>
          <p:nvPr/>
        </p:nvSpPr>
        <p:spPr>
          <a:xfrm>
            <a:off x="1920240" y="2551176"/>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920240" y="2551176"/>
            <a:ext cx="992626"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920240" y="2715768"/>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920240" y="2715768"/>
            <a:ext cx="178714"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2916935"/>
            <a:ext cx="1188720" cy="274320"/>
          </a:xfrm>
          <a:prstGeom prst="rect">
            <a:avLst/>
          </a:prstGeom>
          <a:noFill/>
        </p:spPr>
        <p:txBody>
          <a:bodyPr wrap="square">
            <a:spAutoFit/>
          </a:bodyPr>
          <a:lstStyle/>
          <a:p>
            <a:pPr algn="l">
              <a:defRPr sz="900" b="1">
                <a:solidFill>
                  <a:srgbClr val="F0F2F8"/>
                </a:solidFill>
                <a:latin typeface="Calibri"/>
              </a:defRPr>
            </a:pPr>
            <a:r>
              <a:t>Ploiești</a:t>
            </a:r>
          </a:p>
        </p:txBody>
      </p:sp>
      <p:sp>
        <p:nvSpPr>
          <p:cNvPr id="22" name="Rounded Rectangle 21"/>
          <p:cNvSpPr/>
          <p:nvPr/>
        </p:nvSpPr>
        <p:spPr>
          <a:xfrm>
            <a:off x="1920240" y="2926079"/>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920240" y="2926079"/>
            <a:ext cx="562484"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920240" y="3090672"/>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20240" y="3090672"/>
            <a:ext cx="128463"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291839"/>
            <a:ext cx="1188720" cy="274320"/>
          </a:xfrm>
          <a:prstGeom prst="rect">
            <a:avLst/>
          </a:prstGeom>
          <a:noFill/>
        </p:spPr>
        <p:txBody>
          <a:bodyPr wrap="square">
            <a:spAutoFit/>
          </a:bodyPr>
          <a:lstStyle/>
          <a:p>
            <a:pPr algn="l">
              <a:defRPr sz="900" b="1">
                <a:solidFill>
                  <a:srgbClr val="F0F2F8"/>
                </a:solidFill>
                <a:latin typeface="Calibri"/>
              </a:defRPr>
            </a:pPr>
            <a:r>
              <a:t>Iași</a:t>
            </a:r>
          </a:p>
        </p:txBody>
      </p:sp>
      <p:sp>
        <p:nvSpPr>
          <p:cNvPr id="27" name="Rounded Rectangle 26"/>
          <p:cNvSpPr/>
          <p:nvPr/>
        </p:nvSpPr>
        <p:spPr>
          <a:xfrm>
            <a:off x="1920240" y="3300984"/>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920240" y="3300984"/>
            <a:ext cx="540311"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20240" y="3465576"/>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920240" y="3465576"/>
            <a:ext cx="114743"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3666744"/>
            <a:ext cx="1188720" cy="274320"/>
          </a:xfrm>
          <a:prstGeom prst="rect">
            <a:avLst/>
          </a:prstGeom>
          <a:noFill/>
        </p:spPr>
        <p:txBody>
          <a:bodyPr wrap="square">
            <a:spAutoFit/>
          </a:bodyPr>
          <a:lstStyle/>
          <a:p>
            <a:pPr algn="l">
              <a:defRPr sz="900" b="1">
                <a:solidFill>
                  <a:srgbClr val="F0F2F8"/>
                </a:solidFill>
                <a:latin typeface="Calibri"/>
              </a:defRPr>
            </a:pPr>
            <a:r>
              <a:t>Brașov</a:t>
            </a:r>
          </a:p>
        </p:txBody>
      </p:sp>
      <p:sp>
        <p:nvSpPr>
          <p:cNvPr id="32" name="Rounded Rectangle 31"/>
          <p:cNvSpPr/>
          <p:nvPr/>
        </p:nvSpPr>
        <p:spPr>
          <a:xfrm>
            <a:off x="1920240" y="3675887"/>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920240" y="3675887"/>
            <a:ext cx="480334"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920240" y="3840480"/>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920240" y="3840480"/>
            <a:ext cx="106406"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041648"/>
            <a:ext cx="1188720" cy="274320"/>
          </a:xfrm>
          <a:prstGeom prst="rect">
            <a:avLst/>
          </a:prstGeom>
          <a:noFill/>
        </p:spPr>
        <p:txBody>
          <a:bodyPr wrap="square">
            <a:spAutoFit/>
          </a:bodyPr>
          <a:lstStyle/>
          <a:p>
            <a:pPr algn="l">
              <a:defRPr sz="900" b="1">
                <a:solidFill>
                  <a:srgbClr val="F0F2F8"/>
                </a:solidFill>
                <a:latin typeface="Calibri"/>
              </a:defRPr>
            </a:pPr>
            <a:r>
              <a:t>Voluntari</a:t>
            </a:r>
          </a:p>
        </p:txBody>
      </p:sp>
      <p:sp>
        <p:nvSpPr>
          <p:cNvPr id="37" name="Rounded Rectangle 36"/>
          <p:cNvSpPr/>
          <p:nvPr/>
        </p:nvSpPr>
        <p:spPr>
          <a:xfrm>
            <a:off x="1920240" y="4050791"/>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920240" y="4050791"/>
            <a:ext cx="635024"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920240" y="4215384"/>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920240" y="4215384"/>
            <a:ext cx="95985"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4416551"/>
            <a:ext cx="1188720" cy="274320"/>
          </a:xfrm>
          <a:prstGeom prst="rect">
            <a:avLst/>
          </a:prstGeom>
          <a:noFill/>
        </p:spPr>
        <p:txBody>
          <a:bodyPr wrap="square">
            <a:spAutoFit/>
          </a:bodyPr>
          <a:lstStyle/>
          <a:p>
            <a:pPr algn="l">
              <a:defRPr sz="900" b="1">
                <a:solidFill>
                  <a:srgbClr val="F0F2F8"/>
                </a:solidFill>
                <a:latin typeface="Calibri"/>
              </a:defRPr>
            </a:pPr>
            <a:r>
              <a:t>Constanța</a:t>
            </a:r>
          </a:p>
        </p:txBody>
      </p:sp>
      <p:sp>
        <p:nvSpPr>
          <p:cNvPr id="42" name="Rounded Rectangle 41"/>
          <p:cNvSpPr/>
          <p:nvPr/>
        </p:nvSpPr>
        <p:spPr>
          <a:xfrm>
            <a:off x="1920240" y="4425695"/>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920240" y="4425695"/>
            <a:ext cx="430431"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920240" y="4590288"/>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920240" y="4590288"/>
            <a:ext cx="80065"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4791455"/>
            <a:ext cx="1188720" cy="274320"/>
          </a:xfrm>
          <a:prstGeom prst="rect">
            <a:avLst/>
          </a:prstGeom>
          <a:noFill/>
        </p:spPr>
        <p:txBody>
          <a:bodyPr wrap="square">
            <a:spAutoFit/>
          </a:bodyPr>
          <a:lstStyle/>
          <a:p>
            <a:pPr algn="l">
              <a:defRPr sz="900" b="1">
                <a:solidFill>
                  <a:srgbClr val="F0F2F8"/>
                </a:solidFill>
                <a:latin typeface="Calibri"/>
              </a:defRPr>
            </a:pPr>
            <a:r>
              <a:t>Oradea</a:t>
            </a:r>
          </a:p>
        </p:txBody>
      </p:sp>
      <p:sp>
        <p:nvSpPr>
          <p:cNvPr id="47" name="Rounded Rectangle 46"/>
          <p:cNvSpPr/>
          <p:nvPr/>
        </p:nvSpPr>
        <p:spPr>
          <a:xfrm>
            <a:off x="1920240" y="4800599"/>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1920240" y="4800599"/>
            <a:ext cx="316441"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1920240" y="4965192"/>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1920240" y="4965192"/>
            <a:ext cx="75086"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080" y="5166359"/>
            <a:ext cx="1188720" cy="274320"/>
          </a:xfrm>
          <a:prstGeom prst="rect">
            <a:avLst/>
          </a:prstGeom>
          <a:noFill/>
        </p:spPr>
        <p:txBody>
          <a:bodyPr wrap="square">
            <a:spAutoFit/>
          </a:bodyPr>
          <a:lstStyle/>
          <a:p>
            <a:pPr algn="l">
              <a:defRPr sz="900" b="1">
                <a:solidFill>
                  <a:srgbClr val="F0F2F8"/>
                </a:solidFill>
                <a:latin typeface="Calibri"/>
              </a:defRPr>
            </a:pPr>
            <a:r>
              <a:t>Craiova</a:t>
            </a:r>
          </a:p>
        </p:txBody>
      </p:sp>
      <p:sp>
        <p:nvSpPr>
          <p:cNvPr id="52" name="Rounded Rectangle 51"/>
          <p:cNvSpPr/>
          <p:nvPr/>
        </p:nvSpPr>
        <p:spPr>
          <a:xfrm>
            <a:off x="1920240" y="5175503"/>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1920240" y="5175503"/>
            <a:ext cx="250038"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920240" y="5340096"/>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1920240" y="5340096"/>
            <a:ext cx="53145"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5541264"/>
            <a:ext cx="1188720" cy="274320"/>
          </a:xfrm>
          <a:prstGeom prst="rect">
            <a:avLst/>
          </a:prstGeom>
          <a:noFill/>
        </p:spPr>
        <p:txBody>
          <a:bodyPr wrap="square">
            <a:spAutoFit/>
          </a:bodyPr>
          <a:lstStyle/>
          <a:p>
            <a:pPr algn="l">
              <a:defRPr sz="900" b="1">
                <a:solidFill>
                  <a:srgbClr val="F0F2F8"/>
                </a:solidFill>
                <a:latin typeface="Calibri"/>
              </a:defRPr>
            </a:pPr>
            <a:r>
              <a:t>Sibiu</a:t>
            </a:r>
          </a:p>
        </p:txBody>
      </p:sp>
      <p:sp>
        <p:nvSpPr>
          <p:cNvPr id="57" name="Rounded Rectangle 56"/>
          <p:cNvSpPr/>
          <p:nvPr/>
        </p:nvSpPr>
        <p:spPr>
          <a:xfrm>
            <a:off x="1920240" y="5550407"/>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1920240" y="5550407"/>
            <a:ext cx="185314"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1920240" y="5715000"/>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1920240" y="5715000"/>
            <a:ext cx="37456"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40080" y="5916168"/>
            <a:ext cx="1188720" cy="274320"/>
          </a:xfrm>
          <a:prstGeom prst="rect">
            <a:avLst/>
          </a:prstGeom>
          <a:noFill/>
        </p:spPr>
        <p:txBody>
          <a:bodyPr wrap="square">
            <a:spAutoFit/>
          </a:bodyPr>
          <a:lstStyle/>
          <a:p>
            <a:pPr algn="l">
              <a:defRPr sz="900" b="1">
                <a:solidFill>
                  <a:srgbClr val="F0F2F8"/>
                </a:solidFill>
                <a:latin typeface="Calibri"/>
              </a:defRPr>
            </a:pPr>
            <a:r>
              <a:t>Baia Mare</a:t>
            </a:r>
          </a:p>
        </p:txBody>
      </p:sp>
      <p:sp>
        <p:nvSpPr>
          <p:cNvPr id="62" name="Rounded Rectangle 61"/>
          <p:cNvSpPr/>
          <p:nvPr/>
        </p:nvSpPr>
        <p:spPr>
          <a:xfrm>
            <a:off x="1920240" y="5925312"/>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920240" y="5925312"/>
            <a:ext cx="154283" cy="128016"/>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1920240" y="6089904"/>
            <a:ext cx="3840480" cy="128016"/>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1920240" y="6089904"/>
            <a:ext cx="32883" cy="128016"/>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6217920" y="1371600"/>
            <a:ext cx="5303520" cy="29260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400800" y="1463040"/>
            <a:ext cx="4937760" cy="274320"/>
          </a:xfrm>
          <a:prstGeom prst="rect">
            <a:avLst/>
          </a:prstGeom>
          <a:noFill/>
        </p:spPr>
        <p:txBody>
          <a:bodyPr wrap="square">
            <a:spAutoFit/>
          </a:bodyPr>
          <a:lstStyle/>
          <a:p>
            <a:pPr algn="l">
              <a:defRPr sz="1000" b="1">
                <a:solidFill>
                  <a:srgbClr val="8B95B0"/>
                </a:solidFill>
                <a:latin typeface="Calibri"/>
              </a:defRPr>
            </a:pPr>
            <a:r>
              <a:t>TOP ȚĂRI (useri 2026 YTD)</a:t>
            </a:r>
          </a:p>
        </p:txBody>
      </p:sp>
      <p:sp>
        <p:nvSpPr>
          <p:cNvPr id="68" name="TextBox 67"/>
          <p:cNvSpPr txBox="1"/>
          <p:nvPr/>
        </p:nvSpPr>
        <p:spPr>
          <a:xfrm>
            <a:off x="6400800" y="1828800"/>
            <a:ext cx="1645920" cy="274320"/>
          </a:xfrm>
          <a:prstGeom prst="rect">
            <a:avLst/>
          </a:prstGeom>
          <a:noFill/>
        </p:spPr>
        <p:txBody>
          <a:bodyPr wrap="square">
            <a:spAutoFit/>
          </a:bodyPr>
          <a:lstStyle/>
          <a:p>
            <a:pPr algn="l">
              <a:defRPr sz="900" b="1">
                <a:solidFill>
                  <a:srgbClr val="F0F2F8"/>
                </a:solidFill>
                <a:latin typeface="Calibri"/>
              </a:defRPr>
            </a:pPr>
            <a:r>
              <a:t>🇷🇴 România</a:t>
            </a:r>
          </a:p>
        </p:txBody>
      </p:sp>
      <p:sp>
        <p:nvSpPr>
          <p:cNvPr id="69" name="Rounded Rectangle 68"/>
          <p:cNvSpPr/>
          <p:nvPr/>
        </p:nvSpPr>
        <p:spPr>
          <a:xfrm>
            <a:off x="8229600" y="1856231"/>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8229600" y="1856231"/>
            <a:ext cx="3017520" cy="2286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0972800" y="1828800"/>
            <a:ext cx="457200" cy="274320"/>
          </a:xfrm>
          <a:prstGeom prst="rect">
            <a:avLst/>
          </a:prstGeom>
          <a:noFill/>
        </p:spPr>
        <p:txBody>
          <a:bodyPr wrap="square">
            <a:spAutoFit/>
          </a:bodyPr>
          <a:lstStyle/>
          <a:p>
            <a:pPr algn="r">
              <a:defRPr sz="900" b="1">
                <a:solidFill>
                  <a:srgbClr val="6366F1"/>
                </a:solidFill>
                <a:latin typeface="Calibri"/>
              </a:defRPr>
            </a:pPr>
            <a:r>
              <a:t>86%</a:t>
            </a:r>
          </a:p>
        </p:txBody>
      </p:sp>
      <p:sp>
        <p:nvSpPr>
          <p:cNvPr id="72" name="TextBox 71"/>
          <p:cNvSpPr txBox="1"/>
          <p:nvPr/>
        </p:nvSpPr>
        <p:spPr>
          <a:xfrm>
            <a:off x="6400800" y="2157984"/>
            <a:ext cx="1645920" cy="274320"/>
          </a:xfrm>
          <a:prstGeom prst="rect">
            <a:avLst/>
          </a:prstGeom>
          <a:noFill/>
        </p:spPr>
        <p:txBody>
          <a:bodyPr wrap="square">
            <a:spAutoFit/>
          </a:bodyPr>
          <a:lstStyle/>
          <a:p>
            <a:pPr algn="l">
              <a:defRPr sz="900" b="1">
                <a:solidFill>
                  <a:srgbClr val="F0F2F8"/>
                </a:solidFill>
                <a:latin typeface="Calibri"/>
              </a:defRPr>
            </a:pPr>
            <a:r>
              <a:t>🇺🇸 SUA</a:t>
            </a:r>
          </a:p>
        </p:txBody>
      </p:sp>
      <p:sp>
        <p:nvSpPr>
          <p:cNvPr id="73" name="Rounded Rectangle 72"/>
          <p:cNvSpPr/>
          <p:nvPr/>
        </p:nvSpPr>
        <p:spPr>
          <a:xfrm>
            <a:off x="8229600" y="2185415"/>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8229600" y="2185415"/>
            <a:ext cx="117414"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972800" y="2157984"/>
            <a:ext cx="457200" cy="274320"/>
          </a:xfrm>
          <a:prstGeom prst="rect">
            <a:avLst/>
          </a:prstGeom>
          <a:noFill/>
        </p:spPr>
        <p:txBody>
          <a:bodyPr wrap="square">
            <a:spAutoFit/>
          </a:bodyPr>
          <a:lstStyle/>
          <a:p>
            <a:pPr algn="r">
              <a:defRPr sz="900" b="1">
                <a:solidFill>
                  <a:srgbClr val="8B5CF6"/>
                </a:solidFill>
                <a:latin typeface="Calibri"/>
              </a:defRPr>
            </a:pPr>
            <a:r>
              <a:t>3%</a:t>
            </a:r>
          </a:p>
        </p:txBody>
      </p:sp>
      <p:sp>
        <p:nvSpPr>
          <p:cNvPr id="76" name="TextBox 75"/>
          <p:cNvSpPr txBox="1"/>
          <p:nvPr/>
        </p:nvSpPr>
        <p:spPr>
          <a:xfrm>
            <a:off x="6400800" y="2487168"/>
            <a:ext cx="1645920" cy="274320"/>
          </a:xfrm>
          <a:prstGeom prst="rect">
            <a:avLst/>
          </a:prstGeom>
          <a:noFill/>
        </p:spPr>
        <p:txBody>
          <a:bodyPr wrap="square">
            <a:spAutoFit/>
          </a:bodyPr>
          <a:lstStyle/>
          <a:p>
            <a:pPr algn="l">
              <a:defRPr sz="900" b="1">
                <a:solidFill>
                  <a:srgbClr val="F0F2F8"/>
                </a:solidFill>
                <a:latin typeface="Calibri"/>
              </a:defRPr>
            </a:pPr>
            <a:r>
              <a:t>🇨🇳 China</a:t>
            </a:r>
          </a:p>
        </p:txBody>
      </p:sp>
      <p:sp>
        <p:nvSpPr>
          <p:cNvPr id="77" name="Rounded Rectangle 76"/>
          <p:cNvSpPr/>
          <p:nvPr/>
        </p:nvSpPr>
        <p:spPr>
          <a:xfrm>
            <a:off x="8229600" y="2514599"/>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8229600" y="2514599"/>
            <a:ext cx="77907" cy="22860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972800" y="2487168"/>
            <a:ext cx="457200" cy="274320"/>
          </a:xfrm>
          <a:prstGeom prst="rect">
            <a:avLst/>
          </a:prstGeom>
          <a:noFill/>
        </p:spPr>
        <p:txBody>
          <a:bodyPr wrap="square">
            <a:spAutoFit/>
          </a:bodyPr>
          <a:lstStyle/>
          <a:p>
            <a:pPr algn="r">
              <a:defRPr sz="900" b="1">
                <a:solidFill>
                  <a:srgbClr val="EC4899"/>
                </a:solidFill>
                <a:latin typeface="Calibri"/>
              </a:defRPr>
            </a:pPr>
            <a:r>
              <a:t>2%</a:t>
            </a:r>
          </a:p>
        </p:txBody>
      </p:sp>
      <p:sp>
        <p:nvSpPr>
          <p:cNvPr id="80" name="TextBox 79"/>
          <p:cNvSpPr txBox="1"/>
          <p:nvPr/>
        </p:nvSpPr>
        <p:spPr>
          <a:xfrm>
            <a:off x="6400800" y="2816352"/>
            <a:ext cx="1645920" cy="274320"/>
          </a:xfrm>
          <a:prstGeom prst="rect">
            <a:avLst/>
          </a:prstGeom>
          <a:noFill/>
        </p:spPr>
        <p:txBody>
          <a:bodyPr wrap="square">
            <a:spAutoFit/>
          </a:bodyPr>
          <a:lstStyle/>
          <a:p>
            <a:pPr algn="l">
              <a:defRPr sz="900" b="1">
                <a:solidFill>
                  <a:srgbClr val="F0F2F8"/>
                </a:solidFill>
                <a:latin typeface="Calibri"/>
              </a:defRPr>
            </a:pPr>
            <a:r>
              <a:t>🇲🇩 Moldova</a:t>
            </a:r>
          </a:p>
        </p:txBody>
      </p:sp>
      <p:sp>
        <p:nvSpPr>
          <p:cNvPr id="81" name="Rounded Rectangle 80"/>
          <p:cNvSpPr/>
          <p:nvPr/>
        </p:nvSpPr>
        <p:spPr>
          <a:xfrm>
            <a:off x="8229600" y="2843784"/>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p:cNvSpPr/>
          <p:nvPr/>
        </p:nvSpPr>
        <p:spPr>
          <a:xfrm>
            <a:off x="8229600" y="2843784"/>
            <a:ext cx="69306"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0972800" y="2816352"/>
            <a:ext cx="457200" cy="274320"/>
          </a:xfrm>
          <a:prstGeom prst="rect">
            <a:avLst/>
          </a:prstGeom>
          <a:noFill/>
        </p:spPr>
        <p:txBody>
          <a:bodyPr wrap="square">
            <a:spAutoFit/>
          </a:bodyPr>
          <a:lstStyle/>
          <a:p>
            <a:pPr algn="r">
              <a:defRPr sz="900" b="1">
                <a:solidFill>
                  <a:srgbClr val="14B8A6"/>
                </a:solidFill>
                <a:latin typeface="Calibri"/>
              </a:defRPr>
            </a:pPr>
            <a:r>
              <a:t>2%</a:t>
            </a:r>
          </a:p>
        </p:txBody>
      </p:sp>
      <p:sp>
        <p:nvSpPr>
          <p:cNvPr id="84" name="TextBox 83"/>
          <p:cNvSpPr txBox="1"/>
          <p:nvPr/>
        </p:nvSpPr>
        <p:spPr>
          <a:xfrm>
            <a:off x="6400800" y="3145536"/>
            <a:ext cx="1645920" cy="274320"/>
          </a:xfrm>
          <a:prstGeom prst="rect">
            <a:avLst/>
          </a:prstGeom>
          <a:noFill/>
        </p:spPr>
        <p:txBody>
          <a:bodyPr wrap="square">
            <a:spAutoFit/>
          </a:bodyPr>
          <a:lstStyle/>
          <a:p>
            <a:pPr algn="l">
              <a:defRPr sz="900" b="1">
                <a:solidFill>
                  <a:srgbClr val="F0F2F8"/>
                </a:solidFill>
                <a:latin typeface="Calibri"/>
              </a:defRPr>
            </a:pPr>
            <a:r>
              <a:t>🇩🇪 Germania</a:t>
            </a:r>
          </a:p>
        </p:txBody>
      </p:sp>
      <p:sp>
        <p:nvSpPr>
          <p:cNvPr id="85" name="Rounded Rectangle 84"/>
          <p:cNvSpPr/>
          <p:nvPr/>
        </p:nvSpPr>
        <p:spPr>
          <a:xfrm>
            <a:off x="8229600" y="3172968"/>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p:cNvSpPr/>
          <p:nvPr/>
        </p:nvSpPr>
        <p:spPr>
          <a:xfrm>
            <a:off x="8229600" y="3172968"/>
            <a:ext cx="51918"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972800" y="3145536"/>
            <a:ext cx="457200" cy="274320"/>
          </a:xfrm>
          <a:prstGeom prst="rect">
            <a:avLst/>
          </a:prstGeom>
          <a:noFill/>
        </p:spPr>
        <p:txBody>
          <a:bodyPr wrap="square">
            <a:spAutoFit/>
          </a:bodyPr>
          <a:lstStyle/>
          <a:p>
            <a:pPr algn="r">
              <a:defRPr sz="900" b="1">
                <a:solidFill>
                  <a:srgbClr val="F59E0B"/>
                </a:solidFill>
                <a:latin typeface="Calibri"/>
              </a:defRPr>
            </a:pPr>
            <a:r>
              <a:t>1%</a:t>
            </a:r>
          </a:p>
        </p:txBody>
      </p:sp>
      <p:sp>
        <p:nvSpPr>
          <p:cNvPr id="88" name="TextBox 87"/>
          <p:cNvSpPr txBox="1"/>
          <p:nvPr/>
        </p:nvSpPr>
        <p:spPr>
          <a:xfrm>
            <a:off x="6400800" y="3474720"/>
            <a:ext cx="1645920" cy="274320"/>
          </a:xfrm>
          <a:prstGeom prst="rect">
            <a:avLst/>
          </a:prstGeom>
          <a:noFill/>
        </p:spPr>
        <p:txBody>
          <a:bodyPr wrap="square">
            <a:spAutoFit/>
          </a:bodyPr>
          <a:lstStyle/>
          <a:p>
            <a:pPr algn="l">
              <a:defRPr sz="900" b="1">
                <a:solidFill>
                  <a:srgbClr val="F0F2F8"/>
                </a:solidFill>
                <a:latin typeface="Calibri"/>
              </a:defRPr>
            </a:pPr>
            <a:r>
              <a:t>🇬🇧 UK</a:t>
            </a:r>
          </a:p>
        </p:txBody>
      </p:sp>
      <p:sp>
        <p:nvSpPr>
          <p:cNvPr id="89" name="Rounded Rectangle 88"/>
          <p:cNvSpPr/>
          <p:nvPr/>
        </p:nvSpPr>
        <p:spPr>
          <a:xfrm>
            <a:off x="8229600" y="3502151"/>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p:cNvSpPr/>
          <p:nvPr/>
        </p:nvSpPr>
        <p:spPr>
          <a:xfrm>
            <a:off x="8229600" y="3502151"/>
            <a:ext cx="31212" cy="228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972800" y="3474720"/>
            <a:ext cx="457200" cy="274320"/>
          </a:xfrm>
          <a:prstGeom prst="rect">
            <a:avLst/>
          </a:prstGeom>
          <a:noFill/>
        </p:spPr>
        <p:txBody>
          <a:bodyPr wrap="square">
            <a:spAutoFit/>
          </a:bodyPr>
          <a:lstStyle/>
          <a:p>
            <a:pPr algn="r">
              <a:defRPr sz="900" b="1">
                <a:solidFill>
                  <a:srgbClr val="10B981"/>
                </a:solidFill>
                <a:latin typeface="Calibri"/>
              </a:defRPr>
            </a:pPr>
            <a:r>
              <a:t>1%</a:t>
            </a:r>
          </a:p>
        </p:txBody>
      </p:sp>
      <p:sp>
        <p:nvSpPr>
          <p:cNvPr id="92" name="TextBox 91"/>
          <p:cNvSpPr txBox="1"/>
          <p:nvPr/>
        </p:nvSpPr>
        <p:spPr>
          <a:xfrm>
            <a:off x="6400800" y="3803904"/>
            <a:ext cx="1645920" cy="274320"/>
          </a:xfrm>
          <a:prstGeom prst="rect">
            <a:avLst/>
          </a:prstGeom>
          <a:noFill/>
        </p:spPr>
        <p:txBody>
          <a:bodyPr wrap="square">
            <a:spAutoFit/>
          </a:bodyPr>
          <a:lstStyle/>
          <a:p>
            <a:pPr algn="l">
              <a:defRPr sz="900" b="1">
                <a:solidFill>
                  <a:srgbClr val="F0F2F8"/>
                </a:solidFill>
                <a:latin typeface="Calibri"/>
              </a:defRPr>
            </a:pPr>
            <a:r>
              <a:t>🇮🇹 Italia</a:t>
            </a:r>
          </a:p>
        </p:txBody>
      </p:sp>
      <p:sp>
        <p:nvSpPr>
          <p:cNvPr id="93" name="Rounded Rectangle 92"/>
          <p:cNvSpPr/>
          <p:nvPr/>
        </p:nvSpPr>
        <p:spPr>
          <a:xfrm>
            <a:off x="8229600" y="3831336"/>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8229600" y="3831336"/>
            <a:ext cx="23163" cy="2286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0972800" y="3803904"/>
            <a:ext cx="457200" cy="274320"/>
          </a:xfrm>
          <a:prstGeom prst="rect">
            <a:avLst/>
          </a:prstGeom>
          <a:noFill/>
        </p:spPr>
        <p:txBody>
          <a:bodyPr wrap="square">
            <a:spAutoFit/>
          </a:bodyPr>
          <a:lstStyle/>
          <a:p>
            <a:pPr algn="r">
              <a:defRPr sz="900" b="1">
                <a:solidFill>
                  <a:srgbClr val="EF4444"/>
                </a:solidFill>
                <a:latin typeface="Calibri"/>
              </a:defRPr>
            </a:pPr>
            <a:r>
              <a:t>1%</a:t>
            </a:r>
          </a:p>
        </p:txBody>
      </p:sp>
      <p:sp>
        <p:nvSpPr>
          <p:cNvPr id="96" name="TextBox 95"/>
          <p:cNvSpPr txBox="1"/>
          <p:nvPr/>
        </p:nvSpPr>
        <p:spPr>
          <a:xfrm>
            <a:off x="6400800" y="4133087"/>
            <a:ext cx="1645920" cy="274320"/>
          </a:xfrm>
          <a:prstGeom prst="rect">
            <a:avLst/>
          </a:prstGeom>
          <a:noFill/>
        </p:spPr>
        <p:txBody>
          <a:bodyPr wrap="square">
            <a:spAutoFit/>
          </a:bodyPr>
          <a:lstStyle/>
          <a:p>
            <a:pPr algn="l">
              <a:defRPr sz="900" b="1">
                <a:solidFill>
                  <a:srgbClr val="F0F2F8"/>
                </a:solidFill>
                <a:latin typeface="Calibri"/>
              </a:defRPr>
            </a:pPr>
            <a:r>
              <a:t>🇦🇹 Austria</a:t>
            </a:r>
          </a:p>
        </p:txBody>
      </p:sp>
      <p:sp>
        <p:nvSpPr>
          <p:cNvPr id="97" name="Rounded Rectangle 96"/>
          <p:cNvSpPr/>
          <p:nvPr/>
        </p:nvSpPr>
        <p:spPr>
          <a:xfrm>
            <a:off x="8229600" y="4160520"/>
            <a:ext cx="3017520" cy="22860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8229600" y="4160520"/>
            <a:ext cx="16896" cy="2286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0972800" y="4133087"/>
            <a:ext cx="457200" cy="274320"/>
          </a:xfrm>
          <a:prstGeom prst="rect">
            <a:avLst/>
          </a:prstGeom>
          <a:noFill/>
        </p:spPr>
        <p:txBody>
          <a:bodyPr wrap="square">
            <a:spAutoFit/>
          </a:bodyPr>
          <a:lstStyle/>
          <a:p>
            <a:pPr algn="r">
              <a:defRPr sz="900" b="1">
                <a:solidFill>
                  <a:srgbClr val="06B6D4"/>
                </a:solidFill>
                <a:latin typeface="Calibri"/>
              </a:defRPr>
            </a:pPr>
            <a:r>
              <a:t>0.5%</a:t>
            </a:r>
          </a:p>
        </p:txBody>
      </p:sp>
      <p:sp>
        <p:nvSpPr>
          <p:cNvPr id="100" name="Rounded Rectangle 99"/>
          <p:cNvSpPr/>
          <p:nvPr/>
        </p:nvSpPr>
        <p:spPr>
          <a:xfrm>
            <a:off x="6217920" y="4480560"/>
            <a:ext cx="5303520" cy="19202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6217920" y="4480560"/>
            <a:ext cx="54864" cy="19202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400800" y="4572000"/>
            <a:ext cx="4937760" cy="274320"/>
          </a:xfrm>
          <a:prstGeom prst="rect">
            <a:avLst/>
          </a:prstGeom>
          <a:noFill/>
        </p:spPr>
        <p:txBody>
          <a:bodyPr wrap="square">
            <a:spAutoFit/>
          </a:bodyPr>
          <a:lstStyle/>
          <a:p>
            <a:pPr algn="l">
              <a:defRPr sz="1100" b="1">
                <a:solidFill>
                  <a:srgbClr val="8B5CF6"/>
                </a:solidFill>
                <a:latin typeface="Calibri"/>
              </a:defRPr>
            </a:pPr>
            <a:r>
              <a:t>🌐 DIASPORA</a:t>
            </a:r>
          </a:p>
        </p:txBody>
      </p:sp>
      <p:sp>
        <p:nvSpPr>
          <p:cNvPr id="103" name="TextBox 102"/>
          <p:cNvSpPr txBox="1"/>
          <p:nvPr/>
        </p:nvSpPr>
        <p:spPr>
          <a:xfrm>
            <a:off x="6400800" y="4892040"/>
            <a:ext cx="4937760" cy="594360"/>
          </a:xfrm>
          <a:prstGeom prst="rect">
            <a:avLst/>
          </a:prstGeom>
          <a:noFill/>
        </p:spPr>
        <p:txBody>
          <a:bodyPr wrap="square">
            <a:spAutoFit/>
          </a:bodyPr>
          <a:lstStyle/>
          <a:p>
            <a:pPr algn="l">
              <a:defRPr sz="1000" b="0">
                <a:solidFill>
                  <a:srgbClr val="F0F2F8"/>
                </a:solidFill>
                <a:latin typeface="Calibri"/>
              </a:defRPr>
            </a:pPr>
            <a:r>
              <a:t>Moldova (1,128 useri), Germania (845), UK (508), Italia (377). Diaspora românească accesează activ site-ul.</a:t>
            </a:r>
          </a:p>
        </p:txBody>
      </p:sp>
      <p:sp>
        <p:nvSpPr>
          <p:cNvPr id="104" name="TextBox 103"/>
          <p:cNvSpPr txBox="1"/>
          <p:nvPr/>
        </p:nvSpPr>
        <p:spPr>
          <a:xfrm>
            <a:off x="6400800" y="5532120"/>
            <a:ext cx="4937760" cy="320040"/>
          </a:xfrm>
          <a:prstGeom prst="rect">
            <a:avLst/>
          </a:prstGeom>
          <a:noFill/>
        </p:spPr>
        <p:txBody>
          <a:bodyPr wrap="square">
            <a:spAutoFit/>
          </a:bodyPr>
          <a:lstStyle/>
          <a:p>
            <a:pPr algn="l">
              <a:defRPr sz="1000" b="0">
                <a:solidFill>
                  <a:srgbClr val="8B95B0"/>
                </a:solidFill>
                <a:latin typeface="Calibri"/>
              </a:defRPr>
            </a:pPr>
            <a:r>
              <a:t>Limba: Română 76%, Engleză 20%</a:t>
            </a:r>
          </a:p>
        </p:txBody>
      </p:sp>
      <p:sp>
        <p:nvSpPr>
          <p:cNvPr id="105" name="TextBox 104"/>
          <p:cNvSpPr txBox="1"/>
          <p:nvPr/>
        </p:nvSpPr>
        <p:spPr>
          <a:xfrm>
            <a:off x="6400800" y="5852160"/>
            <a:ext cx="4937760" cy="320040"/>
          </a:xfrm>
          <a:prstGeom prst="rect">
            <a:avLst/>
          </a:prstGeom>
          <a:noFill/>
        </p:spPr>
        <p:txBody>
          <a:bodyPr wrap="square">
            <a:spAutoFit/>
          </a:bodyPr>
          <a:lstStyle/>
          <a:p>
            <a:pPr algn="l">
              <a:defRPr sz="1000" b="0">
                <a:solidFill>
                  <a:srgbClr val="10B981"/>
                </a:solidFill>
                <a:latin typeface="Calibri"/>
              </a:defRPr>
            </a:pPr>
            <a:r>
              <a:t>🆕 Chișinău a intrat în top 15 orașe</a:t>
            </a:r>
          </a:p>
        </p:txBody>
      </p:sp>
      <p:sp>
        <p:nvSpPr>
          <p:cNvPr id="106" name="Rounded Rectangle 105"/>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0080" y="6473952"/>
            <a:ext cx="2743200" cy="274320"/>
          </a:xfrm>
          <a:prstGeom prst="rect">
            <a:avLst/>
          </a:prstGeom>
          <a:noFill/>
        </p:spPr>
        <p:txBody>
          <a:bodyPr wrap="square">
            <a:spAutoFit/>
          </a:bodyPr>
          <a:lstStyle/>
          <a:p>
            <a:pPr algn="l">
              <a:defRPr sz="900" b="0">
                <a:solidFill>
                  <a:srgbClr val="8B95B0"/>
                </a:solidFill>
                <a:latin typeface="Calibri"/>
              </a:defRPr>
            </a:pPr>
            <a:r>
              <a:t>■ 2025   ■ 2026</a:t>
            </a:r>
          </a:p>
        </p:txBody>
      </p:sp>
      <p:sp>
        <p:nvSpPr>
          <p:cNvPr id="108" name="TextBox 107"/>
          <p:cNvSpPr txBox="1"/>
          <p:nvPr/>
        </p:nvSpPr>
        <p:spPr>
          <a:xfrm>
            <a:off x="3657600" y="6473952"/>
            <a:ext cx="7772400" cy="274320"/>
          </a:xfrm>
          <a:prstGeom prst="rect">
            <a:avLst/>
          </a:prstGeom>
          <a:noFill/>
        </p:spPr>
        <p:txBody>
          <a:bodyPr wrap="square">
            <a:spAutoFit/>
          </a:bodyPr>
          <a:lstStyle/>
          <a:p>
            <a:pPr algn="l">
              <a:defRPr sz="900" b="0">
                <a:solidFill>
                  <a:srgbClr val="F59E0B"/>
                </a:solidFill>
                <a:latin typeface="Calibri"/>
              </a:defRPr>
            </a:pPr>
            <a:r>
              <a:t>💡 București = 24% din trafic. Ploiești a depășit Iași (#4 în 2026). 86% din trafic e din România.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14B8A6"/>
                </a:solidFill>
                <a:latin typeface="Calibri"/>
              </a:defRPr>
            </a:pPr>
            <a:r>
              <a:t>GA4 — TOP CAMPANII 2026</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Care campanii aduc trafic și vânzări?</a:t>
            </a:r>
          </a:p>
        </p:txBody>
      </p:sp>
      <p:sp>
        <p:nvSpPr>
          <p:cNvPr id="4" name="Rounded Rectangle 3"/>
          <p:cNvSpPr/>
          <p:nvPr/>
        </p:nvSpPr>
        <p:spPr>
          <a:xfrm>
            <a:off x="457200" y="1280160"/>
            <a:ext cx="11247120" cy="3657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98448"/>
            <a:ext cx="274320" cy="320040"/>
          </a:xfrm>
          <a:prstGeom prst="rect">
            <a:avLst/>
          </a:prstGeom>
          <a:noFill/>
        </p:spPr>
        <p:txBody>
          <a:bodyPr wrap="square">
            <a:spAutoFit/>
          </a:bodyPr>
          <a:lstStyle/>
          <a:p>
            <a:pPr algn="l">
              <a:defRPr sz="900" b="1">
                <a:solidFill>
                  <a:srgbClr val="F0F2F8"/>
                </a:solidFill>
                <a:latin typeface="Calibri"/>
              </a:defRPr>
            </a:pPr>
            <a:r>
              <a:t>#</a:t>
            </a:r>
          </a:p>
        </p:txBody>
      </p:sp>
      <p:sp>
        <p:nvSpPr>
          <p:cNvPr id="6" name="TextBox 5"/>
          <p:cNvSpPr txBox="1"/>
          <p:nvPr/>
        </p:nvSpPr>
        <p:spPr>
          <a:xfrm>
            <a:off x="914400" y="1298448"/>
            <a:ext cx="3657600" cy="320040"/>
          </a:xfrm>
          <a:prstGeom prst="rect">
            <a:avLst/>
          </a:prstGeom>
          <a:noFill/>
        </p:spPr>
        <p:txBody>
          <a:bodyPr wrap="square">
            <a:spAutoFit/>
          </a:bodyPr>
          <a:lstStyle/>
          <a:p>
            <a:pPr algn="l">
              <a:defRPr sz="900" b="1">
                <a:solidFill>
                  <a:srgbClr val="F0F2F8"/>
                </a:solidFill>
                <a:latin typeface="Calibri"/>
              </a:defRPr>
            </a:pPr>
            <a:r>
              <a:t>CAMPANIE</a:t>
            </a:r>
          </a:p>
        </p:txBody>
      </p:sp>
      <p:sp>
        <p:nvSpPr>
          <p:cNvPr id="7" name="TextBox 6"/>
          <p:cNvSpPr txBox="1"/>
          <p:nvPr/>
        </p:nvSpPr>
        <p:spPr>
          <a:xfrm>
            <a:off x="4754880" y="1298448"/>
            <a:ext cx="1097280" cy="320040"/>
          </a:xfrm>
          <a:prstGeom prst="rect">
            <a:avLst/>
          </a:prstGeom>
          <a:noFill/>
        </p:spPr>
        <p:txBody>
          <a:bodyPr wrap="square">
            <a:spAutoFit/>
          </a:bodyPr>
          <a:lstStyle/>
          <a:p>
            <a:pPr algn="l">
              <a:defRPr sz="900" b="1">
                <a:solidFill>
                  <a:srgbClr val="F0F2F8"/>
                </a:solidFill>
                <a:latin typeface="Calibri"/>
              </a:defRPr>
            </a:pPr>
            <a:r>
              <a:t>PLATFORMĂ</a:t>
            </a:r>
          </a:p>
        </p:txBody>
      </p:sp>
      <p:sp>
        <p:nvSpPr>
          <p:cNvPr id="8" name="TextBox 7"/>
          <p:cNvSpPr txBox="1"/>
          <p:nvPr/>
        </p:nvSpPr>
        <p:spPr>
          <a:xfrm>
            <a:off x="6035040" y="1298448"/>
            <a:ext cx="914400" cy="320040"/>
          </a:xfrm>
          <a:prstGeom prst="rect">
            <a:avLst/>
          </a:prstGeom>
          <a:noFill/>
        </p:spPr>
        <p:txBody>
          <a:bodyPr wrap="square">
            <a:spAutoFit/>
          </a:bodyPr>
          <a:lstStyle/>
          <a:p>
            <a:pPr algn="r">
              <a:defRPr sz="900" b="1">
                <a:solidFill>
                  <a:srgbClr val="F0F2F8"/>
                </a:solidFill>
                <a:latin typeface="Calibri"/>
              </a:defRPr>
            </a:pPr>
            <a:r>
              <a:t>SESIUNI</a:t>
            </a:r>
          </a:p>
        </p:txBody>
      </p:sp>
      <p:sp>
        <p:nvSpPr>
          <p:cNvPr id="9" name="TextBox 8"/>
          <p:cNvSpPr txBox="1"/>
          <p:nvPr/>
        </p:nvSpPr>
        <p:spPr>
          <a:xfrm>
            <a:off x="7132320" y="1298448"/>
            <a:ext cx="1097280" cy="320040"/>
          </a:xfrm>
          <a:prstGeom prst="rect">
            <a:avLst/>
          </a:prstGeom>
          <a:noFill/>
        </p:spPr>
        <p:txBody>
          <a:bodyPr wrap="square">
            <a:spAutoFit/>
          </a:bodyPr>
          <a:lstStyle/>
          <a:p>
            <a:pPr algn="r">
              <a:defRPr sz="900" b="1">
                <a:solidFill>
                  <a:srgbClr val="F0F2F8"/>
                </a:solidFill>
                <a:latin typeface="Calibri"/>
              </a:defRPr>
            </a:pPr>
            <a:r>
              <a:t>REVENUE</a:t>
            </a:r>
          </a:p>
        </p:txBody>
      </p:sp>
      <p:sp>
        <p:nvSpPr>
          <p:cNvPr id="10" name="TextBox 9"/>
          <p:cNvSpPr txBox="1"/>
          <p:nvPr/>
        </p:nvSpPr>
        <p:spPr>
          <a:xfrm>
            <a:off x="8412480" y="1298448"/>
            <a:ext cx="3200400" cy="320040"/>
          </a:xfrm>
          <a:prstGeom prst="rect">
            <a:avLst/>
          </a:prstGeom>
          <a:noFill/>
        </p:spPr>
        <p:txBody>
          <a:bodyPr wrap="square">
            <a:spAutoFit/>
          </a:bodyPr>
          <a:lstStyle/>
          <a:p>
            <a:pPr algn="l">
              <a:defRPr sz="900" b="1">
                <a:solidFill>
                  <a:srgbClr val="F0F2F8"/>
                </a:solidFill>
                <a:latin typeface="Calibri"/>
              </a:defRPr>
            </a:pPr>
            <a:r>
              <a:t>VIZUAL SESIUNI</a:t>
            </a:r>
          </a:p>
        </p:txBody>
      </p:sp>
      <p:sp>
        <p:nvSpPr>
          <p:cNvPr id="11" name="Rounded Rectangle 10"/>
          <p:cNvSpPr/>
          <p:nvPr/>
        </p:nvSpPr>
        <p:spPr>
          <a:xfrm>
            <a:off x="457200" y="1737360"/>
            <a:ext cx="11247120" cy="365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737360"/>
            <a:ext cx="54864" cy="3657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1783080"/>
            <a:ext cx="274320" cy="274320"/>
          </a:xfrm>
          <a:prstGeom prst="rect">
            <a:avLst/>
          </a:prstGeom>
          <a:noFill/>
        </p:spPr>
        <p:txBody>
          <a:bodyPr wrap="square">
            <a:spAutoFit/>
          </a:bodyPr>
          <a:lstStyle/>
          <a:p>
            <a:pPr algn="l">
              <a:defRPr sz="900" b="1">
                <a:solidFill>
                  <a:srgbClr val="5A6380"/>
                </a:solidFill>
                <a:latin typeface="Calibri"/>
              </a:defRPr>
            </a:pPr>
            <a:r>
              <a:t>1</a:t>
            </a:r>
          </a:p>
        </p:txBody>
      </p:sp>
      <p:sp>
        <p:nvSpPr>
          <p:cNvPr id="14" name="TextBox 13"/>
          <p:cNvSpPr txBox="1"/>
          <p:nvPr/>
        </p:nvSpPr>
        <p:spPr>
          <a:xfrm>
            <a:off x="914400" y="1783080"/>
            <a:ext cx="3657600" cy="274320"/>
          </a:xfrm>
          <a:prstGeom prst="rect">
            <a:avLst/>
          </a:prstGeom>
          <a:noFill/>
        </p:spPr>
        <p:txBody>
          <a:bodyPr wrap="square">
            <a:spAutoFit/>
          </a:bodyPr>
          <a:lstStyle/>
          <a:p>
            <a:pPr algn="l">
              <a:defRPr sz="1000" b="1">
                <a:solidFill>
                  <a:srgbClr val="F0F2F8"/>
                </a:solidFill>
                <a:latin typeface="Calibri"/>
              </a:defRPr>
            </a:pPr>
            <a:r>
              <a:t>PMax — Longevity</a:t>
            </a:r>
          </a:p>
        </p:txBody>
      </p:sp>
      <p:sp>
        <p:nvSpPr>
          <p:cNvPr id="15" name="TextBox 14"/>
          <p:cNvSpPr txBox="1"/>
          <p:nvPr/>
        </p:nvSpPr>
        <p:spPr>
          <a:xfrm>
            <a:off x="4754880" y="1783080"/>
            <a:ext cx="1097280" cy="274320"/>
          </a:xfrm>
          <a:prstGeom prst="rect">
            <a:avLst/>
          </a:prstGeom>
          <a:noFill/>
        </p:spPr>
        <p:txBody>
          <a:bodyPr wrap="square">
            <a:spAutoFit/>
          </a:bodyPr>
          <a:lstStyle/>
          <a:p>
            <a:pPr algn="l">
              <a:defRPr sz="900" b="0">
                <a:solidFill>
                  <a:srgbClr val="8B95B0"/>
                </a:solidFill>
                <a:latin typeface="Calibri"/>
              </a:defRPr>
            </a:pPr>
            <a:r>
              <a:t>Google</a:t>
            </a:r>
          </a:p>
        </p:txBody>
      </p:sp>
      <p:sp>
        <p:nvSpPr>
          <p:cNvPr id="16" name="TextBox 15"/>
          <p:cNvSpPr txBox="1"/>
          <p:nvPr/>
        </p:nvSpPr>
        <p:spPr>
          <a:xfrm>
            <a:off x="6035040" y="1783080"/>
            <a:ext cx="914400" cy="274320"/>
          </a:xfrm>
          <a:prstGeom prst="rect">
            <a:avLst/>
          </a:prstGeom>
          <a:noFill/>
        </p:spPr>
        <p:txBody>
          <a:bodyPr wrap="square">
            <a:spAutoFit/>
          </a:bodyPr>
          <a:lstStyle/>
          <a:p>
            <a:pPr algn="r">
              <a:defRPr sz="1000" b="1">
                <a:solidFill>
                  <a:srgbClr val="6366F1"/>
                </a:solidFill>
                <a:latin typeface="Calibri"/>
              </a:defRPr>
            </a:pPr>
            <a:r>
              <a:t>15,517</a:t>
            </a:r>
          </a:p>
        </p:txBody>
      </p:sp>
      <p:sp>
        <p:nvSpPr>
          <p:cNvPr id="17" name="TextBox 16"/>
          <p:cNvSpPr txBox="1"/>
          <p:nvPr/>
        </p:nvSpPr>
        <p:spPr>
          <a:xfrm>
            <a:off x="7132320" y="1783080"/>
            <a:ext cx="1097280" cy="274320"/>
          </a:xfrm>
          <a:prstGeom prst="rect">
            <a:avLst/>
          </a:prstGeom>
          <a:noFill/>
        </p:spPr>
        <p:txBody>
          <a:bodyPr wrap="square">
            <a:spAutoFit/>
          </a:bodyPr>
          <a:lstStyle/>
          <a:p>
            <a:pPr algn="r">
              <a:defRPr sz="1000" b="0">
                <a:solidFill>
                  <a:srgbClr val="10B981"/>
                </a:solidFill>
                <a:latin typeface="Calibri"/>
              </a:defRPr>
            </a:pPr>
            <a:r>
              <a:t>15,984 RON</a:t>
            </a:r>
          </a:p>
        </p:txBody>
      </p:sp>
      <p:sp>
        <p:nvSpPr>
          <p:cNvPr id="18" name="Rounded Rectangle 17"/>
          <p:cNvSpPr/>
          <p:nvPr/>
        </p:nvSpPr>
        <p:spPr>
          <a:xfrm>
            <a:off x="8503920" y="1810512"/>
            <a:ext cx="3017520" cy="219456"/>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7200" y="2167128"/>
            <a:ext cx="11247120" cy="3657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7200" y="2167128"/>
            <a:ext cx="54864"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2212848"/>
            <a:ext cx="274320" cy="274320"/>
          </a:xfrm>
          <a:prstGeom prst="rect">
            <a:avLst/>
          </a:prstGeom>
          <a:noFill/>
        </p:spPr>
        <p:txBody>
          <a:bodyPr wrap="square">
            <a:spAutoFit/>
          </a:bodyPr>
          <a:lstStyle/>
          <a:p>
            <a:pPr algn="l">
              <a:defRPr sz="900" b="1">
                <a:solidFill>
                  <a:srgbClr val="5A6380"/>
                </a:solidFill>
                <a:latin typeface="Calibri"/>
              </a:defRPr>
            </a:pPr>
            <a:r>
              <a:t>2</a:t>
            </a:r>
          </a:p>
        </p:txBody>
      </p:sp>
      <p:sp>
        <p:nvSpPr>
          <p:cNvPr id="22" name="TextBox 21"/>
          <p:cNvSpPr txBox="1"/>
          <p:nvPr/>
        </p:nvSpPr>
        <p:spPr>
          <a:xfrm>
            <a:off x="914400" y="2212848"/>
            <a:ext cx="3657600" cy="274320"/>
          </a:xfrm>
          <a:prstGeom prst="rect">
            <a:avLst/>
          </a:prstGeom>
          <a:noFill/>
        </p:spPr>
        <p:txBody>
          <a:bodyPr wrap="square">
            <a:spAutoFit/>
          </a:bodyPr>
          <a:lstStyle/>
          <a:p>
            <a:pPr algn="l">
              <a:defRPr sz="1000" b="1">
                <a:solidFill>
                  <a:srgbClr val="F0F2F8"/>
                </a:solidFill>
                <a:latin typeface="Calibri"/>
              </a:defRPr>
            </a:pPr>
            <a:r>
              <a:t>Search — Categorii</a:t>
            </a:r>
          </a:p>
        </p:txBody>
      </p:sp>
      <p:sp>
        <p:nvSpPr>
          <p:cNvPr id="23" name="TextBox 22"/>
          <p:cNvSpPr txBox="1"/>
          <p:nvPr/>
        </p:nvSpPr>
        <p:spPr>
          <a:xfrm>
            <a:off x="4754880" y="2212848"/>
            <a:ext cx="1097280" cy="274320"/>
          </a:xfrm>
          <a:prstGeom prst="rect">
            <a:avLst/>
          </a:prstGeom>
          <a:noFill/>
        </p:spPr>
        <p:txBody>
          <a:bodyPr wrap="square">
            <a:spAutoFit/>
          </a:bodyPr>
          <a:lstStyle/>
          <a:p>
            <a:pPr algn="l">
              <a:defRPr sz="900" b="0">
                <a:solidFill>
                  <a:srgbClr val="8B95B0"/>
                </a:solidFill>
                <a:latin typeface="Calibri"/>
              </a:defRPr>
            </a:pPr>
            <a:r>
              <a:t>Google</a:t>
            </a:r>
          </a:p>
        </p:txBody>
      </p:sp>
      <p:sp>
        <p:nvSpPr>
          <p:cNvPr id="24" name="TextBox 23"/>
          <p:cNvSpPr txBox="1"/>
          <p:nvPr/>
        </p:nvSpPr>
        <p:spPr>
          <a:xfrm>
            <a:off x="6035040" y="2212848"/>
            <a:ext cx="914400" cy="274320"/>
          </a:xfrm>
          <a:prstGeom prst="rect">
            <a:avLst/>
          </a:prstGeom>
          <a:noFill/>
        </p:spPr>
        <p:txBody>
          <a:bodyPr wrap="square">
            <a:spAutoFit/>
          </a:bodyPr>
          <a:lstStyle/>
          <a:p>
            <a:pPr algn="r">
              <a:defRPr sz="1000" b="1">
                <a:solidFill>
                  <a:srgbClr val="8B5CF6"/>
                </a:solidFill>
                <a:latin typeface="Calibri"/>
              </a:defRPr>
            </a:pPr>
            <a:r>
              <a:t>7,811</a:t>
            </a:r>
          </a:p>
        </p:txBody>
      </p:sp>
      <p:sp>
        <p:nvSpPr>
          <p:cNvPr id="25" name="TextBox 24"/>
          <p:cNvSpPr txBox="1"/>
          <p:nvPr/>
        </p:nvSpPr>
        <p:spPr>
          <a:xfrm>
            <a:off x="7132320" y="2212848"/>
            <a:ext cx="1097280" cy="274320"/>
          </a:xfrm>
          <a:prstGeom prst="rect">
            <a:avLst/>
          </a:prstGeom>
          <a:noFill/>
        </p:spPr>
        <p:txBody>
          <a:bodyPr wrap="square">
            <a:spAutoFit/>
          </a:bodyPr>
          <a:lstStyle/>
          <a:p>
            <a:pPr algn="r">
              <a:defRPr sz="1000" b="0">
                <a:solidFill>
                  <a:srgbClr val="10B981"/>
                </a:solidFill>
                <a:latin typeface="Calibri"/>
              </a:defRPr>
            </a:pPr>
            <a:r>
              <a:t>528 RON</a:t>
            </a:r>
          </a:p>
        </p:txBody>
      </p:sp>
      <p:sp>
        <p:nvSpPr>
          <p:cNvPr id="26" name="Rounded Rectangle 25"/>
          <p:cNvSpPr/>
          <p:nvPr/>
        </p:nvSpPr>
        <p:spPr>
          <a:xfrm>
            <a:off x="8503920" y="2240280"/>
            <a:ext cx="1518969" cy="219456"/>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57200" y="2596896"/>
            <a:ext cx="11247120" cy="365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57200" y="2596896"/>
            <a:ext cx="54864" cy="3657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2642615"/>
            <a:ext cx="274320" cy="274320"/>
          </a:xfrm>
          <a:prstGeom prst="rect">
            <a:avLst/>
          </a:prstGeom>
          <a:noFill/>
        </p:spPr>
        <p:txBody>
          <a:bodyPr wrap="square">
            <a:spAutoFit/>
          </a:bodyPr>
          <a:lstStyle/>
          <a:p>
            <a:pPr algn="l">
              <a:defRPr sz="900" b="1">
                <a:solidFill>
                  <a:srgbClr val="5A6380"/>
                </a:solidFill>
                <a:latin typeface="Calibri"/>
              </a:defRPr>
            </a:pPr>
            <a:r>
              <a:t>3</a:t>
            </a:r>
          </a:p>
        </p:txBody>
      </p:sp>
      <p:sp>
        <p:nvSpPr>
          <p:cNvPr id="30" name="TextBox 29"/>
          <p:cNvSpPr txBox="1"/>
          <p:nvPr/>
        </p:nvSpPr>
        <p:spPr>
          <a:xfrm>
            <a:off x="914400" y="2642615"/>
            <a:ext cx="3657600" cy="274320"/>
          </a:xfrm>
          <a:prstGeom prst="rect">
            <a:avLst/>
          </a:prstGeom>
          <a:noFill/>
        </p:spPr>
        <p:txBody>
          <a:bodyPr wrap="square">
            <a:spAutoFit/>
          </a:bodyPr>
          <a:lstStyle/>
          <a:p>
            <a:pPr algn="l">
              <a:defRPr sz="1000" b="1">
                <a:solidFill>
                  <a:srgbClr val="F0F2F8"/>
                </a:solidFill>
                <a:latin typeface="Calibri"/>
              </a:defRPr>
            </a:pPr>
            <a:r>
              <a:t>Meta Campaign 120...</a:t>
            </a:r>
          </a:p>
        </p:txBody>
      </p:sp>
      <p:sp>
        <p:nvSpPr>
          <p:cNvPr id="31" name="TextBox 30"/>
          <p:cNvSpPr txBox="1"/>
          <p:nvPr/>
        </p:nvSpPr>
        <p:spPr>
          <a:xfrm>
            <a:off x="4754880" y="2642615"/>
            <a:ext cx="1097280" cy="274320"/>
          </a:xfrm>
          <a:prstGeom prst="rect">
            <a:avLst/>
          </a:prstGeom>
          <a:noFill/>
        </p:spPr>
        <p:txBody>
          <a:bodyPr wrap="square">
            <a:spAutoFit/>
          </a:bodyPr>
          <a:lstStyle/>
          <a:p>
            <a:pPr algn="l">
              <a:defRPr sz="900" b="0">
                <a:solidFill>
                  <a:srgbClr val="8B95B0"/>
                </a:solidFill>
                <a:latin typeface="Calibri"/>
              </a:defRPr>
            </a:pPr>
            <a:r>
              <a:t>Facebook</a:t>
            </a:r>
          </a:p>
        </p:txBody>
      </p:sp>
      <p:sp>
        <p:nvSpPr>
          <p:cNvPr id="32" name="TextBox 31"/>
          <p:cNvSpPr txBox="1"/>
          <p:nvPr/>
        </p:nvSpPr>
        <p:spPr>
          <a:xfrm>
            <a:off x="6035040" y="2642615"/>
            <a:ext cx="914400" cy="274320"/>
          </a:xfrm>
          <a:prstGeom prst="rect">
            <a:avLst/>
          </a:prstGeom>
          <a:noFill/>
        </p:spPr>
        <p:txBody>
          <a:bodyPr wrap="square">
            <a:spAutoFit/>
          </a:bodyPr>
          <a:lstStyle/>
          <a:p>
            <a:pPr algn="r">
              <a:defRPr sz="1000" b="1">
                <a:solidFill>
                  <a:srgbClr val="EC4899"/>
                </a:solidFill>
                <a:latin typeface="Calibri"/>
              </a:defRPr>
            </a:pPr>
            <a:r>
              <a:t>4,395</a:t>
            </a:r>
          </a:p>
        </p:txBody>
      </p:sp>
      <p:sp>
        <p:nvSpPr>
          <p:cNvPr id="33" name="TextBox 32"/>
          <p:cNvSpPr txBox="1"/>
          <p:nvPr/>
        </p:nvSpPr>
        <p:spPr>
          <a:xfrm>
            <a:off x="7132320" y="2642615"/>
            <a:ext cx="1097280" cy="274320"/>
          </a:xfrm>
          <a:prstGeom prst="rect">
            <a:avLst/>
          </a:prstGeom>
          <a:noFill/>
        </p:spPr>
        <p:txBody>
          <a:bodyPr wrap="square">
            <a:spAutoFit/>
          </a:bodyPr>
          <a:lstStyle/>
          <a:p>
            <a:pPr algn="r">
              <a:defRPr sz="1000" b="0">
                <a:solidFill>
                  <a:srgbClr val="10B981"/>
                </a:solidFill>
                <a:latin typeface="Calibri"/>
              </a:defRPr>
            </a:pPr>
            <a:r>
              <a:t>11,828 RON</a:t>
            </a:r>
          </a:p>
        </p:txBody>
      </p:sp>
      <p:sp>
        <p:nvSpPr>
          <p:cNvPr id="34" name="Rounded Rectangle 33"/>
          <p:cNvSpPr/>
          <p:nvPr/>
        </p:nvSpPr>
        <p:spPr>
          <a:xfrm>
            <a:off x="8503920" y="2670048"/>
            <a:ext cx="854675" cy="219456"/>
          </a:xfrm>
          <a:prstGeom prst="roundRect">
            <a:avLst>
              <a:gd name="adj" fmla="val 30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57200" y="3026663"/>
            <a:ext cx="11247120" cy="3657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57200" y="3026663"/>
            <a:ext cx="54864" cy="3657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4360" y="3072383"/>
            <a:ext cx="274320" cy="274320"/>
          </a:xfrm>
          <a:prstGeom prst="rect">
            <a:avLst/>
          </a:prstGeom>
          <a:noFill/>
        </p:spPr>
        <p:txBody>
          <a:bodyPr wrap="square">
            <a:spAutoFit/>
          </a:bodyPr>
          <a:lstStyle/>
          <a:p>
            <a:pPr algn="l">
              <a:defRPr sz="900" b="1">
                <a:solidFill>
                  <a:srgbClr val="5A6380"/>
                </a:solidFill>
                <a:latin typeface="Calibri"/>
              </a:defRPr>
            </a:pPr>
            <a:r>
              <a:t>4</a:t>
            </a:r>
          </a:p>
        </p:txBody>
      </p:sp>
      <p:sp>
        <p:nvSpPr>
          <p:cNvPr id="38" name="TextBox 37"/>
          <p:cNvSpPr txBox="1"/>
          <p:nvPr/>
        </p:nvSpPr>
        <p:spPr>
          <a:xfrm>
            <a:off x="914400" y="3072383"/>
            <a:ext cx="3657600" cy="274320"/>
          </a:xfrm>
          <a:prstGeom prst="rect">
            <a:avLst/>
          </a:prstGeom>
          <a:noFill/>
        </p:spPr>
        <p:txBody>
          <a:bodyPr wrap="square">
            <a:spAutoFit/>
          </a:bodyPr>
          <a:lstStyle/>
          <a:p>
            <a:pPr algn="l">
              <a:defRPr sz="1000" b="1">
                <a:solidFill>
                  <a:srgbClr val="F0F2F8"/>
                </a:solidFill>
                <a:latin typeface="Calibri"/>
              </a:defRPr>
            </a:pPr>
            <a:r>
              <a:t>PMax — Rest of Pachete</a:t>
            </a:r>
          </a:p>
        </p:txBody>
      </p:sp>
      <p:sp>
        <p:nvSpPr>
          <p:cNvPr id="39" name="TextBox 38"/>
          <p:cNvSpPr txBox="1"/>
          <p:nvPr/>
        </p:nvSpPr>
        <p:spPr>
          <a:xfrm>
            <a:off x="4754880" y="3072383"/>
            <a:ext cx="1097280" cy="274320"/>
          </a:xfrm>
          <a:prstGeom prst="rect">
            <a:avLst/>
          </a:prstGeom>
          <a:noFill/>
        </p:spPr>
        <p:txBody>
          <a:bodyPr wrap="square">
            <a:spAutoFit/>
          </a:bodyPr>
          <a:lstStyle/>
          <a:p>
            <a:pPr algn="l">
              <a:defRPr sz="900" b="0">
                <a:solidFill>
                  <a:srgbClr val="8B95B0"/>
                </a:solidFill>
                <a:latin typeface="Calibri"/>
              </a:defRPr>
            </a:pPr>
            <a:r>
              <a:t>Google</a:t>
            </a:r>
          </a:p>
        </p:txBody>
      </p:sp>
      <p:sp>
        <p:nvSpPr>
          <p:cNvPr id="40" name="TextBox 39"/>
          <p:cNvSpPr txBox="1"/>
          <p:nvPr/>
        </p:nvSpPr>
        <p:spPr>
          <a:xfrm>
            <a:off x="6035040" y="3072383"/>
            <a:ext cx="914400" cy="274320"/>
          </a:xfrm>
          <a:prstGeom prst="rect">
            <a:avLst/>
          </a:prstGeom>
          <a:noFill/>
        </p:spPr>
        <p:txBody>
          <a:bodyPr wrap="square">
            <a:spAutoFit/>
          </a:bodyPr>
          <a:lstStyle/>
          <a:p>
            <a:pPr algn="r">
              <a:defRPr sz="1000" b="1">
                <a:solidFill>
                  <a:srgbClr val="6366F1"/>
                </a:solidFill>
                <a:latin typeface="Calibri"/>
              </a:defRPr>
            </a:pPr>
            <a:r>
              <a:t>4,192</a:t>
            </a:r>
          </a:p>
        </p:txBody>
      </p:sp>
      <p:sp>
        <p:nvSpPr>
          <p:cNvPr id="41" name="TextBox 40"/>
          <p:cNvSpPr txBox="1"/>
          <p:nvPr/>
        </p:nvSpPr>
        <p:spPr>
          <a:xfrm>
            <a:off x="7132320" y="3072383"/>
            <a:ext cx="1097280" cy="274320"/>
          </a:xfrm>
          <a:prstGeom prst="rect">
            <a:avLst/>
          </a:prstGeom>
          <a:noFill/>
        </p:spPr>
        <p:txBody>
          <a:bodyPr wrap="square">
            <a:spAutoFit/>
          </a:bodyPr>
          <a:lstStyle/>
          <a:p>
            <a:pPr algn="r">
              <a:defRPr sz="1000" b="0">
                <a:solidFill>
                  <a:srgbClr val="10B981"/>
                </a:solidFill>
                <a:latin typeface="Calibri"/>
              </a:defRPr>
            </a:pPr>
            <a:r>
              <a:t>14,379 RON</a:t>
            </a:r>
          </a:p>
        </p:txBody>
      </p:sp>
      <p:sp>
        <p:nvSpPr>
          <p:cNvPr id="42" name="Rounded Rectangle 41"/>
          <p:cNvSpPr/>
          <p:nvPr/>
        </p:nvSpPr>
        <p:spPr>
          <a:xfrm>
            <a:off x="8503920" y="3099815"/>
            <a:ext cx="815199" cy="219456"/>
          </a:xfrm>
          <a:prstGeom prst="roundRect">
            <a:avLst>
              <a:gd name="adj" fmla="val 3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57200" y="3456432"/>
            <a:ext cx="11247120" cy="365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457200" y="3456432"/>
            <a:ext cx="54864" cy="365760"/>
          </a:xfrm>
          <a:prstGeom prst="roundRect">
            <a:avLst/>
          </a:prstGeom>
          <a:solidFill>
            <a:srgbClr val="F97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4360" y="3502151"/>
            <a:ext cx="274320" cy="274320"/>
          </a:xfrm>
          <a:prstGeom prst="rect">
            <a:avLst/>
          </a:prstGeom>
          <a:noFill/>
        </p:spPr>
        <p:txBody>
          <a:bodyPr wrap="square">
            <a:spAutoFit/>
          </a:bodyPr>
          <a:lstStyle/>
          <a:p>
            <a:pPr algn="l">
              <a:defRPr sz="900" b="1">
                <a:solidFill>
                  <a:srgbClr val="5A6380"/>
                </a:solidFill>
                <a:latin typeface="Calibri"/>
              </a:defRPr>
            </a:pPr>
            <a:r>
              <a:t>5</a:t>
            </a:r>
          </a:p>
        </p:txBody>
      </p:sp>
      <p:sp>
        <p:nvSpPr>
          <p:cNvPr id="46" name="TextBox 45"/>
          <p:cNvSpPr txBox="1"/>
          <p:nvPr/>
        </p:nvSpPr>
        <p:spPr>
          <a:xfrm>
            <a:off x="914400" y="3502151"/>
            <a:ext cx="3657600" cy="274320"/>
          </a:xfrm>
          <a:prstGeom prst="rect">
            <a:avLst/>
          </a:prstGeom>
          <a:noFill/>
        </p:spPr>
        <p:txBody>
          <a:bodyPr wrap="square">
            <a:spAutoFit/>
          </a:bodyPr>
          <a:lstStyle/>
          <a:p>
            <a:pPr algn="l">
              <a:defRPr sz="1000" b="1">
                <a:solidFill>
                  <a:srgbClr val="F0F2F8"/>
                </a:solidFill>
                <a:latin typeface="Calibri"/>
              </a:defRPr>
            </a:pPr>
            <a:r>
              <a:t>2Performant (Affiliate)</a:t>
            </a:r>
          </a:p>
        </p:txBody>
      </p:sp>
      <p:sp>
        <p:nvSpPr>
          <p:cNvPr id="47" name="TextBox 46"/>
          <p:cNvSpPr txBox="1"/>
          <p:nvPr/>
        </p:nvSpPr>
        <p:spPr>
          <a:xfrm>
            <a:off x="4754880" y="3502151"/>
            <a:ext cx="1097280" cy="274320"/>
          </a:xfrm>
          <a:prstGeom prst="rect">
            <a:avLst/>
          </a:prstGeom>
          <a:noFill/>
        </p:spPr>
        <p:txBody>
          <a:bodyPr wrap="square">
            <a:spAutoFit/>
          </a:bodyPr>
          <a:lstStyle/>
          <a:p>
            <a:pPr algn="l">
              <a:defRPr sz="900" b="0">
                <a:solidFill>
                  <a:srgbClr val="8B95B0"/>
                </a:solidFill>
                <a:latin typeface="Calibri"/>
              </a:defRPr>
            </a:pPr>
            <a:r>
              <a:t>Google</a:t>
            </a:r>
          </a:p>
        </p:txBody>
      </p:sp>
      <p:sp>
        <p:nvSpPr>
          <p:cNvPr id="48" name="TextBox 47"/>
          <p:cNvSpPr txBox="1"/>
          <p:nvPr/>
        </p:nvSpPr>
        <p:spPr>
          <a:xfrm>
            <a:off x="6035040" y="3502151"/>
            <a:ext cx="914400" cy="274320"/>
          </a:xfrm>
          <a:prstGeom prst="rect">
            <a:avLst/>
          </a:prstGeom>
          <a:noFill/>
        </p:spPr>
        <p:txBody>
          <a:bodyPr wrap="square">
            <a:spAutoFit/>
          </a:bodyPr>
          <a:lstStyle/>
          <a:p>
            <a:pPr algn="r">
              <a:defRPr sz="1000" b="1">
                <a:solidFill>
                  <a:srgbClr val="F97E16"/>
                </a:solidFill>
                <a:latin typeface="Calibri"/>
              </a:defRPr>
            </a:pPr>
            <a:r>
              <a:t>3,331</a:t>
            </a:r>
          </a:p>
        </p:txBody>
      </p:sp>
      <p:sp>
        <p:nvSpPr>
          <p:cNvPr id="49" name="TextBox 48"/>
          <p:cNvSpPr txBox="1"/>
          <p:nvPr/>
        </p:nvSpPr>
        <p:spPr>
          <a:xfrm>
            <a:off x="7132320" y="3502151"/>
            <a:ext cx="1097280" cy="274320"/>
          </a:xfrm>
          <a:prstGeom prst="rect">
            <a:avLst/>
          </a:prstGeom>
          <a:noFill/>
        </p:spPr>
        <p:txBody>
          <a:bodyPr wrap="square">
            <a:spAutoFit/>
          </a:bodyPr>
          <a:lstStyle/>
          <a:p>
            <a:pPr algn="r">
              <a:defRPr sz="1000" b="0">
                <a:solidFill>
                  <a:srgbClr val="10B981"/>
                </a:solidFill>
                <a:latin typeface="Calibri"/>
              </a:defRPr>
            </a:pPr>
            <a:r>
              <a:t>488 RON</a:t>
            </a:r>
          </a:p>
        </p:txBody>
      </p:sp>
      <p:sp>
        <p:nvSpPr>
          <p:cNvPr id="50" name="Rounded Rectangle 49"/>
          <p:cNvSpPr/>
          <p:nvPr/>
        </p:nvSpPr>
        <p:spPr>
          <a:xfrm>
            <a:off x="8503920" y="3529584"/>
            <a:ext cx="647764" cy="219456"/>
          </a:xfrm>
          <a:prstGeom prst="roundRect">
            <a:avLst>
              <a:gd name="adj" fmla="val 30000"/>
            </a:avLst>
          </a:prstGeom>
          <a:solidFill>
            <a:srgbClr val="F97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457200" y="3886200"/>
            <a:ext cx="11247120" cy="3657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57200" y="3886200"/>
            <a:ext cx="54864"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4360" y="3931920"/>
            <a:ext cx="274320" cy="274320"/>
          </a:xfrm>
          <a:prstGeom prst="rect">
            <a:avLst/>
          </a:prstGeom>
          <a:noFill/>
        </p:spPr>
        <p:txBody>
          <a:bodyPr wrap="square">
            <a:spAutoFit/>
          </a:bodyPr>
          <a:lstStyle/>
          <a:p>
            <a:pPr algn="l">
              <a:defRPr sz="900" b="1">
                <a:solidFill>
                  <a:srgbClr val="5A6380"/>
                </a:solidFill>
                <a:latin typeface="Calibri"/>
              </a:defRPr>
            </a:pPr>
            <a:r>
              <a:t>6</a:t>
            </a:r>
          </a:p>
        </p:txBody>
      </p:sp>
      <p:sp>
        <p:nvSpPr>
          <p:cNvPr id="54" name="TextBox 53"/>
          <p:cNvSpPr txBox="1"/>
          <p:nvPr/>
        </p:nvSpPr>
        <p:spPr>
          <a:xfrm>
            <a:off x="914400" y="3931920"/>
            <a:ext cx="3657600" cy="274320"/>
          </a:xfrm>
          <a:prstGeom prst="rect">
            <a:avLst/>
          </a:prstGeom>
          <a:noFill/>
        </p:spPr>
        <p:txBody>
          <a:bodyPr wrap="square">
            <a:spAutoFit/>
          </a:bodyPr>
          <a:lstStyle/>
          <a:p>
            <a:pPr algn="l">
              <a:defRPr sz="1000" b="1">
                <a:solidFill>
                  <a:srgbClr val="F0F2F8"/>
                </a:solidFill>
                <a:latin typeface="Calibri"/>
              </a:defRPr>
            </a:pPr>
            <a:r>
              <a:t>Search — Brand Protect</a:t>
            </a:r>
          </a:p>
        </p:txBody>
      </p:sp>
      <p:sp>
        <p:nvSpPr>
          <p:cNvPr id="55" name="TextBox 54"/>
          <p:cNvSpPr txBox="1"/>
          <p:nvPr/>
        </p:nvSpPr>
        <p:spPr>
          <a:xfrm>
            <a:off x="4754880" y="3931920"/>
            <a:ext cx="1097280" cy="274320"/>
          </a:xfrm>
          <a:prstGeom prst="rect">
            <a:avLst/>
          </a:prstGeom>
          <a:noFill/>
        </p:spPr>
        <p:txBody>
          <a:bodyPr wrap="square">
            <a:spAutoFit/>
          </a:bodyPr>
          <a:lstStyle/>
          <a:p>
            <a:pPr algn="l">
              <a:defRPr sz="900" b="0">
                <a:solidFill>
                  <a:srgbClr val="8B95B0"/>
                </a:solidFill>
                <a:latin typeface="Calibri"/>
              </a:defRPr>
            </a:pPr>
            <a:r>
              <a:t>Google</a:t>
            </a:r>
          </a:p>
        </p:txBody>
      </p:sp>
      <p:sp>
        <p:nvSpPr>
          <p:cNvPr id="56" name="TextBox 55"/>
          <p:cNvSpPr txBox="1"/>
          <p:nvPr/>
        </p:nvSpPr>
        <p:spPr>
          <a:xfrm>
            <a:off x="6035040" y="3931920"/>
            <a:ext cx="914400" cy="274320"/>
          </a:xfrm>
          <a:prstGeom prst="rect">
            <a:avLst/>
          </a:prstGeom>
          <a:noFill/>
        </p:spPr>
        <p:txBody>
          <a:bodyPr wrap="square">
            <a:spAutoFit/>
          </a:bodyPr>
          <a:lstStyle/>
          <a:p>
            <a:pPr algn="r">
              <a:defRPr sz="1000" b="1">
                <a:solidFill>
                  <a:srgbClr val="8B5CF6"/>
                </a:solidFill>
                <a:latin typeface="Calibri"/>
              </a:defRPr>
            </a:pPr>
            <a:r>
              <a:t>1,870</a:t>
            </a:r>
          </a:p>
        </p:txBody>
      </p:sp>
      <p:sp>
        <p:nvSpPr>
          <p:cNvPr id="57" name="TextBox 56"/>
          <p:cNvSpPr txBox="1"/>
          <p:nvPr/>
        </p:nvSpPr>
        <p:spPr>
          <a:xfrm>
            <a:off x="7132320" y="3931920"/>
            <a:ext cx="1097280" cy="274320"/>
          </a:xfrm>
          <a:prstGeom prst="rect">
            <a:avLst/>
          </a:prstGeom>
          <a:noFill/>
        </p:spPr>
        <p:txBody>
          <a:bodyPr wrap="square">
            <a:spAutoFit/>
          </a:bodyPr>
          <a:lstStyle/>
          <a:p>
            <a:pPr algn="r">
              <a:defRPr sz="1000" b="0">
                <a:solidFill>
                  <a:srgbClr val="10B981"/>
                </a:solidFill>
                <a:latin typeface="Calibri"/>
              </a:defRPr>
            </a:pPr>
            <a:r>
              <a:t>25,511 RON</a:t>
            </a:r>
          </a:p>
        </p:txBody>
      </p:sp>
      <p:sp>
        <p:nvSpPr>
          <p:cNvPr id="58" name="Rounded Rectangle 57"/>
          <p:cNvSpPr/>
          <p:nvPr/>
        </p:nvSpPr>
        <p:spPr>
          <a:xfrm>
            <a:off x="8503920" y="3959352"/>
            <a:ext cx="363650" cy="219456"/>
          </a:xfrm>
          <a:prstGeom prst="roundRect">
            <a:avLst>
              <a:gd name="adj" fmla="val 30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457200" y="4315968"/>
            <a:ext cx="11247120" cy="365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457200" y="4315968"/>
            <a:ext cx="54864" cy="3657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4360" y="4361688"/>
            <a:ext cx="274320" cy="274320"/>
          </a:xfrm>
          <a:prstGeom prst="rect">
            <a:avLst/>
          </a:prstGeom>
          <a:noFill/>
        </p:spPr>
        <p:txBody>
          <a:bodyPr wrap="square">
            <a:spAutoFit/>
          </a:bodyPr>
          <a:lstStyle/>
          <a:p>
            <a:pPr algn="l">
              <a:defRPr sz="900" b="1">
                <a:solidFill>
                  <a:srgbClr val="5A6380"/>
                </a:solidFill>
                <a:latin typeface="Calibri"/>
              </a:defRPr>
            </a:pPr>
            <a:r>
              <a:t>7</a:t>
            </a:r>
          </a:p>
        </p:txBody>
      </p:sp>
      <p:sp>
        <p:nvSpPr>
          <p:cNvPr id="62" name="TextBox 61"/>
          <p:cNvSpPr txBox="1"/>
          <p:nvPr/>
        </p:nvSpPr>
        <p:spPr>
          <a:xfrm>
            <a:off x="914400" y="4361688"/>
            <a:ext cx="3657600" cy="274320"/>
          </a:xfrm>
          <a:prstGeom prst="rect">
            <a:avLst/>
          </a:prstGeom>
          <a:noFill/>
        </p:spPr>
        <p:txBody>
          <a:bodyPr wrap="square">
            <a:spAutoFit/>
          </a:bodyPr>
          <a:lstStyle/>
          <a:p>
            <a:pPr algn="l">
              <a:defRPr sz="1000" b="1">
                <a:solidFill>
                  <a:srgbClr val="F0F2F8"/>
                </a:solidFill>
                <a:latin typeface="Calibri"/>
              </a:defRPr>
            </a:pPr>
            <a:r>
              <a:t>Săpt. Longevității -30%</a:t>
            </a:r>
          </a:p>
        </p:txBody>
      </p:sp>
      <p:sp>
        <p:nvSpPr>
          <p:cNvPr id="63" name="TextBox 62"/>
          <p:cNvSpPr txBox="1"/>
          <p:nvPr/>
        </p:nvSpPr>
        <p:spPr>
          <a:xfrm>
            <a:off x="4754880" y="4361688"/>
            <a:ext cx="1097280" cy="274320"/>
          </a:xfrm>
          <a:prstGeom prst="rect">
            <a:avLst/>
          </a:prstGeom>
          <a:noFill/>
        </p:spPr>
        <p:txBody>
          <a:bodyPr wrap="square">
            <a:spAutoFit/>
          </a:bodyPr>
          <a:lstStyle/>
          <a:p>
            <a:pPr algn="l">
              <a:defRPr sz="900" b="0">
                <a:solidFill>
                  <a:srgbClr val="8B95B0"/>
                </a:solidFill>
                <a:latin typeface="Calibri"/>
              </a:defRPr>
            </a:pPr>
            <a:r>
              <a:t>Klaviyo</a:t>
            </a:r>
          </a:p>
        </p:txBody>
      </p:sp>
      <p:sp>
        <p:nvSpPr>
          <p:cNvPr id="64" name="TextBox 63"/>
          <p:cNvSpPr txBox="1"/>
          <p:nvPr/>
        </p:nvSpPr>
        <p:spPr>
          <a:xfrm>
            <a:off x="6035040" y="4361688"/>
            <a:ext cx="914400" cy="274320"/>
          </a:xfrm>
          <a:prstGeom prst="rect">
            <a:avLst/>
          </a:prstGeom>
          <a:noFill/>
        </p:spPr>
        <p:txBody>
          <a:bodyPr wrap="square">
            <a:spAutoFit/>
          </a:bodyPr>
          <a:lstStyle/>
          <a:p>
            <a:pPr algn="r">
              <a:defRPr sz="1000" b="1">
                <a:solidFill>
                  <a:srgbClr val="06B6D4"/>
                </a:solidFill>
                <a:latin typeface="Calibri"/>
              </a:defRPr>
            </a:pPr>
            <a:r>
              <a:t>178</a:t>
            </a:r>
          </a:p>
        </p:txBody>
      </p:sp>
      <p:sp>
        <p:nvSpPr>
          <p:cNvPr id="65" name="TextBox 64"/>
          <p:cNvSpPr txBox="1"/>
          <p:nvPr/>
        </p:nvSpPr>
        <p:spPr>
          <a:xfrm>
            <a:off x="7132320" y="4361688"/>
            <a:ext cx="1097280" cy="274320"/>
          </a:xfrm>
          <a:prstGeom prst="rect">
            <a:avLst/>
          </a:prstGeom>
          <a:noFill/>
        </p:spPr>
        <p:txBody>
          <a:bodyPr wrap="square">
            <a:spAutoFit/>
          </a:bodyPr>
          <a:lstStyle/>
          <a:p>
            <a:pPr algn="r">
              <a:defRPr sz="1000" b="0">
                <a:solidFill>
                  <a:srgbClr val="10B981"/>
                </a:solidFill>
                <a:latin typeface="Calibri"/>
              </a:defRPr>
            </a:pPr>
            <a:r>
              <a:t>3,745 RON</a:t>
            </a:r>
          </a:p>
        </p:txBody>
      </p:sp>
      <p:sp>
        <p:nvSpPr>
          <p:cNvPr id="66" name="Rounded Rectangle 65"/>
          <p:cNvSpPr/>
          <p:nvPr/>
        </p:nvSpPr>
        <p:spPr>
          <a:xfrm>
            <a:off x="8503920" y="4389120"/>
            <a:ext cx="34614" cy="219456"/>
          </a:xfrm>
          <a:prstGeom prst="roundRect">
            <a:avLst>
              <a:gd name="adj" fmla="val 30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457200" y="4745736"/>
            <a:ext cx="11247120" cy="3657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457200" y="4745736"/>
            <a:ext cx="54864" cy="36576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94360" y="4791455"/>
            <a:ext cx="274320" cy="274320"/>
          </a:xfrm>
          <a:prstGeom prst="rect">
            <a:avLst/>
          </a:prstGeom>
          <a:noFill/>
        </p:spPr>
        <p:txBody>
          <a:bodyPr wrap="square">
            <a:spAutoFit/>
          </a:bodyPr>
          <a:lstStyle/>
          <a:p>
            <a:pPr algn="l">
              <a:defRPr sz="900" b="1">
                <a:solidFill>
                  <a:srgbClr val="5A6380"/>
                </a:solidFill>
                <a:latin typeface="Calibri"/>
              </a:defRPr>
            </a:pPr>
            <a:r>
              <a:t>8</a:t>
            </a:r>
          </a:p>
        </p:txBody>
      </p:sp>
      <p:sp>
        <p:nvSpPr>
          <p:cNvPr id="70" name="TextBox 69"/>
          <p:cNvSpPr txBox="1"/>
          <p:nvPr/>
        </p:nvSpPr>
        <p:spPr>
          <a:xfrm>
            <a:off x="914400" y="4791455"/>
            <a:ext cx="3657600" cy="274320"/>
          </a:xfrm>
          <a:prstGeom prst="rect">
            <a:avLst/>
          </a:prstGeom>
          <a:noFill/>
        </p:spPr>
        <p:txBody>
          <a:bodyPr wrap="square">
            <a:spAutoFit/>
          </a:bodyPr>
          <a:lstStyle/>
          <a:p>
            <a:pPr algn="l">
              <a:defRPr sz="1000" b="1">
                <a:solidFill>
                  <a:srgbClr val="F0F2F8"/>
                </a:solidFill>
                <a:latin typeface="Calibri"/>
              </a:defRPr>
            </a:pPr>
            <a:r>
              <a:t>Boost Posts</a:t>
            </a:r>
          </a:p>
        </p:txBody>
      </p:sp>
      <p:sp>
        <p:nvSpPr>
          <p:cNvPr id="71" name="TextBox 70"/>
          <p:cNvSpPr txBox="1"/>
          <p:nvPr/>
        </p:nvSpPr>
        <p:spPr>
          <a:xfrm>
            <a:off x="4754880" y="4791455"/>
            <a:ext cx="1097280" cy="274320"/>
          </a:xfrm>
          <a:prstGeom prst="rect">
            <a:avLst/>
          </a:prstGeom>
          <a:noFill/>
        </p:spPr>
        <p:txBody>
          <a:bodyPr wrap="square">
            <a:spAutoFit/>
          </a:bodyPr>
          <a:lstStyle/>
          <a:p>
            <a:pPr algn="l">
              <a:defRPr sz="900" b="0">
                <a:solidFill>
                  <a:srgbClr val="8B95B0"/>
                </a:solidFill>
                <a:latin typeface="Calibri"/>
              </a:defRPr>
            </a:pPr>
            <a:r>
              <a:t>TikTok</a:t>
            </a:r>
          </a:p>
        </p:txBody>
      </p:sp>
      <p:sp>
        <p:nvSpPr>
          <p:cNvPr id="72" name="TextBox 71"/>
          <p:cNvSpPr txBox="1"/>
          <p:nvPr/>
        </p:nvSpPr>
        <p:spPr>
          <a:xfrm>
            <a:off x="6035040" y="4791455"/>
            <a:ext cx="914400" cy="274320"/>
          </a:xfrm>
          <a:prstGeom prst="rect">
            <a:avLst/>
          </a:prstGeom>
          <a:noFill/>
        </p:spPr>
        <p:txBody>
          <a:bodyPr wrap="square">
            <a:spAutoFit/>
          </a:bodyPr>
          <a:lstStyle/>
          <a:p>
            <a:pPr algn="r">
              <a:defRPr sz="1000" b="1">
                <a:solidFill>
                  <a:srgbClr val="EF4444"/>
                </a:solidFill>
                <a:latin typeface="Calibri"/>
              </a:defRPr>
            </a:pPr>
            <a:r>
              <a:t>419</a:t>
            </a:r>
          </a:p>
        </p:txBody>
      </p:sp>
      <p:sp>
        <p:nvSpPr>
          <p:cNvPr id="73" name="TextBox 72"/>
          <p:cNvSpPr txBox="1"/>
          <p:nvPr/>
        </p:nvSpPr>
        <p:spPr>
          <a:xfrm>
            <a:off x="7132320" y="4791455"/>
            <a:ext cx="1097280" cy="274320"/>
          </a:xfrm>
          <a:prstGeom prst="rect">
            <a:avLst/>
          </a:prstGeom>
          <a:noFill/>
        </p:spPr>
        <p:txBody>
          <a:bodyPr wrap="square">
            <a:spAutoFit/>
          </a:bodyPr>
          <a:lstStyle/>
          <a:p>
            <a:pPr algn="r">
              <a:defRPr sz="1000" b="0">
                <a:solidFill>
                  <a:srgbClr val="10B981"/>
                </a:solidFill>
                <a:latin typeface="Calibri"/>
              </a:defRPr>
            </a:pPr>
            <a:r>
              <a:t>767 RON</a:t>
            </a:r>
          </a:p>
        </p:txBody>
      </p:sp>
      <p:sp>
        <p:nvSpPr>
          <p:cNvPr id="74" name="Rounded Rectangle 73"/>
          <p:cNvSpPr/>
          <p:nvPr/>
        </p:nvSpPr>
        <p:spPr>
          <a:xfrm>
            <a:off x="8503920" y="4818888"/>
            <a:ext cx="81481" cy="219456"/>
          </a:xfrm>
          <a:prstGeom prst="roundRect">
            <a:avLst>
              <a:gd name="adj" fmla="val 3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457200" y="5175504"/>
            <a:ext cx="11247120" cy="365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457200" y="5175504"/>
            <a:ext cx="54864" cy="3657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94360" y="5221224"/>
            <a:ext cx="274320" cy="274320"/>
          </a:xfrm>
          <a:prstGeom prst="rect">
            <a:avLst/>
          </a:prstGeom>
          <a:noFill/>
        </p:spPr>
        <p:txBody>
          <a:bodyPr wrap="square">
            <a:spAutoFit/>
          </a:bodyPr>
          <a:lstStyle/>
          <a:p>
            <a:pPr algn="l">
              <a:defRPr sz="900" b="1">
                <a:solidFill>
                  <a:srgbClr val="5A6380"/>
                </a:solidFill>
                <a:latin typeface="Calibri"/>
              </a:defRPr>
            </a:pPr>
            <a:r>
              <a:t>9</a:t>
            </a:r>
          </a:p>
        </p:txBody>
      </p:sp>
      <p:sp>
        <p:nvSpPr>
          <p:cNvPr id="78" name="TextBox 77"/>
          <p:cNvSpPr txBox="1"/>
          <p:nvPr/>
        </p:nvSpPr>
        <p:spPr>
          <a:xfrm>
            <a:off x="914400" y="5221224"/>
            <a:ext cx="3657600" cy="274320"/>
          </a:xfrm>
          <a:prstGeom prst="rect">
            <a:avLst/>
          </a:prstGeom>
          <a:noFill/>
        </p:spPr>
        <p:txBody>
          <a:bodyPr wrap="square">
            <a:spAutoFit/>
          </a:bodyPr>
          <a:lstStyle/>
          <a:p>
            <a:pPr algn="l">
              <a:defRPr sz="1000" b="1">
                <a:solidFill>
                  <a:srgbClr val="F0F2F8"/>
                </a:solidFill>
                <a:latin typeface="Calibri"/>
              </a:defRPr>
            </a:pPr>
            <a:r>
              <a:t>Longevitate RMKT</a:t>
            </a:r>
          </a:p>
        </p:txBody>
      </p:sp>
      <p:sp>
        <p:nvSpPr>
          <p:cNvPr id="79" name="TextBox 78"/>
          <p:cNvSpPr txBox="1"/>
          <p:nvPr/>
        </p:nvSpPr>
        <p:spPr>
          <a:xfrm>
            <a:off x="4754880" y="5221224"/>
            <a:ext cx="1097280" cy="274320"/>
          </a:xfrm>
          <a:prstGeom prst="rect">
            <a:avLst/>
          </a:prstGeom>
          <a:noFill/>
        </p:spPr>
        <p:txBody>
          <a:bodyPr wrap="square">
            <a:spAutoFit/>
          </a:bodyPr>
          <a:lstStyle/>
          <a:p>
            <a:pPr algn="l">
              <a:defRPr sz="900" b="0">
                <a:solidFill>
                  <a:srgbClr val="8B95B0"/>
                </a:solidFill>
                <a:latin typeface="Calibri"/>
              </a:defRPr>
            </a:pPr>
            <a:r>
              <a:t>Facebook</a:t>
            </a:r>
          </a:p>
        </p:txBody>
      </p:sp>
      <p:sp>
        <p:nvSpPr>
          <p:cNvPr id="80" name="TextBox 79"/>
          <p:cNvSpPr txBox="1"/>
          <p:nvPr/>
        </p:nvSpPr>
        <p:spPr>
          <a:xfrm>
            <a:off x="6035040" y="5221224"/>
            <a:ext cx="914400" cy="274320"/>
          </a:xfrm>
          <a:prstGeom prst="rect">
            <a:avLst/>
          </a:prstGeom>
          <a:noFill/>
        </p:spPr>
        <p:txBody>
          <a:bodyPr wrap="square">
            <a:spAutoFit/>
          </a:bodyPr>
          <a:lstStyle/>
          <a:p>
            <a:pPr algn="r">
              <a:defRPr sz="1000" b="1">
                <a:solidFill>
                  <a:srgbClr val="EC4899"/>
                </a:solidFill>
                <a:latin typeface="Calibri"/>
              </a:defRPr>
            </a:pPr>
            <a:r>
              <a:t>401</a:t>
            </a:r>
          </a:p>
        </p:txBody>
      </p:sp>
      <p:sp>
        <p:nvSpPr>
          <p:cNvPr id="81" name="TextBox 80"/>
          <p:cNvSpPr txBox="1"/>
          <p:nvPr/>
        </p:nvSpPr>
        <p:spPr>
          <a:xfrm>
            <a:off x="7132320" y="5221224"/>
            <a:ext cx="1097280" cy="274320"/>
          </a:xfrm>
          <a:prstGeom prst="rect">
            <a:avLst/>
          </a:prstGeom>
          <a:noFill/>
        </p:spPr>
        <p:txBody>
          <a:bodyPr wrap="square">
            <a:spAutoFit/>
          </a:bodyPr>
          <a:lstStyle/>
          <a:p>
            <a:pPr algn="r">
              <a:defRPr sz="1000" b="0">
                <a:solidFill>
                  <a:srgbClr val="10B981"/>
                </a:solidFill>
                <a:latin typeface="Calibri"/>
              </a:defRPr>
            </a:pPr>
            <a:r>
              <a:t>252 RON</a:t>
            </a:r>
          </a:p>
        </p:txBody>
      </p:sp>
      <p:sp>
        <p:nvSpPr>
          <p:cNvPr id="82" name="Rounded Rectangle 81"/>
          <p:cNvSpPr/>
          <p:nvPr/>
        </p:nvSpPr>
        <p:spPr>
          <a:xfrm>
            <a:off x="8503920" y="5248656"/>
            <a:ext cx="77980" cy="219456"/>
          </a:xfrm>
          <a:prstGeom prst="roundRect">
            <a:avLst>
              <a:gd name="adj" fmla="val 30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p:cNvSpPr/>
          <p:nvPr/>
        </p:nvSpPr>
        <p:spPr>
          <a:xfrm>
            <a:off x="457200" y="5605271"/>
            <a:ext cx="11247120" cy="36576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457200" y="5605271"/>
            <a:ext cx="54864" cy="3657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94360" y="5650991"/>
            <a:ext cx="274320" cy="274320"/>
          </a:xfrm>
          <a:prstGeom prst="rect">
            <a:avLst/>
          </a:prstGeom>
          <a:noFill/>
        </p:spPr>
        <p:txBody>
          <a:bodyPr wrap="square">
            <a:spAutoFit/>
          </a:bodyPr>
          <a:lstStyle/>
          <a:p>
            <a:pPr algn="l">
              <a:defRPr sz="900" b="1">
                <a:solidFill>
                  <a:srgbClr val="5A6380"/>
                </a:solidFill>
                <a:latin typeface="Calibri"/>
              </a:defRPr>
            </a:pPr>
            <a:r>
              <a:t>10</a:t>
            </a:r>
          </a:p>
        </p:txBody>
      </p:sp>
      <p:sp>
        <p:nvSpPr>
          <p:cNvPr id="86" name="TextBox 85"/>
          <p:cNvSpPr txBox="1"/>
          <p:nvPr/>
        </p:nvSpPr>
        <p:spPr>
          <a:xfrm>
            <a:off x="914400" y="5650991"/>
            <a:ext cx="3657600" cy="274320"/>
          </a:xfrm>
          <a:prstGeom prst="rect">
            <a:avLst/>
          </a:prstGeom>
          <a:noFill/>
        </p:spPr>
        <p:txBody>
          <a:bodyPr wrap="square">
            <a:spAutoFit/>
          </a:bodyPr>
          <a:lstStyle/>
          <a:p>
            <a:pPr algn="l">
              <a:defRPr sz="1000" b="1">
                <a:solidFill>
                  <a:srgbClr val="F0F2F8"/>
                </a:solidFill>
                <a:latin typeface="Calibri"/>
              </a:defRPr>
            </a:pPr>
            <a:r>
              <a:t>Martie 2026 Femei RMKT</a:t>
            </a:r>
          </a:p>
        </p:txBody>
      </p:sp>
      <p:sp>
        <p:nvSpPr>
          <p:cNvPr id="87" name="TextBox 86"/>
          <p:cNvSpPr txBox="1"/>
          <p:nvPr/>
        </p:nvSpPr>
        <p:spPr>
          <a:xfrm>
            <a:off x="4754880" y="5650991"/>
            <a:ext cx="1097280" cy="274320"/>
          </a:xfrm>
          <a:prstGeom prst="rect">
            <a:avLst/>
          </a:prstGeom>
          <a:noFill/>
        </p:spPr>
        <p:txBody>
          <a:bodyPr wrap="square">
            <a:spAutoFit/>
          </a:bodyPr>
          <a:lstStyle/>
          <a:p>
            <a:pPr algn="l">
              <a:defRPr sz="900" b="0">
                <a:solidFill>
                  <a:srgbClr val="8B95B0"/>
                </a:solidFill>
                <a:latin typeface="Calibri"/>
              </a:defRPr>
            </a:pPr>
            <a:r>
              <a:t>Facebook</a:t>
            </a:r>
          </a:p>
        </p:txBody>
      </p:sp>
      <p:sp>
        <p:nvSpPr>
          <p:cNvPr id="88" name="TextBox 87"/>
          <p:cNvSpPr txBox="1"/>
          <p:nvPr/>
        </p:nvSpPr>
        <p:spPr>
          <a:xfrm>
            <a:off x="6035040" y="5650991"/>
            <a:ext cx="914400" cy="274320"/>
          </a:xfrm>
          <a:prstGeom prst="rect">
            <a:avLst/>
          </a:prstGeom>
          <a:noFill/>
        </p:spPr>
        <p:txBody>
          <a:bodyPr wrap="square">
            <a:spAutoFit/>
          </a:bodyPr>
          <a:lstStyle/>
          <a:p>
            <a:pPr algn="r">
              <a:defRPr sz="1000" b="1">
                <a:solidFill>
                  <a:srgbClr val="EC4899"/>
                </a:solidFill>
                <a:latin typeface="Calibri"/>
              </a:defRPr>
            </a:pPr>
            <a:r>
              <a:t>335</a:t>
            </a:r>
          </a:p>
        </p:txBody>
      </p:sp>
      <p:sp>
        <p:nvSpPr>
          <p:cNvPr id="89" name="TextBox 88"/>
          <p:cNvSpPr txBox="1"/>
          <p:nvPr/>
        </p:nvSpPr>
        <p:spPr>
          <a:xfrm>
            <a:off x="7132320" y="5650991"/>
            <a:ext cx="1097280" cy="274320"/>
          </a:xfrm>
          <a:prstGeom prst="rect">
            <a:avLst/>
          </a:prstGeom>
          <a:noFill/>
        </p:spPr>
        <p:txBody>
          <a:bodyPr wrap="square">
            <a:spAutoFit/>
          </a:bodyPr>
          <a:lstStyle/>
          <a:p>
            <a:pPr algn="r">
              <a:defRPr sz="1000" b="0">
                <a:solidFill>
                  <a:srgbClr val="10B981"/>
                </a:solidFill>
                <a:latin typeface="Calibri"/>
              </a:defRPr>
            </a:pPr>
            <a:r>
              <a:t>1,772 RON</a:t>
            </a:r>
          </a:p>
        </p:txBody>
      </p:sp>
      <p:sp>
        <p:nvSpPr>
          <p:cNvPr id="90" name="Rounded Rectangle 89"/>
          <p:cNvSpPr/>
          <p:nvPr/>
        </p:nvSpPr>
        <p:spPr>
          <a:xfrm>
            <a:off x="8503920" y="5678423"/>
            <a:ext cx="65145" cy="219456"/>
          </a:xfrm>
          <a:prstGeom prst="roundRect">
            <a:avLst>
              <a:gd name="adj" fmla="val 30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457200" y="6035040"/>
            <a:ext cx="11247120" cy="365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p:cNvSpPr/>
          <p:nvPr/>
        </p:nvSpPr>
        <p:spPr>
          <a:xfrm>
            <a:off x="457200" y="6035040"/>
            <a:ext cx="54864" cy="3657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594360" y="6080759"/>
            <a:ext cx="274320" cy="274320"/>
          </a:xfrm>
          <a:prstGeom prst="rect">
            <a:avLst/>
          </a:prstGeom>
          <a:noFill/>
        </p:spPr>
        <p:txBody>
          <a:bodyPr wrap="square">
            <a:spAutoFit/>
          </a:bodyPr>
          <a:lstStyle/>
          <a:p>
            <a:pPr algn="l">
              <a:defRPr sz="900" b="1">
                <a:solidFill>
                  <a:srgbClr val="5A6380"/>
                </a:solidFill>
                <a:latin typeface="Calibri"/>
              </a:defRPr>
            </a:pPr>
            <a:r>
              <a:t>11</a:t>
            </a:r>
          </a:p>
        </p:txBody>
      </p:sp>
      <p:sp>
        <p:nvSpPr>
          <p:cNvPr id="94" name="TextBox 93"/>
          <p:cNvSpPr txBox="1"/>
          <p:nvPr/>
        </p:nvSpPr>
        <p:spPr>
          <a:xfrm>
            <a:off x="914400" y="6080759"/>
            <a:ext cx="3657600" cy="274320"/>
          </a:xfrm>
          <a:prstGeom prst="rect">
            <a:avLst/>
          </a:prstGeom>
          <a:noFill/>
        </p:spPr>
        <p:txBody>
          <a:bodyPr wrap="square">
            <a:spAutoFit/>
          </a:bodyPr>
          <a:lstStyle/>
          <a:p>
            <a:pPr algn="l">
              <a:defRPr sz="1000" b="1">
                <a:solidFill>
                  <a:srgbClr val="F0F2F8"/>
                </a:solidFill>
                <a:latin typeface="Calibri"/>
              </a:defRPr>
            </a:pPr>
            <a:r>
              <a:t>Esențiale Buyer Persona</a:t>
            </a:r>
          </a:p>
        </p:txBody>
      </p:sp>
      <p:sp>
        <p:nvSpPr>
          <p:cNvPr id="95" name="TextBox 94"/>
          <p:cNvSpPr txBox="1"/>
          <p:nvPr/>
        </p:nvSpPr>
        <p:spPr>
          <a:xfrm>
            <a:off x="4754880" y="6080759"/>
            <a:ext cx="1097280" cy="274320"/>
          </a:xfrm>
          <a:prstGeom prst="rect">
            <a:avLst/>
          </a:prstGeom>
          <a:noFill/>
        </p:spPr>
        <p:txBody>
          <a:bodyPr wrap="square">
            <a:spAutoFit/>
          </a:bodyPr>
          <a:lstStyle/>
          <a:p>
            <a:pPr algn="l">
              <a:defRPr sz="900" b="0">
                <a:solidFill>
                  <a:srgbClr val="8B95B0"/>
                </a:solidFill>
                <a:latin typeface="Calibri"/>
              </a:defRPr>
            </a:pPr>
            <a:r>
              <a:t>Facebook</a:t>
            </a:r>
          </a:p>
        </p:txBody>
      </p:sp>
      <p:sp>
        <p:nvSpPr>
          <p:cNvPr id="96" name="TextBox 95"/>
          <p:cNvSpPr txBox="1"/>
          <p:nvPr/>
        </p:nvSpPr>
        <p:spPr>
          <a:xfrm>
            <a:off x="6035040" y="6080759"/>
            <a:ext cx="914400" cy="274320"/>
          </a:xfrm>
          <a:prstGeom prst="rect">
            <a:avLst/>
          </a:prstGeom>
          <a:noFill/>
        </p:spPr>
        <p:txBody>
          <a:bodyPr wrap="square">
            <a:spAutoFit/>
          </a:bodyPr>
          <a:lstStyle/>
          <a:p>
            <a:pPr algn="r">
              <a:defRPr sz="1000" b="1">
                <a:solidFill>
                  <a:srgbClr val="EC4899"/>
                </a:solidFill>
                <a:latin typeface="Calibri"/>
              </a:defRPr>
            </a:pPr>
            <a:r>
              <a:t>275</a:t>
            </a:r>
          </a:p>
        </p:txBody>
      </p:sp>
      <p:sp>
        <p:nvSpPr>
          <p:cNvPr id="97" name="TextBox 96"/>
          <p:cNvSpPr txBox="1"/>
          <p:nvPr/>
        </p:nvSpPr>
        <p:spPr>
          <a:xfrm>
            <a:off x="7132320" y="6080759"/>
            <a:ext cx="1097280" cy="274320"/>
          </a:xfrm>
          <a:prstGeom prst="rect">
            <a:avLst/>
          </a:prstGeom>
          <a:noFill/>
        </p:spPr>
        <p:txBody>
          <a:bodyPr wrap="square">
            <a:spAutoFit/>
          </a:bodyPr>
          <a:lstStyle/>
          <a:p>
            <a:pPr algn="r">
              <a:defRPr sz="1000" b="0">
                <a:solidFill>
                  <a:srgbClr val="10B981"/>
                </a:solidFill>
                <a:latin typeface="Calibri"/>
              </a:defRPr>
            </a:pPr>
            <a:r>
              <a:t>1,065 RON</a:t>
            </a:r>
          </a:p>
        </p:txBody>
      </p:sp>
      <p:sp>
        <p:nvSpPr>
          <p:cNvPr id="98" name="Rounded Rectangle 97"/>
          <p:cNvSpPr/>
          <p:nvPr/>
        </p:nvSpPr>
        <p:spPr>
          <a:xfrm>
            <a:off x="8503920" y="6108192"/>
            <a:ext cx="53477" cy="219456"/>
          </a:xfrm>
          <a:prstGeom prst="roundRect">
            <a:avLst>
              <a:gd name="adj" fmla="val 30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640080" y="6473952"/>
            <a:ext cx="10972800" cy="274320"/>
          </a:xfrm>
          <a:prstGeom prst="rect">
            <a:avLst/>
          </a:prstGeom>
          <a:noFill/>
        </p:spPr>
        <p:txBody>
          <a:bodyPr wrap="square">
            <a:spAutoFit/>
          </a:bodyPr>
          <a:lstStyle/>
          <a:p>
            <a:pPr algn="l">
              <a:defRPr sz="1000" b="0">
                <a:solidFill>
                  <a:srgbClr val="F59E0B"/>
                </a:solidFill>
                <a:latin typeface="Calibri"/>
              </a:defRPr>
            </a:pPr>
            <a:r>
              <a:t>💡 Brand Protect (1,870 ses) → 25.5K RON = cel mai mare ROI. Klaviyo 178 ses → 3.7K RON = 21 RON/sesiune!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SHOPIFY — PURCHASING BEHAVIOR</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Ce cumpără clienții care își configurează propriul coș?</a:t>
            </a:r>
          </a:p>
        </p:txBody>
      </p:sp>
      <p:sp>
        <p:nvSpPr>
          <p:cNvPr id="4" name="Rounded Rectangle 3"/>
          <p:cNvSpPr/>
          <p:nvPr/>
        </p:nvSpPr>
        <p:spPr>
          <a:xfrm>
            <a:off x="457200" y="1371600"/>
            <a:ext cx="11247120" cy="4572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63040"/>
            <a:ext cx="10058400" cy="274320"/>
          </a:xfrm>
          <a:prstGeom prst="rect">
            <a:avLst/>
          </a:prstGeom>
          <a:noFill/>
        </p:spPr>
        <p:txBody>
          <a:bodyPr wrap="square">
            <a:spAutoFit/>
          </a:bodyPr>
          <a:lstStyle/>
          <a:p>
            <a:pPr algn="l">
              <a:defRPr sz="1200" b="0">
                <a:solidFill>
                  <a:srgbClr val="F0F2F8"/>
                </a:solidFill>
                <a:latin typeface="Calibri"/>
              </a:defRPr>
            </a:pPr>
            <a:r>
              <a:t>Din 842 de comenzi „Mix &amp; Match” (fără recomandare quiz) în 2026, am extras topul absolut al produselor adăugate manual:</a:t>
            </a:r>
          </a:p>
        </p:txBody>
      </p:sp>
      <p:sp>
        <p:nvSpPr>
          <p:cNvPr id="6" name="Rounded Rectangle 5"/>
          <p:cNvSpPr/>
          <p:nvPr/>
        </p:nvSpPr>
        <p:spPr>
          <a:xfrm>
            <a:off x="457200" y="2011680"/>
            <a:ext cx="5394960" cy="42062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2011680"/>
            <a:ext cx="539496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57400"/>
            <a:ext cx="5029200" cy="274320"/>
          </a:xfrm>
          <a:prstGeom prst="rect">
            <a:avLst/>
          </a:prstGeom>
          <a:noFill/>
        </p:spPr>
        <p:txBody>
          <a:bodyPr wrap="square">
            <a:spAutoFit/>
          </a:bodyPr>
          <a:lstStyle/>
          <a:p>
            <a:pPr algn="l">
              <a:defRPr sz="1100" b="1">
                <a:solidFill>
                  <a:srgbClr val="F59E0B"/>
                </a:solidFill>
                <a:latin typeface="Calibri"/>
              </a:defRPr>
            </a:pPr>
            <a:r>
              <a:t>💊 BAZA (SUPORT ZILNIC)</a:t>
            </a:r>
          </a:p>
        </p:txBody>
      </p:sp>
      <p:sp>
        <p:nvSpPr>
          <p:cNvPr id="9" name="TextBox 8"/>
          <p:cNvSpPr txBox="1"/>
          <p:nvPr/>
        </p:nvSpPr>
        <p:spPr>
          <a:xfrm>
            <a:off x="640080" y="2560320"/>
            <a:ext cx="3931920" cy="274320"/>
          </a:xfrm>
          <a:prstGeom prst="rect">
            <a:avLst/>
          </a:prstGeom>
          <a:noFill/>
        </p:spPr>
        <p:txBody>
          <a:bodyPr wrap="square">
            <a:spAutoFit/>
          </a:bodyPr>
          <a:lstStyle/>
          <a:p>
            <a:pPr algn="l">
              <a:defRPr sz="1100" b="1">
                <a:solidFill>
                  <a:srgbClr val="F0F2F8"/>
                </a:solidFill>
                <a:latin typeface="Calibri"/>
              </a:defRPr>
            </a:pPr>
            <a:r>
              <a:t>Magneziu Bisglicinat cu Piperină</a:t>
            </a:r>
          </a:p>
        </p:txBody>
      </p:sp>
      <p:sp>
        <p:nvSpPr>
          <p:cNvPr id="10" name="TextBox 9"/>
          <p:cNvSpPr txBox="1"/>
          <p:nvPr/>
        </p:nvSpPr>
        <p:spPr>
          <a:xfrm>
            <a:off x="4754880" y="2560320"/>
            <a:ext cx="914400" cy="274320"/>
          </a:xfrm>
          <a:prstGeom prst="rect">
            <a:avLst/>
          </a:prstGeom>
          <a:noFill/>
        </p:spPr>
        <p:txBody>
          <a:bodyPr wrap="square">
            <a:spAutoFit/>
          </a:bodyPr>
          <a:lstStyle/>
          <a:p>
            <a:pPr algn="r">
              <a:defRPr sz="1100" b="1">
                <a:solidFill>
                  <a:srgbClr val="F59E0B"/>
                </a:solidFill>
                <a:latin typeface="Calibri"/>
              </a:defRPr>
            </a:pPr>
            <a:r>
              <a:t>378 buc</a:t>
            </a:r>
          </a:p>
        </p:txBody>
      </p:sp>
      <p:sp>
        <p:nvSpPr>
          <p:cNvPr id="11" name="Rounded Rectangle 10"/>
          <p:cNvSpPr/>
          <p:nvPr/>
        </p:nvSpPr>
        <p:spPr>
          <a:xfrm>
            <a:off x="640080" y="2880360"/>
            <a:ext cx="5029200" cy="914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108960"/>
            <a:ext cx="3931920" cy="274320"/>
          </a:xfrm>
          <a:prstGeom prst="rect">
            <a:avLst/>
          </a:prstGeom>
          <a:noFill/>
        </p:spPr>
        <p:txBody>
          <a:bodyPr wrap="square">
            <a:spAutoFit/>
          </a:bodyPr>
          <a:lstStyle/>
          <a:p>
            <a:pPr algn="l">
              <a:defRPr sz="1100" b="1">
                <a:solidFill>
                  <a:srgbClr val="F0F2F8"/>
                </a:solidFill>
                <a:latin typeface="Calibri"/>
              </a:defRPr>
            </a:pPr>
            <a:r>
              <a:t>Omega 3 1000mg</a:t>
            </a:r>
          </a:p>
        </p:txBody>
      </p:sp>
      <p:sp>
        <p:nvSpPr>
          <p:cNvPr id="13" name="TextBox 12"/>
          <p:cNvSpPr txBox="1"/>
          <p:nvPr/>
        </p:nvSpPr>
        <p:spPr>
          <a:xfrm>
            <a:off x="4754880" y="3108960"/>
            <a:ext cx="914400" cy="274320"/>
          </a:xfrm>
          <a:prstGeom prst="rect">
            <a:avLst/>
          </a:prstGeom>
          <a:noFill/>
        </p:spPr>
        <p:txBody>
          <a:bodyPr wrap="square">
            <a:spAutoFit/>
          </a:bodyPr>
          <a:lstStyle/>
          <a:p>
            <a:pPr algn="r">
              <a:defRPr sz="1100" b="1">
                <a:solidFill>
                  <a:srgbClr val="F59E0B"/>
                </a:solidFill>
                <a:latin typeface="Calibri"/>
              </a:defRPr>
            </a:pPr>
            <a:r>
              <a:t>371 buc</a:t>
            </a:r>
          </a:p>
        </p:txBody>
      </p:sp>
      <p:sp>
        <p:nvSpPr>
          <p:cNvPr id="14" name="Rounded Rectangle 13"/>
          <p:cNvSpPr/>
          <p:nvPr/>
        </p:nvSpPr>
        <p:spPr>
          <a:xfrm>
            <a:off x="640080" y="3429000"/>
            <a:ext cx="4936066" cy="914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657600"/>
            <a:ext cx="3931920" cy="274320"/>
          </a:xfrm>
          <a:prstGeom prst="rect">
            <a:avLst/>
          </a:prstGeom>
          <a:noFill/>
        </p:spPr>
        <p:txBody>
          <a:bodyPr wrap="square">
            <a:spAutoFit/>
          </a:bodyPr>
          <a:lstStyle/>
          <a:p>
            <a:pPr algn="l">
              <a:defRPr sz="1100" b="1">
                <a:solidFill>
                  <a:srgbClr val="F0F2F8"/>
                </a:solidFill>
                <a:latin typeface="Calibri"/>
              </a:defRPr>
            </a:pPr>
            <a:r>
              <a:t>Vitamina D3 2000 UI</a:t>
            </a:r>
          </a:p>
        </p:txBody>
      </p:sp>
      <p:sp>
        <p:nvSpPr>
          <p:cNvPr id="16" name="TextBox 15"/>
          <p:cNvSpPr txBox="1"/>
          <p:nvPr/>
        </p:nvSpPr>
        <p:spPr>
          <a:xfrm>
            <a:off x="4754880" y="3657600"/>
            <a:ext cx="914400" cy="274320"/>
          </a:xfrm>
          <a:prstGeom prst="rect">
            <a:avLst/>
          </a:prstGeom>
          <a:noFill/>
        </p:spPr>
        <p:txBody>
          <a:bodyPr wrap="square">
            <a:spAutoFit/>
          </a:bodyPr>
          <a:lstStyle/>
          <a:p>
            <a:pPr algn="r">
              <a:defRPr sz="1100" b="1">
                <a:solidFill>
                  <a:srgbClr val="F59E0B"/>
                </a:solidFill>
                <a:latin typeface="Calibri"/>
              </a:defRPr>
            </a:pPr>
            <a:r>
              <a:t>285 buc</a:t>
            </a:r>
          </a:p>
        </p:txBody>
      </p:sp>
      <p:sp>
        <p:nvSpPr>
          <p:cNvPr id="17" name="Rounded Rectangle 16"/>
          <p:cNvSpPr/>
          <p:nvPr/>
        </p:nvSpPr>
        <p:spPr>
          <a:xfrm>
            <a:off x="640080" y="3977639"/>
            <a:ext cx="3791857" cy="914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206240"/>
            <a:ext cx="3931920" cy="274320"/>
          </a:xfrm>
          <a:prstGeom prst="rect">
            <a:avLst/>
          </a:prstGeom>
          <a:noFill/>
        </p:spPr>
        <p:txBody>
          <a:bodyPr wrap="square">
            <a:spAutoFit/>
          </a:bodyPr>
          <a:lstStyle/>
          <a:p>
            <a:pPr algn="l">
              <a:defRPr sz="1100" b="1">
                <a:solidFill>
                  <a:srgbClr val="F0F2F8"/>
                </a:solidFill>
                <a:latin typeface="Calibri"/>
              </a:defRPr>
            </a:pPr>
            <a:r>
              <a:t>Natural B-Complex</a:t>
            </a:r>
          </a:p>
        </p:txBody>
      </p:sp>
      <p:sp>
        <p:nvSpPr>
          <p:cNvPr id="19" name="TextBox 18"/>
          <p:cNvSpPr txBox="1"/>
          <p:nvPr/>
        </p:nvSpPr>
        <p:spPr>
          <a:xfrm>
            <a:off x="4754880" y="4206240"/>
            <a:ext cx="914400" cy="274320"/>
          </a:xfrm>
          <a:prstGeom prst="rect">
            <a:avLst/>
          </a:prstGeom>
          <a:noFill/>
        </p:spPr>
        <p:txBody>
          <a:bodyPr wrap="square">
            <a:spAutoFit/>
          </a:bodyPr>
          <a:lstStyle/>
          <a:p>
            <a:pPr algn="r">
              <a:defRPr sz="1100" b="1">
                <a:solidFill>
                  <a:srgbClr val="F59E0B"/>
                </a:solidFill>
                <a:latin typeface="Calibri"/>
              </a:defRPr>
            </a:pPr>
            <a:r>
              <a:t>157 buc</a:t>
            </a:r>
          </a:p>
        </p:txBody>
      </p:sp>
      <p:sp>
        <p:nvSpPr>
          <p:cNvPr id="20" name="Rounded Rectangle 19"/>
          <p:cNvSpPr/>
          <p:nvPr/>
        </p:nvSpPr>
        <p:spPr>
          <a:xfrm>
            <a:off x="640080" y="4526279"/>
            <a:ext cx="2088847" cy="914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754879"/>
            <a:ext cx="3931920" cy="274320"/>
          </a:xfrm>
          <a:prstGeom prst="rect">
            <a:avLst/>
          </a:prstGeom>
          <a:noFill/>
        </p:spPr>
        <p:txBody>
          <a:bodyPr wrap="square">
            <a:spAutoFit/>
          </a:bodyPr>
          <a:lstStyle/>
          <a:p>
            <a:pPr algn="l">
              <a:defRPr sz="1100" b="1">
                <a:solidFill>
                  <a:srgbClr val="F0F2F8"/>
                </a:solidFill>
                <a:latin typeface="Calibri"/>
              </a:defRPr>
            </a:pPr>
            <a:r>
              <a:t>Vitamina C Premium 1000 mg</a:t>
            </a:r>
          </a:p>
        </p:txBody>
      </p:sp>
      <p:sp>
        <p:nvSpPr>
          <p:cNvPr id="22" name="TextBox 21"/>
          <p:cNvSpPr txBox="1"/>
          <p:nvPr/>
        </p:nvSpPr>
        <p:spPr>
          <a:xfrm>
            <a:off x="4754880" y="4754879"/>
            <a:ext cx="914400" cy="274320"/>
          </a:xfrm>
          <a:prstGeom prst="rect">
            <a:avLst/>
          </a:prstGeom>
          <a:noFill/>
        </p:spPr>
        <p:txBody>
          <a:bodyPr wrap="square">
            <a:spAutoFit/>
          </a:bodyPr>
          <a:lstStyle/>
          <a:p>
            <a:pPr algn="r">
              <a:defRPr sz="1100" b="1">
                <a:solidFill>
                  <a:srgbClr val="F59E0B"/>
                </a:solidFill>
                <a:latin typeface="Calibri"/>
              </a:defRPr>
            </a:pPr>
            <a:r>
              <a:t>121 buc</a:t>
            </a:r>
          </a:p>
        </p:txBody>
      </p:sp>
      <p:sp>
        <p:nvSpPr>
          <p:cNvPr id="23" name="Rounded Rectangle 22"/>
          <p:cNvSpPr/>
          <p:nvPr/>
        </p:nvSpPr>
        <p:spPr>
          <a:xfrm>
            <a:off x="640080" y="5074919"/>
            <a:ext cx="1609876" cy="914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303520"/>
            <a:ext cx="3931920" cy="274320"/>
          </a:xfrm>
          <a:prstGeom prst="rect">
            <a:avLst/>
          </a:prstGeom>
          <a:noFill/>
        </p:spPr>
        <p:txBody>
          <a:bodyPr wrap="square">
            <a:spAutoFit/>
          </a:bodyPr>
          <a:lstStyle/>
          <a:p>
            <a:pPr algn="l">
              <a:defRPr sz="1100" b="1">
                <a:solidFill>
                  <a:srgbClr val="F0F2F8"/>
                </a:solidFill>
                <a:latin typeface="Calibri"/>
              </a:defRPr>
            </a:pPr>
            <a:r>
              <a:t>Zinc Bisglicinat 25mg</a:t>
            </a:r>
          </a:p>
        </p:txBody>
      </p:sp>
      <p:sp>
        <p:nvSpPr>
          <p:cNvPr id="25" name="TextBox 24"/>
          <p:cNvSpPr txBox="1"/>
          <p:nvPr/>
        </p:nvSpPr>
        <p:spPr>
          <a:xfrm>
            <a:off x="4754880" y="5303520"/>
            <a:ext cx="914400" cy="274320"/>
          </a:xfrm>
          <a:prstGeom prst="rect">
            <a:avLst/>
          </a:prstGeom>
          <a:noFill/>
        </p:spPr>
        <p:txBody>
          <a:bodyPr wrap="square">
            <a:spAutoFit/>
          </a:bodyPr>
          <a:lstStyle/>
          <a:p>
            <a:pPr algn="r">
              <a:defRPr sz="1100" b="1">
                <a:solidFill>
                  <a:srgbClr val="F59E0B"/>
                </a:solidFill>
                <a:latin typeface="Calibri"/>
              </a:defRPr>
            </a:pPr>
            <a:r>
              <a:t>106 buc</a:t>
            </a:r>
          </a:p>
        </p:txBody>
      </p:sp>
      <p:sp>
        <p:nvSpPr>
          <p:cNvPr id="26" name="Rounded Rectangle 25"/>
          <p:cNvSpPr/>
          <p:nvPr/>
        </p:nvSpPr>
        <p:spPr>
          <a:xfrm>
            <a:off x="640080" y="5623559"/>
            <a:ext cx="1410304" cy="914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126480" y="2011680"/>
            <a:ext cx="5577840" cy="420624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26480" y="2011680"/>
            <a:ext cx="5577840" cy="365760"/>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9360" y="2057400"/>
            <a:ext cx="5029200" cy="274320"/>
          </a:xfrm>
          <a:prstGeom prst="rect">
            <a:avLst/>
          </a:prstGeom>
          <a:noFill/>
        </p:spPr>
        <p:txBody>
          <a:bodyPr wrap="square">
            <a:spAutoFit/>
          </a:bodyPr>
          <a:lstStyle/>
          <a:p>
            <a:pPr algn="l">
              <a:defRPr sz="1100" b="1">
                <a:solidFill>
                  <a:srgbClr val="8B5CF6"/>
                </a:solidFill>
                <a:latin typeface="Calibri"/>
              </a:defRPr>
            </a:pPr>
            <a:r>
              <a:t>🧬 LONGEVITATE &amp; ANTI-STRES</a:t>
            </a:r>
          </a:p>
        </p:txBody>
      </p:sp>
      <p:sp>
        <p:nvSpPr>
          <p:cNvPr id="30" name="TextBox 29"/>
          <p:cNvSpPr txBox="1"/>
          <p:nvPr/>
        </p:nvSpPr>
        <p:spPr>
          <a:xfrm>
            <a:off x="6309360" y="2560320"/>
            <a:ext cx="3931920" cy="274320"/>
          </a:xfrm>
          <a:prstGeom prst="rect">
            <a:avLst/>
          </a:prstGeom>
          <a:noFill/>
        </p:spPr>
        <p:txBody>
          <a:bodyPr wrap="square">
            <a:spAutoFit/>
          </a:bodyPr>
          <a:lstStyle/>
          <a:p>
            <a:pPr algn="l">
              <a:defRPr sz="1100" b="1">
                <a:solidFill>
                  <a:srgbClr val="F0F2F8"/>
                </a:solidFill>
                <a:latin typeface="Calibri"/>
              </a:defRPr>
            </a:pPr>
            <a:r>
              <a:t>NADH 25mg - 98% puritate</a:t>
            </a:r>
          </a:p>
        </p:txBody>
      </p:sp>
      <p:sp>
        <p:nvSpPr>
          <p:cNvPr id="31" name="TextBox 30"/>
          <p:cNvSpPr txBox="1"/>
          <p:nvPr/>
        </p:nvSpPr>
        <p:spPr>
          <a:xfrm>
            <a:off x="10607040" y="2560320"/>
            <a:ext cx="914400" cy="274320"/>
          </a:xfrm>
          <a:prstGeom prst="rect">
            <a:avLst/>
          </a:prstGeom>
          <a:noFill/>
        </p:spPr>
        <p:txBody>
          <a:bodyPr wrap="square">
            <a:spAutoFit/>
          </a:bodyPr>
          <a:lstStyle/>
          <a:p>
            <a:pPr algn="r">
              <a:defRPr sz="1100" b="1">
                <a:solidFill>
                  <a:srgbClr val="8B5CF6"/>
                </a:solidFill>
                <a:latin typeface="Calibri"/>
              </a:defRPr>
            </a:pPr>
            <a:r>
              <a:t>278 buc</a:t>
            </a:r>
          </a:p>
        </p:txBody>
      </p:sp>
      <p:sp>
        <p:nvSpPr>
          <p:cNvPr id="32" name="Rounded Rectangle 31"/>
          <p:cNvSpPr/>
          <p:nvPr/>
        </p:nvSpPr>
        <p:spPr>
          <a:xfrm>
            <a:off x="6309360" y="2880360"/>
            <a:ext cx="5212080" cy="914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0" y="3108960"/>
            <a:ext cx="3931920" cy="274320"/>
          </a:xfrm>
          <a:prstGeom prst="rect">
            <a:avLst/>
          </a:prstGeom>
          <a:noFill/>
        </p:spPr>
        <p:txBody>
          <a:bodyPr wrap="square">
            <a:spAutoFit/>
          </a:bodyPr>
          <a:lstStyle/>
          <a:p>
            <a:pPr algn="l">
              <a:defRPr sz="1100" b="1">
                <a:solidFill>
                  <a:srgbClr val="F0F2F8"/>
                </a:solidFill>
                <a:latin typeface="Calibri"/>
              </a:defRPr>
            </a:pPr>
            <a:r>
              <a:t>Resveratrol Veri-Te 500mg</a:t>
            </a:r>
          </a:p>
        </p:txBody>
      </p:sp>
      <p:sp>
        <p:nvSpPr>
          <p:cNvPr id="34" name="TextBox 33"/>
          <p:cNvSpPr txBox="1"/>
          <p:nvPr/>
        </p:nvSpPr>
        <p:spPr>
          <a:xfrm>
            <a:off x="10607040" y="3108960"/>
            <a:ext cx="914400" cy="274320"/>
          </a:xfrm>
          <a:prstGeom prst="rect">
            <a:avLst/>
          </a:prstGeom>
          <a:noFill/>
        </p:spPr>
        <p:txBody>
          <a:bodyPr wrap="square">
            <a:spAutoFit/>
          </a:bodyPr>
          <a:lstStyle/>
          <a:p>
            <a:pPr algn="r">
              <a:defRPr sz="1100" b="1">
                <a:solidFill>
                  <a:srgbClr val="8B5CF6"/>
                </a:solidFill>
                <a:latin typeface="Calibri"/>
              </a:defRPr>
            </a:pPr>
            <a:r>
              <a:t>184 buc</a:t>
            </a:r>
          </a:p>
        </p:txBody>
      </p:sp>
      <p:sp>
        <p:nvSpPr>
          <p:cNvPr id="35" name="Rounded Rectangle 34"/>
          <p:cNvSpPr/>
          <p:nvPr/>
        </p:nvSpPr>
        <p:spPr>
          <a:xfrm>
            <a:off x="6309360" y="3429000"/>
            <a:ext cx="3449722" cy="914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9360" y="3657600"/>
            <a:ext cx="3931920" cy="274320"/>
          </a:xfrm>
          <a:prstGeom prst="rect">
            <a:avLst/>
          </a:prstGeom>
          <a:noFill/>
        </p:spPr>
        <p:txBody>
          <a:bodyPr wrap="square">
            <a:spAutoFit/>
          </a:bodyPr>
          <a:lstStyle/>
          <a:p>
            <a:pPr algn="l">
              <a:defRPr sz="1100" b="1">
                <a:solidFill>
                  <a:srgbClr val="F0F2F8"/>
                </a:solidFill>
                <a:latin typeface="Calibri"/>
              </a:defRPr>
            </a:pPr>
            <a:r>
              <a:t>Colagen natural tip I și III</a:t>
            </a:r>
          </a:p>
        </p:txBody>
      </p:sp>
      <p:sp>
        <p:nvSpPr>
          <p:cNvPr id="37" name="TextBox 36"/>
          <p:cNvSpPr txBox="1"/>
          <p:nvPr/>
        </p:nvSpPr>
        <p:spPr>
          <a:xfrm>
            <a:off x="10607040" y="3657600"/>
            <a:ext cx="914400" cy="274320"/>
          </a:xfrm>
          <a:prstGeom prst="rect">
            <a:avLst/>
          </a:prstGeom>
          <a:noFill/>
        </p:spPr>
        <p:txBody>
          <a:bodyPr wrap="square">
            <a:spAutoFit/>
          </a:bodyPr>
          <a:lstStyle/>
          <a:p>
            <a:pPr algn="r">
              <a:defRPr sz="1100" b="1">
                <a:solidFill>
                  <a:srgbClr val="8B5CF6"/>
                </a:solidFill>
                <a:latin typeface="Calibri"/>
              </a:defRPr>
            </a:pPr>
            <a:r>
              <a:t>179 buc</a:t>
            </a:r>
          </a:p>
        </p:txBody>
      </p:sp>
      <p:sp>
        <p:nvSpPr>
          <p:cNvPr id="38" name="Rounded Rectangle 37"/>
          <p:cNvSpPr/>
          <p:nvPr/>
        </p:nvSpPr>
        <p:spPr>
          <a:xfrm>
            <a:off x="6309360" y="3977639"/>
            <a:ext cx="3355979" cy="914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09360" y="4206240"/>
            <a:ext cx="3931920" cy="274320"/>
          </a:xfrm>
          <a:prstGeom prst="rect">
            <a:avLst/>
          </a:prstGeom>
          <a:noFill/>
        </p:spPr>
        <p:txBody>
          <a:bodyPr wrap="square">
            <a:spAutoFit/>
          </a:bodyPr>
          <a:lstStyle/>
          <a:p>
            <a:pPr algn="l">
              <a:defRPr sz="1100" b="1">
                <a:solidFill>
                  <a:srgbClr val="F0F2F8"/>
                </a:solidFill>
                <a:latin typeface="Calibri"/>
              </a:defRPr>
            </a:pPr>
            <a:r>
              <a:t>Berberină 400mg</a:t>
            </a:r>
          </a:p>
        </p:txBody>
      </p:sp>
      <p:sp>
        <p:nvSpPr>
          <p:cNvPr id="40" name="TextBox 39"/>
          <p:cNvSpPr txBox="1"/>
          <p:nvPr/>
        </p:nvSpPr>
        <p:spPr>
          <a:xfrm>
            <a:off x="10607040" y="4206240"/>
            <a:ext cx="914400" cy="274320"/>
          </a:xfrm>
          <a:prstGeom prst="rect">
            <a:avLst/>
          </a:prstGeom>
          <a:noFill/>
        </p:spPr>
        <p:txBody>
          <a:bodyPr wrap="square">
            <a:spAutoFit/>
          </a:bodyPr>
          <a:lstStyle/>
          <a:p>
            <a:pPr algn="r">
              <a:defRPr sz="1100" b="1">
                <a:solidFill>
                  <a:srgbClr val="8B5CF6"/>
                </a:solidFill>
                <a:latin typeface="Calibri"/>
              </a:defRPr>
            </a:pPr>
            <a:r>
              <a:t>173 buc</a:t>
            </a:r>
          </a:p>
        </p:txBody>
      </p:sp>
      <p:sp>
        <p:nvSpPr>
          <p:cNvPr id="41" name="Rounded Rectangle 40"/>
          <p:cNvSpPr/>
          <p:nvPr/>
        </p:nvSpPr>
        <p:spPr>
          <a:xfrm>
            <a:off x="6309360" y="4526279"/>
            <a:ext cx="3243488" cy="914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09360" y="4754879"/>
            <a:ext cx="3931920" cy="274320"/>
          </a:xfrm>
          <a:prstGeom prst="rect">
            <a:avLst/>
          </a:prstGeom>
          <a:noFill/>
        </p:spPr>
        <p:txBody>
          <a:bodyPr wrap="square">
            <a:spAutoFit/>
          </a:bodyPr>
          <a:lstStyle/>
          <a:p>
            <a:pPr algn="l">
              <a:defRPr sz="1100" b="1">
                <a:solidFill>
                  <a:srgbClr val="F0F2F8"/>
                </a:solidFill>
                <a:latin typeface="Calibri"/>
              </a:defRPr>
            </a:pPr>
            <a:r>
              <a:t>Ashwagandha KSM-66®</a:t>
            </a:r>
          </a:p>
        </p:txBody>
      </p:sp>
      <p:sp>
        <p:nvSpPr>
          <p:cNvPr id="43" name="TextBox 42"/>
          <p:cNvSpPr txBox="1"/>
          <p:nvPr/>
        </p:nvSpPr>
        <p:spPr>
          <a:xfrm>
            <a:off x="10607040" y="4754879"/>
            <a:ext cx="914400" cy="274320"/>
          </a:xfrm>
          <a:prstGeom prst="rect">
            <a:avLst/>
          </a:prstGeom>
          <a:noFill/>
        </p:spPr>
        <p:txBody>
          <a:bodyPr wrap="square">
            <a:spAutoFit/>
          </a:bodyPr>
          <a:lstStyle/>
          <a:p>
            <a:pPr algn="r">
              <a:defRPr sz="1100" b="1">
                <a:solidFill>
                  <a:srgbClr val="8B5CF6"/>
                </a:solidFill>
                <a:latin typeface="Calibri"/>
              </a:defRPr>
            </a:pPr>
            <a:r>
              <a:t>160 buc</a:t>
            </a:r>
          </a:p>
        </p:txBody>
      </p:sp>
      <p:sp>
        <p:nvSpPr>
          <p:cNvPr id="44" name="Rounded Rectangle 43"/>
          <p:cNvSpPr/>
          <p:nvPr/>
        </p:nvSpPr>
        <p:spPr>
          <a:xfrm>
            <a:off x="6309360" y="5074919"/>
            <a:ext cx="2999758" cy="914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09360" y="5303520"/>
            <a:ext cx="3931920" cy="274320"/>
          </a:xfrm>
          <a:prstGeom prst="rect">
            <a:avLst/>
          </a:prstGeom>
          <a:noFill/>
        </p:spPr>
        <p:txBody>
          <a:bodyPr wrap="square">
            <a:spAutoFit/>
          </a:bodyPr>
          <a:lstStyle/>
          <a:p>
            <a:pPr algn="l">
              <a:defRPr sz="1100" b="1">
                <a:solidFill>
                  <a:srgbClr val="F0F2F8"/>
                </a:solidFill>
                <a:latin typeface="Calibri"/>
              </a:defRPr>
            </a:pPr>
            <a:r>
              <a:t>Coenzima Q10 200mg</a:t>
            </a:r>
          </a:p>
        </p:txBody>
      </p:sp>
      <p:sp>
        <p:nvSpPr>
          <p:cNvPr id="46" name="TextBox 45"/>
          <p:cNvSpPr txBox="1"/>
          <p:nvPr/>
        </p:nvSpPr>
        <p:spPr>
          <a:xfrm>
            <a:off x="10607040" y="5303520"/>
            <a:ext cx="914400" cy="274320"/>
          </a:xfrm>
          <a:prstGeom prst="rect">
            <a:avLst/>
          </a:prstGeom>
          <a:noFill/>
        </p:spPr>
        <p:txBody>
          <a:bodyPr wrap="square">
            <a:spAutoFit/>
          </a:bodyPr>
          <a:lstStyle/>
          <a:p>
            <a:pPr algn="r">
              <a:defRPr sz="1100" b="1">
                <a:solidFill>
                  <a:srgbClr val="8B5CF6"/>
                </a:solidFill>
                <a:latin typeface="Calibri"/>
              </a:defRPr>
            </a:pPr>
            <a:r>
              <a:t>128 buc</a:t>
            </a:r>
          </a:p>
        </p:txBody>
      </p:sp>
      <p:sp>
        <p:nvSpPr>
          <p:cNvPr id="47" name="Rounded Rectangle 46"/>
          <p:cNvSpPr/>
          <p:nvPr/>
        </p:nvSpPr>
        <p:spPr>
          <a:xfrm>
            <a:off x="6309360" y="5623559"/>
            <a:ext cx="2399806" cy="914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 y="6473952"/>
            <a:ext cx="10972800" cy="274320"/>
          </a:xfrm>
          <a:prstGeom prst="rect">
            <a:avLst/>
          </a:prstGeom>
          <a:noFill/>
        </p:spPr>
        <p:txBody>
          <a:bodyPr wrap="square">
            <a:spAutoFit/>
          </a:bodyPr>
          <a:lstStyle/>
          <a:p>
            <a:pPr algn="l">
              <a:defRPr sz="1000" b="0">
                <a:solidFill>
                  <a:srgbClr val="10B981"/>
                </a:solidFill>
                <a:latin typeface="Calibri"/>
              </a:defRPr>
            </a:pPr>
            <a:r>
              <a:t>💡 Concluzie: Trinitatea (Mag, Omega, D3) domină, dar cumpărătorii independenți sunt educați pe compuși de longevitate (NADH #4!).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SHOPIFY — PURCHASING BEHAVIOR</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La cât timp revin clienții OTP (Cumpărături Manuale)?</a:t>
            </a:r>
          </a:p>
        </p:txBody>
      </p:sp>
      <p:sp>
        <p:nvSpPr>
          <p:cNvPr id="4" name="Rounded Rectangle 3"/>
          <p:cNvSpPr/>
          <p:nvPr/>
        </p:nvSpPr>
        <p:spPr>
          <a:xfrm>
            <a:off x="457200" y="1371600"/>
            <a:ext cx="11247120" cy="36576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972800" cy="274320"/>
          </a:xfrm>
          <a:prstGeom prst="rect">
            <a:avLst/>
          </a:prstGeom>
          <a:noFill/>
        </p:spPr>
        <p:txBody>
          <a:bodyPr wrap="square">
            <a:spAutoFit/>
          </a:bodyPr>
          <a:lstStyle/>
          <a:p>
            <a:pPr algn="l">
              <a:defRPr sz="1100" b="0">
                <a:solidFill>
                  <a:srgbClr val="F0F2F8"/>
                </a:solidFill>
                <a:latin typeface="Calibri"/>
              </a:defRPr>
            </a:pPr>
            <a:r>
              <a:t>Din 5,545 comenzi OTP (2025–2026), ~3,594 reprezintă achiziția inițială (foarte mulți oprindu-se la first order). Graficul de mai jos analizează restul de 1,951 de recumpărări pentru a stabili la ce interval de zile se întoarce clientul fidel:</a:t>
            </a:r>
          </a:p>
        </p:txBody>
      </p:sp>
      <p:sp>
        <p:nvSpPr>
          <p:cNvPr id="6" name="Rounded Rectangle 5"/>
          <p:cNvSpPr/>
          <p:nvPr/>
        </p:nvSpPr>
        <p:spPr>
          <a:xfrm>
            <a:off x="457200" y="1920240"/>
            <a:ext cx="7772400" cy="42976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920240"/>
            <a:ext cx="73152" cy="42976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011680"/>
            <a:ext cx="7315200" cy="365760"/>
          </a:xfrm>
          <a:prstGeom prst="rect">
            <a:avLst/>
          </a:prstGeom>
          <a:noFill/>
        </p:spPr>
        <p:txBody>
          <a:bodyPr wrap="square">
            <a:spAutoFit/>
          </a:bodyPr>
          <a:lstStyle/>
          <a:p>
            <a:pPr algn="l">
              <a:defRPr sz="1600" b="1">
                <a:solidFill>
                  <a:srgbClr val="6366F1"/>
                </a:solidFill>
                <a:latin typeface="Calibri"/>
              </a:defRPr>
            </a:pPr>
            <a:r>
              <a:t>COMENZI NORMALE (fără tag-ul de 3 luni)</a:t>
            </a:r>
          </a:p>
        </p:txBody>
      </p:sp>
      <p:sp>
        <p:nvSpPr>
          <p:cNvPr id="9" name="TextBox 8"/>
          <p:cNvSpPr txBox="1"/>
          <p:nvPr/>
        </p:nvSpPr>
        <p:spPr>
          <a:xfrm>
            <a:off x="731520" y="2468880"/>
            <a:ext cx="4114800" cy="274320"/>
          </a:xfrm>
          <a:prstGeom prst="rect">
            <a:avLst/>
          </a:prstGeom>
          <a:noFill/>
        </p:spPr>
        <p:txBody>
          <a:bodyPr wrap="square">
            <a:spAutoFit/>
          </a:bodyPr>
          <a:lstStyle/>
          <a:p>
            <a:pPr algn="l">
              <a:defRPr sz="1100" b="1">
                <a:solidFill>
                  <a:srgbClr val="8B95B0"/>
                </a:solidFill>
                <a:latin typeface="Calibri"/>
              </a:defRPr>
            </a:pPr>
            <a:r>
              <a:t>INTERVAL MEDIU (ZILE):</a:t>
            </a:r>
          </a:p>
        </p:txBody>
      </p:sp>
      <p:sp>
        <p:nvSpPr>
          <p:cNvPr id="10" name="TextBox 9"/>
          <p:cNvSpPr txBox="1"/>
          <p:nvPr/>
        </p:nvSpPr>
        <p:spPr>
          <a:xfrm>
            <a:off x="731520" y="2743200"/>
            <a:ext cx="4114800" cy="731520"/>
          </a:xfrm>
          <a:prstGeom prst="rect">
            <a:avLst/>
          </a:prstGeom>
          <a:noFill/>
        </p:spPr>
        <p:txBody>
          <a:bodyPr wrap="square">
            <a:spAutoFit/>
          </a:bodyPr>
          <a:lstStyle/>
          <a:p>
            <a:pPr algn="l">
              <a:defRPr sz="4200" b="1">
                <a:solidFill>
                  <a:srgbClr val="6366F1"/>
                </a:solidFill>
                <a:latin typeface="Calibri"/>
              </a:defRPr>
            </a:pPr>
            <a:r>
              <a:t>53.2</a:t>
            </a:r>
          </a:p>
        </p:txBody>
      </p:sp>
      <p:sp>
        <p:nvSpPr>
          <p:cNvPr id="11" name="TextBox 10"/>
          <p:cNvSpPr txBox="1"/>
          <p:nvPr/>
        </p:nvSpPr>
        <p:spPr>
          <a:xfrm>
            <a:off x="2468880" y="3200400"/>
            <a:ext cx="1828800" cy="274320"/>
          </a:xfrm>
          <a:prstGeom prst="rect">
            <a:avLst/>
          </a:prstGeom>
          <a:noFill/>
        </p:spPr>
        <p:txBody>
          <a:bodyPr wrap="square">
            <a:spAutoFit/>
          </a:bodyPr>
          <a:lstStyle/>
          <a:p>
            <a:pPr algn="l">
              <a:defRPr sz="1200" b="1">
                <a:solidFill>
                  <a:srgbClr val="6366F1"/>
                </a:solidFill>
                <a:latin typeface="Calibri"/>
              </a:defRPr>
            </a:pPr>
            <a:r>
              <a:t>~1.8 luni</a:t>
            </a:r>
          </a:p>
        </p:txBody>
      </p:sp>
      <p:sp>
        <p:nvSpPr>
          <p:cNvPr id="12" name="TextBox 11"/>
          <p:cNvSpPr txBox="1"/>
          <p:nvPr/>
        </p:nvSpPr>
        <p:spPr>
          <a:xfrm>
            <a:off x="4114800" y="2468880"/>
            <a:ext cx="4114800" cy="274320"/>
          </a:xfrm>
          <a:prstGeom prst="rect">
            <a:avLst/>
          </a:prstGeom>
          <a:noFill/>
        </p:spPr>
        <p:txBody>
          <a:bodyPr wrap="square">
            <a:spAutoFit/>
          </a:bodyPr>
          <a:lstStyle/>
          <a:p>
            <a:pPr algn="l">
              <a:defRPr sz="1100" b="1">
                <a:solidFill>
                  <a:srgbClr val="8B95B0"/>
                </a:solidFill>
                <a:latin typeface="Calibri"/>
              </a:defRPr>
            </a:pPr>
            <a:r>
              <a:t>MEDIANA (ZILE):</a:t>
            </a:r>
          </a:p>
        </p:txBody>
      </p:sp>
      <p:sp>
        <p:nvSpPr>
          <p:cNvPr id="13" name="TextBox 12"/>
          <p:cNvSpPr txBox="1"/>
          <p:nvPr/>
        </p:nvSpPr>
        <p:spPr>
          <a:xfrm>
            <a:off x="4114800" y="2743200"/>
            <a:ext cx="4114800" cy="731520"/>
          </a:xfrm>
          <a:prstGeom prst="rect">
            <a:avLst/>
          </a:prstGeom>
          <a:noFill/>
        </p:spPr>
        <p:txBody>
          <a:bodyPr wrap="square">
            <a:spAutoFit/>
          </a:bodyPr>
          <a:lstStyle/>
          <a:p>
            <a:pPr algn="l">
              <a:defRPr sz="4200" b="1">
                <a:solidFill>
                  <a:srgbClr val="10B981"/>
                </a:solidFill>
                <a:latin typeface="Calibri"/>
              </a:defRPr>
            </a:pPr>
            <a:r>
              <a:t>36.0</a:t>
            </a:r>
          </a:p>
        </p:txBody>
      </p:sp>
      <p:sp>
        <p:nvSpPr>
          <p:cNvPr id="14" name="TextBox 13"/>
          <p:cNvSpPr txBox="1"/>
          <p:nvPr/>
        </p:nvSpPr>
        <p:spPr>
          <a:xfrm>
            <a:off x="5852160" y="3200400"/>
            <a:ext cx="1828800" cy="274320"/>
          </a:xfrm>
          <a:prstGeom prst="rect">
            <a:avLst/>
          </a:prstGeom>
          <a:noFill/>
        </p:spPr>
        <p:txBody>
          <a:bodyPr wrap="square">
            <a:spAutoFit/>
          </a:bodyPr>
          <a:lstStyle/>
          <a:p>
            <a:pPr algn="l">
              <a:defRPr sz="1200" b="1">
                <a:solidFill>
                  <a:srgbClr val="10B981"/>
                </a:solidFill>
                <a:latin typeface="Calibri"/>
              </a:defRPr>
            </a:pPr>
            <a:r>
              <a:t>Cei mai multi</a:t>
            </a:r>
          </a:p>
        </p:txBody>
      </p:sp>
      <p:sp>
        <p:nvSpPr>
          <p:cNvPr id="15" name="TextBox 14"/>
          <p:cNvSpPr txBox="1"/>
          <p:nvPr/>
        </p:nvSpPr>
        <p:spPr>
          <a:xfrm>
            <a:off x="731520" y="3657600"/>
            <a:ext cx="7315200" cy="274320"/>
          </a:xfrm>
          <a:prstGeom prst="rect">
            <a:avLst/>
          </a:prstGeom>
          <a:noFill/>
        </p:spPr>
        <p:txBody>
          <a:bodyPr wrap="square">
            <a:spAutoFit/>
          </a:bodyPr>
          <a:lstStyle/>
          <a:p>
            <a:pPr algn="l">
              <a:defRPr sz="1100" b="1">
                <a:solidFill>
                  <a:srgbClr val="8B95B0"/>
                </a:solidFill>
                <a:latin typeface="Calibri"/>
              </a:defRPr>
            </a:pPr>
            <a:r>
              <a:t>DISTRIBUȚIA RECURENȚEI</a:t>
            </a:r>
          </a:p>
        </p:txBody>
      </p:sp>
      <p:sp>
        <p:nvSpPr>
          <p:cNvPr id="16" name="TextBox 15"/>
          <p:cNvSpPr txBox="1"/>
          <p:nvPr/>
        </p:nvSpPr>
        <p:spPr>
          <a:xfrm>
            <a:off x="731520" y="4023360"/>
            <a:ext cx="1371600" cy="274320"/>
          </a:xfrm>
          <a:prstGeom prst="rect">
            <a:avLst/>
          </a:prstGeom>
          <a:noFill/>
        </p:spPr>
        <p:txBody>
          <a:bodyPr wrap="square">
            <a:spAutoFit/>
          </a:bodyPr>
          <a:lstStyle/>
          <a:p>
            <a:pPr algn="l">
              <a:defRPr sz="1100" b="1">
                <a:solidFill>
                  <a:srgbClr val="F0F2F8"/>
                </a:solidFill>
                <a:latin typeface="Calibri"/>
              </a:defRPr>
            </a:pPr>
            <a:r>
              <a:t>&lt; 30 zile</a:t>
            </a:r>
          </a:p>
        </p:txBody>
      </p:sp>
      <p:sp>
        <p:nvSpPr>
          <p:cNvPr id="17" name="Rounded Rectangle 16"/>
          <p:cNvSpPr/>
          <p:nvPr/>
        </p:nvSpPr>
        <p:spPr>
          <a:xfrm>
            <a:off x="2194560" y="4069080"/>
            <a:ext cx="3657600" cy="20116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194560" y="4069080"/>
            <a:ext cx="2823856" cy="20116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577840" y="4023360"/>
            <a:ext cx="1828800" cy="274320"/>
          </a:xfrm>
          <a:prstGeom prst="rect">
            <a:avLst/>
          </a:prstGeom>
          <a:noFill/>
        </p:spPr>
        <p:txBody>
          <a:bodyPr wrap="square">
            <a:spAutoFit/>
          </a:bodyPr>
          <a:lstStyle/>
          <a:p>
            <a:pPr algn="l">
              <a:defRPr sz="1100" b="1">
                <a:solidFill>
                  <a:srgbClr val="F0F2F8"/>
                </a:solidFill>
                <a:latin typeface="Calibri"/>
              </a:defRPr>
            </a:pPr>
            <a:r>
              <a:t>531 (28%)</a:t>
            </a:r>
          </a:p>
        </p:txBody>
      </p:sp>
      <p:sp>
        <p:nvSpPr>
          <p:cNvPr id="20" name="TextBox 19"/>
          <p:cNvSpPr txBox="1"/>
          <p:nvPr/>
        </p:nvSpPr>
        <p:spPr>
          <a:xfrm>
            <a:off x="731520" y="4407408"/>
            <a:ext cx="1371600" cy="274320"/>
          </a:xfrm>
          <a:prstGeom prst="rect">
            <a:avLst/>
          </a:prstGeom>
          <a:noFill/>
        </p:spPr>
        <p:txBody>
          <a:bodyPr wrap="square">
            <a:spAutoFit/>
          </a:bodyPr>
          <a:lstStyle/>
          <a:p>
            <a:pPr algn="l">
              <a:defRPr sz="1100" b="1">
                <a:solidFill>
                  <a:srgbClr val="F0F2F8"/>
                </a:solidFill>
                <a:latin typeface="Calibri"/>
              </a:defRPr>
            </a:pPr>
            <a:r>
              <a:t>30 - 45 zile</a:t>
            </a:r>
          </a:p>
        </p:txBody>
      </p:sp>
      <p:sp>
        <p:nvSpPr>
          <p:cNvPr id="21" name="Rounded Rectangle 20"/>
          <p:cNvSpPr/>
          <p:nvPr/>
        </p:nvSpPr>
        <p:spPr>
          <a:xfrm>
            <a:off x="2194560" y="4453128"/>
            <a:ext cx="3657600" cy="20116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194560" y="4453128"/>
            <a:ext cx="3291840" cy="20116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77840" y="4407408"/>
            <a:ext cx="1828800" cy="274320"/>
          </a:xfrm>
          <a:prstGeom prst="rect">
            <a:avLst/>
          </a:prstGeom>
          <a:noFill/>
        </p:spPr>
        <p:txBody>
          <a:bodyPr wrap="square">
            <a:spAutoFit/>
          </a:bodyPr>
          <a:lstStyle/>
          <a:p>
            <a:pPr algn="l">
              <a:defRPr sz="1100" b="1">
                <a:solidFill>
                  <a:srgbClr val="F0F2F8"/>
                </a:solidFill>
                <a:latin typeface="Calibri"/>
              </a:defRPr>
            </a:pPr>
            <a:r>
              <a:t>619 (32%)</a:t>
            </a:r>
          </a:p>
        </p:txBody>
      </p:sp>
      <p:sp>
        <p:nvSpPr>
          <p:cNvPr id="24" name="TextBox 23"/>
          <p:cNvSpPr txBox="1"/>
          <p:nvPr/>
        </p:nvSpPr>
        <p:spPr>
          <a:xfrm>
            <a:off x="731520" y="4791456"/>
            <a:ext cx="1371600" cy="274320"/>
          </a:xfrm>
          <a:prstGeom prst="rect">
            <a:avLst/>
          </a:prstGeom>
          <a:noFill/>
        </p:spPr>
        <p:txBody>
          <a:bodyPr wrap="square">
            <a:spAutoFit/>
          </a:bodyPr>
          <a:lstStyle/>
          <a:p>
            <a:pPr algn="l">
              <a:defRPr sz="1100" b="1">
                <a:solidFill>
                  <a:srgbClr val="F0F2F8"/>
                </a:solidFill>
                <a:latin typeface="Calibri"/>
              </a:defRPr>
            </a:pPr>
            <a:r>
              <a:t>45 - 60 zile</a:t>
            </a:r>
          </a:p>
        </p:txBody>
      </p:sp>
      <p:sp>
        <p:nvSpPr>
          <p:cNvPr id="25" name="Rounded Rectangle 24"/>
          <p:cNvSpPr/>
          <p:nvPr/>
        </p:nvSpPr>
        <p:spPr>
          <a:xfrm>
            <a:off x="2194560" y="4837176"/>
            <a:ext cx="3657600" cy="20116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194560" y="4837176"/>
            <a:ext cx="1127415" cy="201168"/>
          </a:xfrm>
          <a:prstGeom prst="round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577840" y="4791456"/>
            <a:ext cx="1828800" cy="274320"/>
          </a:xfrm>
          <a:prstGeom prst="rect">
            <a:avLst/>
          </a:prstGeom>
          <a:noFill/>
        </p:spPr>
        <p:txBody>
          <a:bodyPr wrap="square">
            <a:spAutoFit/>
          </a:bodyPr>
          <a:lstStyle/>
          <a:p>
            <a:pPr algn="l">
              <a:defRPr sz="1100" b="1">
                <a:solidFill>
                  <a:srgbClr val="F0F2F8"/>
                </a:solidFill>
                <a:latin typeface="Calibri"/>
              </a:defRPr>
            </a:pPr>
            <a:r>
              <a:t>212 (11%)</a:t>
            </a:r>
          </a:p>
        </p:txBody>
      </p:sp>
      <p:sp>
        <p:nvSpPr>
          <p:cNvPr id="28" name="TextBox 27"/>
          <p:cNvSpPr txBox="1"/>
          <p:nvPr/>
        </p:nvSpPr>
        <p:spPr>
          <a:xfrm>
            <a:off x="731520" y="5175504"/>
            <a:ext cx="1371600" cy="274320"/>
          </a:xfrm>
          <a:prstGeom prst="rect">
            <a:avLst/>
          </a:prstGeom>
          <a:noFill/>
        </p:spPr>
        <p:txBody>
          <a:bodyPr wrap="square">
            <a:spAutoFit/>
          </a:bodyPr>
          <a:lstStyle/>
          <a:p>
            <a:pPr algn="l">
              <a:defRPr sz="1100" b="1">
                <a:solidFill>
                  <a:srgbClr val="F0F2F8"/>
                </a:solidFill>
                <a:latin typeface="Calibri"/>
              </a:defRPr>
            </a:pPr>
            <a:r>
              <a:t>60 - 90 zile</a:t>
            </a:r>
          </a:p>
        </p:txBody>
      </p:sp>
      <p:sp>
        <p:nvSpPr>
          <p:cNvPr id="29" name="Rounded Rectangle 28"/>
          <p:cNvSpPr/>
          <p:nvPr/>
        </p:nvSpPr>
        <p:spPr>
          <a:xfrm>
            <a:off x="2194560" y="5221224"/>
            <a:ext cx="3657600" cy="20116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2194560" y="5221224"/>
            <a:ext cx="930649" cy="201168"/>
          </a:xfrm>
          <a:prstGeom prst="round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577840" y="5175504"/>
            <a:ext cx="1828800" cy="274320"/>
          </a:xfrm>
          <a:prstGeom prst="rect">
            <a:avLst/>
          </a:prstGeom>
          <a:noFill/>
        </p:spPr>
        <p:txBody>
          <a:bodyPr wrap="square">
            <a:spAutoFit/>
          </a:bodyPr>
          <a:lstStyle/>
          <a:p>
            <a:pPr algn="l">
              <a:defRPr sz="1100" b="1">
                <a:solidFill>
                  <a:srgbClr val="F0F2F8"/>
                </a:solidFill>
                <a:latin typeface="Calibri"/>
              </a:defRPr>
            </a:pPr>
            <a:r>
              <a:t>175 (9%)</a:t>
            </a:r>
          </a:p>
        </p:txBody>
      </p:sp>
      <p:sp>
        <p:nvSpPr>
          <p:cNvPr id="32" name="TextBox 31"/>
          <p:cNvSpPr txBox="1"/>
          <p:nvPr/>
        </p:nvSpPr>
        <p:spPr>
          <a:xfrm>
            <a:off x="731520" y="5559552"/>
            <a:ext cx="1371600" cy="274320"/>
          </a:xfrm>
          <a:prstGeom prst="rect">
            <a:avLst/>
          </a:prstGeom>
          <a:noFill/>
        </p:spPr>
        <p:txBody>
          <a:bodyPr wrap="square">
            <a:spAutoFit/>
          </a:bodyPr>
          <a:lstStyle/>
          <a:p>
            <a:pPr algn="l">
              <a:defRPr sz="1100" b="1">
                <a:solidFill>
                  <a:srgbClr val="F0F2F8"/>
                </a:solidFill>
                <a:latin typeface="Calibri"/>
              </a:defRPr>
            </a:pPr>
            <a:r>
              <a:t>90 - 120 zile</a:t>
            </a:r>
          </a:p>
        </p:txBody>
      </p:sp>
      <p:sp>
        <p:nvSpPr>
          <p:cNvPr id="33" name="Rounded Rectangle 32"/>
          <p:cNvSpPr/>
          <p:nvPr/>
        </p:nvSpPr>
        <p:spPr>
          <a:xfrm>
            <a:off x="2194560" y="5605272"/>
            <a:ext cx="3657600" cy="201168"/>
          </a:xfrm>
          <a:prstGeom prst="roundRect">
            <a:avLst/>
          </a:prstGeom>
          <a:solidFill>
            <a:srgbClr val="15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2194560" y="5605272"/>
            <a:ext cx="505209" cy="201168"/>
          </a:xfrm>
          <a:prstGeom prst="round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577840" y="5559552"/>
            <a:ext cx="1828800" cy="274320"/>
          </a:xfrm>
          <a:prstGeom prst="rect">
            <a:avLst/>
          </a:prstGeom>
          <a:noFill/>
        </p:spPr>
        <p:txBody>
          <a:bodyPr wrap="square">
            <a:spAutoFit/>
          </a:bodyPr>
          <a:lstStyle/>
          <a:p>
            <a:pPr algn="l">
              <a:defRPr sz="1100" b="1">
                <a:solidFill>
                  <a:srgbClr val="F0F2F8"/>
                </a:solidFill>
                <a:latin typeface="Calibri"/>
              </a:defRPr>
            </a:pPr>
            <a:r>
              <a:t>95 (5%)</a:t>
            </a:r>
          </a:p>
        </p:txBody>
      </p:sp>
      <p:sp>
        <p:nvSpPr>
          <p:cNvPr id="36" name="Rounded Rectangle 35"/>
          <p:cNvSpPr/>
          <p:nvPr/>
        </p:nvSpPr>
        <p:spPr>
          <a:xfrm>
            <a:off x="8412480" y="1920240"/>
            <a:ext cx="3291840" cy="42976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412480" y="1920240"/>
            <a:ext cx="73152" cy="429768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86800" y="2011680"/>
            <a:ext cx="2834640" cy="365760"/>
          </a:xfrm>
          <a:prstGeom prst="rect">
            <a:avLst/>
          </a:prstGeom>
          <a:noFill/>
        </p:spPr>
        <p:txBody>
          <a:bodyPr wrap="square">
            <a:spAutoFit/>
          </a:bodyPr>
          <a:lstStyle/>
          <a:p>
            <a:pPr algn="l">
              <a:defRPr sz="1400" b="1">
                <a:solidFill>
                  <a:srgbClr val="EC4899"/>
                </a:solidFill>
                <a:latin typeface="Calibri"/>
              </a:defRPr>
            </a:pPr>
            <a:r>
              <a:t>COMENZI 'TREI LUNI'</a:t>
            </a:r>
          </a:p>
        </p:txBody>
      </p:sp>
      <p:sp>
        <p:nvSpPr>
          <p:cNvPr id="39" name="TextBox 38"/>
          <p:cNvSpPr txBox="1"/>
          <p:nvPr/>
        </p:nvSpPr>
        <p:spPr>
          <a:xfrm>
            <a:off x="8686800" y="2468880"/>
            <a:ext cx="2834640" cy="274320"/>
          </a:xfrm>
          <a:prstGeom prst="rect">
            <a:avLst/>
          </a:prstGeom>
          <a:noFill/>
        </p:spPr>
        <p:txBody>
          <a:bodyPr wrap="square">
            <a:spAutoFit/>
          </a:bodyPr>
          <a:lstStyle/>
          <a:p>
            <a:pPr algn="l">
              <a:defRPr sz="1100" b="1">
                <a:solidFill>
                  <a:srgbClr val="8B95B0"/>
                </a:solidFill>
                <a:latin typeface="Calibri"/>
              </a:defRPr>
            </a:pPr>
            <a:r>
              <a:t>INTERVAL MEDIU:</a:t>
            </a:r>
          </a:p>
        </p:txBody>
      </p:sp>
      <p:sp>
        <p:nvSpPr>
          <p:cNvPr id="40" name="TextBox 39"/>
          <p:cNvSpPr txBox="1"/>
          <p:nvPr/>
        </p:nvSpPr>
        <p:spPr>
          <a:xfrm>
            <a:off x="8686800" y="2743200"/>
            <a:ext cx="2834640" cy="731520"/>
          </a:xfrm>
          <a:prstGeom prst="rect">
            <a:avLst/>
          </a:prstGeom>
          <a:noFill/>
        </p:spPr>
        <p:txBody>
          <a:bodyPr wrap="square">
            <a:spAutoFit/>
          </a:bodyPr>
          <a:lstStyle/>
          <a:p>
            <a:pPr algn="l">
              <a:defRPr sz="4200" b="1">
                <a:solidFill>
                  <a:srgbClr val="EC4899"/>
                </a:solidFill>
                <a:latin typeface="Calibri"/>
              </a:defRPr>
            </a:pPr>
            <a:r>
              <a:t>84.5</a:t>
            </a:r>
          </a:p>
        </p:txBody>
      </p:sp>
      <p:sp>
        <p:nvSpPr>
          <p:cNvPr id="41" name="TextBox 40"/>
          <p:cNvSpPr txBox="1"/>
          <p:nvPr/>
        </p:nvSpPr>
        <p:spPr>
          <a:xfrm>
            <a:off x="8686800" y="3566160"/>
            <a:ext cx="2834640" cy="274320"/>
          </a:xfrm>
          <a:prstGeom prst="rect">
            <a:avLst/>
          </a:prstGeom>
          <a:noFill/>
        </p:spPr>
        <p:txBody>
          <a:bodyPr wrap="square">
            <a:spAutoFit/>
          </a:bodyPr>
          <a:lstStyle/>
          <a:p>
            <a:pPr algn="l">
              <a:defRPr sz="1400" b="1">
                <a:solidFill>
                  <a:srgbClr val="8B95B0"/>
                </a:solidFill>
                <a:latin typeface="Calibri"/>
              </a:defRPr>
            </a:pPr>
            <a:r>
              <a:t>zile (~2.8 luni)</a:t>
            </a:r>
          </a:p>
        </p:txBody>
      </p:sp>
      <p:sp>
        <p:nvSpPr>
          <p:cNvPr id="42" name="TextBox 41"/>
          <p:cNvSpPr txBox="1"/>
          <p:nvPr/>
        </p:nvSpPr>
        <p:spPr>
          <a:xfrm>
            <a:off x="8686800" y="4206240"/>
            <a:ext cx="2834640" cy="274320"/>
          </a:xfrm>
          <a:prstGeom prst="rect">
            <a:avLst/>
          </a:prstGeom>
          <a:noFill/>
        </p:spPr>
        <p:txBody>
          <a:bodyPr wrap="square">
            <a:spAutoFit/>
          </a:bodyPr>
          <a:lstStyle/>
          <a:p>
            <a:pPr algn="l">
              <a:defRPr sz="1100" b="1">
                <a:solidFill>
                  <a:srgbClr val="8B95B0"/>
                </a:solidFill>
                <a:latin typeface="Calibri"/>
              </a:defRPr>
            </a:pPr>
            <a:r>
              <a:t>MEDIANA:</a:t>
            </a:r>
          </a:p>
        </p:txBody>
      </p:sp>
      <p:sp>
        <p:nvSpPr>
          <p:cNvPr id="43" name="TextBox 42"/>
          <p:cNvSpPr txBox="1"/>
          <p:nvPr/>
        </p:nvSpPr>
        <p:spPr>
          <a:xfrm>
            <a:off x="8686800" y="4480560"/>
            <a:ext cx="2834640" cy="548640"/>
          </a:xfrm>
          <a:prstGeom prst="rect">
            <a:avLst/>
          </a:prstGeom>
          <a:noFill/>
        </p:spPr>
        <p:txBody>
          <a:bodyPr wrap="square">
            <a:spAutoFit/>
          </a:bodyPr>
          <a:lstStyle/>
          <a:p>
            <a:pPr algn="l">
              <a:defRPr sz="2400" b="1">
                <a:solidFill>
                  <a:srgbClr val="EC4899"/>
                </a:solidFill>
                <a:latin typeface="Calibri"/>
              </a:defRPr>
            </a:pPr>
            <a:r>
              <a:t>55.0  (zile)</a:t>
            </a:r>
          </a:p>
        </p:txBody>
      </p:sp>
      <p:sp>
        <p:nvSpPr>
          <p:cNvPr id="44" name="Rounded Rectangle 43"/>
          <p:cNvSpPr/>
          <p:nvPr/>
        </p:nvSpPr>
        <p:spPr>
          <a:xfrm>
            <a:off x="457200" y="6446520"/>
            <a:ext cx="11247120" cy="320040"/>
          </a:xfrm>
          <a:prstGeom prst="roundRect">
            <a:avLst/>
          </a:prstGeom>
          <a:solidFill>
            <a:srgbClr val="121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6473952"/>
            <a:ext cx="10972800" cy="274320"/>
          </a:xfrm>
          <a:prstGeom prst="rect">
            <a:avLst/>
          </a:prstGeom>
          <a:noFill/>
        </p:spPr>
        <p:txBody>
          <a:bodyPr wrap="square">
            <a:spAutoFit/>
          </a:bodyPr>
          <a:lstStyle/>
          <a:p>
            <a:pPr algn="l">
              <a:defRPr sz="1000" b="0">
                <a:solidFill>
                  <a:srgbClr val="10B981"/>
                </a:solidFill>
                <a:latin typeface="Calibri"/>
              </a:defRPr>
            </a:pPr>
            <a:r>
              <a:t>💡 Corelație: Peste 60% dintre clienții 'normali' se întorc să comande în primele 45 de zile (vârful fiind între 30 și 45 de zile).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SHOPIFY — PURCHASING BEHAVIOR</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Cum interpretăm datele de recurență OTP?</a:t>
            </a:r>
          </a:p>
        </p:txBody>
      </p:sp>
      <p:sp>
        <p:nvSpPr>
          <p:cNvPr id="4" name="Rounded Rectangle 3"/>
          <p:cNvSpPr/>
          <p:nvPr/>
        </p:nvSpPr>
        <p:spPr>
          <a:xfrm>
            <a:off x="457200" y="1645920"/>
            <a:ext cx="11247120" cy="210312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645920"/>
            <a:ext cx="73152" cy="210312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828800"/>
            <a:ext cx="10058400" cy="274320"/>
          </a:xfrm>
          <a:prstGeom prst="rect">
            <a:avLst/>
          </a:prstGeom>
          <a:noFill/>
        </p:spPr>
        <p:txBody>
          <a:bodyPr wrap="square">
            <a:spAutoFit/>
          </a:bodyPr>
          <a:lstStyle/>
          <a:p>
            <a:pPr algn="l">
              <a:defRPr sz="1400" b="1">
                <a:solidFill>
                  <a:srgbClr val="6366F1"/>
                </a:solidFill>
                <a:latin typeface="Calibri"/>
              </a:defRPr>
            </a:pPr>
            <a:r>
              <a:t>1. Clienții cu rutină NORMALĂ (fără tag-ul de 3 luni)</a:t>
            </a:r>
          </a:p>
        </p:txBody>
      </p:sp>
      <p:sp>
        <p:nvSpPr>
          <p:cNvPr id="7" name="TextBox 6"/>
          <p:cNvSpPr txBox="1"/>
          <p:nvPr/>
        </p:nvSpPr>
        <p:spPr>
          <a:xfrm>
            <a:off x="822960" y="2286000"/>
            <a:ext cx="10058400" cy="1097280"/>
          </a:xfrm>
          <a:prstGeom prst="rect">
            <a:avLst/>
          </a:prstGeom>
          <a:noFill/>
        </p:spPr>
        <p:txBody>
          <a:bodyPr wrap="square">
            <a:spAutoFit/>
          </a:bodyPr>
          <a:lstStyle/>
          <a:p>
            <a:pPr algn="l">
              <a:defRPr sz="1200" b="0">
                <a:solidFill>
                  <a:srgbClr val="F0F2F8"/>
                </a:solidFill>
                <a:latin typeface="Calibri"/>
              </a:defRPr>
            </a:pPr>
            <a:r>
              <a:t>Ce ne spune asta? Mediana de 36 de zile este mult mai relevantă aici. Jumătate din clienții tăi recurenți se întorc să cumpere fix când (sau un pic după) li se termină cura de o lună (între 30-45 de zile e vârful de comenzi – 619 cazuri).</a:t>
            </a:r>
            <a:br/>
            <a:br/>
            <a:r>
              <a:t>Media este trasă în sus de cei care fac pauze de câteva luni și apoi revin (avem 167 de comenzi plasate la 4-12 luni distanță).</a:t>
            </a:r>
          </a:p>
        </p:txBody>
      </p:sp>
      <p:sp>
        <p:nvSpPr>
          <p:cNvPr id="8" name="Rounded Rectangle 7"/>
          <p:cNvSpPr/>
          <p:nvPr/>
        </p:nvSpPr>
        <p:spPr>
          <a:xfrm>
            <a:off x="457200" y="4023360"/>
            <a:ext cx="11247120" cy="182880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 y="4023360"/>
            <a:ext cx="73152" cy="182880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206240"/>
            <a:ext cx="10058400" cy="274320"/>
          </a:xfrm>
          <a:prstGeom prst="rect">
            <a:avLst/>
          </a:prstGeom>
          <a:noFill/>
        </p:spPr>
        <p:txBody>
          <a:bodyPr wrap="square">
            <a:spAutoFit/>
          </a:bodyPr>
          <a:lstStyle/>
          <a:p>
            <a:pPr algn="l">
              <a:defRPr sz="1400" b="1">
                <a:solidFill>
                  <a:srgbClr val="EC4899"/>
                </a:solidFill>
                <a:latin typeface="Calibri"/>
              </a:defRPr>
            </a:pPr>
            <a:r>
              <a:t>2. Clienții cu tag-ul „treiluni”</a:t>
            </a:r>
          </a:p>
        </p:txBody>
      </p:sp>
      <p:sp>
        <p:nvSpPr>
          <p:cNvPr id="11" name="TextBox 10"/>
          <p:cNvSpPr txBox="1"/>
          <p:nvPr/>
        </p:nvSpPr>
        <p:spPr>
          <a:xfrm>
            <a:off x="822960" y="4663440"/>
            <a:ext cx="10058400" cy="731520"/>
          </a:xfrm>
          <a:prstGeom prst="rect">
            <a:avLst/>
          </a:prstGeom>
          <a:noFill/>
        </p:spPr>
        <p:txBody>
          <a:bodyPr wrap="square">
            <a:spAutoFit/>
          </a:bodyPr>
          <a:lstStyle/>
          <a:p>
            <a:pPr algn="l">
              <a:defRPr sz="1200" b="0">
                <a:solidFill>
                  <a:srgbClr val="F0F2F8"/>
                </a:solidFill>
                <a:latin typeface="Calibri"/>
              </a:defRPr>
            </a:pPr>
            <a:r>
              <a:t>Ce ne spune asta? După cum ai intuit, comportamentul se scalează perfect.</a:t>
            </a:r>
            <a:br/>
            <a:br/>
            <a:r>
              <a:t>La o comandă de 3 luni, media de re-cumpărare se duce aproape de 3 luni (84.5 zile), clienții anticipând cu câteva zile momentul în care li se termină stocul.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9144000" cy="365760"/>
          </a:xfrm>
          <a:prstGeom prst="rect">
            <a:avLst/>
          </a:prstGeom>
          <a:noFill/>
        </p:spPr>
        <p:txBody>
          <a:bodyPr wrap="square">
            <a:spAutoFit/>
          </a:bodyPr>
          <a:lstStyle/>
          <a:p>
            <a:pPr algn="l">
              <a:defRPr sz="1100" b="1">
                <a:solidFill>
                  <a:srgbClr val="6366F1"/>
                </a:solidFill>
                <a:latin typeface="Calibri"/>
              </a:defRPr>
            </a:pPr>
            <a:r>
              <a:t>RELEVANȚA DATELOR</a:t>
            </a:r>
          </a:p>
        </p:txBody>
      </p:sp>
      <p:sp>
        <p:nvSpPr>
          <p:cNvPr id="3" name="TextBox 2"/>
          <p:cNvSpPr txBox="1"/>
          <p:nvPr/>
        </p:nvSpPr>
        <p:spPr>
          <a:xfrm>
            <a:off x="457200" y="731520"/>
            <a:ext cx="9144000" cy="457200"/>
          </a:xfrm>
          <a:prstGeom prst="rect">
            <a:avLst/>
          </a:prstGeom>
          <a:noFill/>
        </p:spPr>
        <p:txBody>
          <a:bodyPr wrap="square">
            <a:spAutoFit/>
          </a:bodyPr>
          <a:lstStyle/>
          <a:p>
            <a:pPr algn="l">
              <a:defRPr sz="2600" b="1">
                <a:solidFill>
                  <a:srgbClr val="F0F2F8"/>
                </a:solidFill>
                <a:latin typeface="Calibri"/>
              </a:defRPr>
            </a:pPr>
            <a:r>
              <a:t>⚠️ Cât de relevante sunt aceste date (GA4)?</a:t>
            </a:r>
          </a:p>
        </p:txBody>
      </p:sp>
      <p:sp>
        <p:nvSpPr>
          <p:cNvPr id="4" name="Rounded Rectangle 3"/>
          <p:cNvSpPr/>
          <p:nvPr/>
        </p:nvSpPr>
        <p:spPr>
          <a:xfrm>
            <a:off x="457200" y="1463040"/>
            <a:ext cx="3566160" cy="3840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63040"/>
            <a:ext cx="3566160" cy="457200"/>
          </a:xfrm>
          <a:prstGeom prst="round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54480"/>
            <a:ext cx="3200400" cy="274320"/>
          </a:xfrm>
          <a:prstGeom prst="rect">
            <a:avLst/>
          </a:prstGeom>
          <a:noFill/>
        </p:spPr>
        <p:txBody>
          <a:bodyPr wrap="square">
            <a:spAutoFit/>
          </a:bodyPr>
          <a:lstStyle/>
          <a:p>
            <a:pPr algn="l">
              <a:defRPr sz="1100" b="1">
                <a:solidFill>
                  <a:srgbClr val="10B981"/>
                </a:solidFill>
                <a:latin typeface="Calibri"/>
              </a:defRPr>
            </a:pPr>
            <a:r>
              <a:t>✅ DATE SOLIDE (Fiabilitate 90%+)</a:t>
            </a:r>
          </a:p>
        </p:txBody>
      </p:sp>
      <p:sp>
        <p:nvSpPr>
          <p:cNvPr id="7" name="TextBox 6"/>
          <p:cNvSpPr txBox="1"/>
          <p:nvPr/>
        </p:nvSpPr>
        <p:spPr>
          <a:xfrm>
            <a:off x="640080" y="2103120"/>
            <a:ext cx="3200400" cy="2743200"/>
          </a:xfrm>
          <a:prstGeom prst="rect">
            <a:avLst/>
          </a:prstGeom>
          <a:noFill/>
        </p:spPr>
        <p:txBody>
          <a:bodyPr wrap="square">
            <a:spAutoFit/>
          </a:bodyPr>
          <a:lstStyle/>
          <a:p>
            <a:pPr algn="l">
              <a:defRPr sz="1200" b="0">
                <a:solidFill>
                  <a:srgbClr val="F0F2F8"/>
                </a:solidFill>
                <a:latin typeface="Calibri"/>
              </a:defRPr>
            </a:pPr>
            <a:r>
              <a:t>• Device (mobil / desktop) — 100% acurat</a:t>
            </a:r>
            <a:br/>
            <a:r>
              <a:t>• Geografie (orașe, țări) — foarte fiabil</a:t>
            </a:r>
            <a:br/>
            <a:r>
              <a:t>• Surse de trafic — excelent pentru a înțelege de unde vin oamenii</a:t>
            </a:r>
            <a:br/>
            <a:r>
              <a:t>• Landing pages — ce pagini îi atrag</a:t>
            </a:r>
            <a:br/>
            <a:r>
              <a:t>• Comportament (bounce, durată) — solid</a:t>
            </a:r>
            <a:br/>
            <a:r>
              <a:t>• New vs Returning — bun ca trend general</a:t>
            </a:r>
          </a:p>
        </p:txBody>
      </p:sp>
      <p:sp>
        <p:nvSpPr>
          <p:cNvPr id="8" name="Rounded Rectangle 7"/>
          <p:cNvSpPr/>
          <p:nvPr/>
        </p:nvSpPr>
        <p:spPr>
          <a:xfrm>
            <a:off x="4297680" y="1463040"/>
            <a:ext cx="3566160" cy="3840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97680" y="1463040"/>
            <a:ext cx="3566160" cy="457200"/>
          </a:xfrm>
          <a:prstGeom prst="roundRect">
            <a:avLst/>
          </a:prstGeom>
          <a:solidFill>
            <a:srgbClr val="7835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554480"/>
            <a:ext cx="3200400" cy="274320"/>
          </a:xfrm>
          <a:prstGeom prst="rect">
            <a:avLst/>
          </a:prstGeom>
          <a:noFill/>
        </p:spPr>
        <p:txBody>
          <a:bodyPr wrap="square">
            <a:spAutoFit/>
          </a:bodyPr>
          <a:lstStyle/>
          <a:p>
            <a:pPr algn="l">
              <a:defRPr sz="1100" b="1">
                <a:solidFill>
                  <a:srgbClr val="F59E0B"/>
                </a:solidFill>
                <a:latin typeface="Calibri"/>
              </a:defRPr>
            </a:pPr>
            <a:r>
              <a:t>⚠️ DATE CU REZERVE</a:t>
            </a:r>
          </a:p>
        </p:txBody>
      </p:sp>
      <p:sp>
        <p:nvSpPr>
          <p:cNvPr id="11" name="TextBox 10"/>
          <p:cNvSpPr txBox="1"/>
          <p:nvPr/>
        </p:nvSpPr>
        <p:spPr>
          <a:xfrm>
            <a:off x="4480560" y="2103120"/>
            <a:ext cx="3200400" cy="2743200"/>
          </a:xfrm>
          <a:prstGeom prst="rect">
            <a:avLst/>
          </a:prstGeom>
          <a:noFill/>
        </p:spPr>
        <p:txBody>
          <a:bodyPr wrap="square">
            <a:spAutoFit/>
          </a:bodyPr>
          <a:lstStyle/>
          <a:p>
            <a:pPr algn="l">
              <a:defRPr sz="1200" b="0">
                <a:solidFill>
                  <a:srgbClr val="F0F2F8"/>
                </a:solidFill>
                <a:latin typeface="Calibri"/>
              </a:defRPr>
            </a:pPr>
            <a:r>
              <a:t>• Vârstă și gen — doar ~40% din utilizatori au date demografice (din cei logați în Google).</a:t>
            </a:r>
            <a:br/>
            <a:br/>
            <a:r>
              <a:t>• Revenue GA4 — poate diferi cu 20-40% de Shopify (ad blockers, cookies). Shopify e adevărul!</a:t>
            </a:r>
            <a:br/>
            <a:br/>
            <a:r>
              <a:t>• Conversii — contorizează toate evenimentele (add to cart, checkout), NU doar comenzile finale.</a:t>
            </a:r>
          </a:p>
        </p:txBody>
      </p:sp>
      <p:sp>
        <p:nvSpPr>
          <p:cNvPr id="12" name="Rounded Rectangle 11"/>
          <p:cNvSpPr/>
          <p:nvPr/>
        </p:nvSpPr>
        <p:spPr>
          <a:xfrm>
            <a:off x="8138160" y="1463040"/>
            <a:ext cx="3566160" cy="3840480"/>
          </a:xfrm>
          <a:prstGeom prst="roundRect">
            <a:avLst/>
          </a:prstGeom>
          <a:solidFill>
            <a:srgbClr val="1A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38160" y="1463040"/>
            <a:ext cx="3566160" cy="457200"/>
          </a:xfrm>
          <a:prstGeom prst="roundRect">
            <a:avLst/>
          </a:prstGeom>
          <a:solidFill>
            <a:srgbClr val="7F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554480"/>
            <a:ext cx="3200400" cy="274320"/>
          </a:xfrm>
          <a:prstGeom prst="rect">
            <a:avLst/>
          </a:prstGeom>
          <a:noFill/>
        </p:spPr>
        <p:txBody>
          <a:bodyPr wrap="square">
            <a:spAutoFit/>
          </a:bodyPr>
          <a:lstStyle/>
          <a:p>
            <a:pPr algn="l">
              <a:defRPr sz="1100" b="1">
                <a:solidFill>
                  <a:srgbClr val="EF4444"/>
                </a:solidFill>
                <a:latin typeface="Calibri"/>
              </a:defRPr>
            </a:pPr>
            <a:r>
              <a:t>❌ CE NU ÎȚI SPUNE GA4</a:t>
            </a:r>
          </a:p>
        </p:txBody>
      </p:sp>
      <p:sp>
        <p:nvSpPr>
          <p:cNvPr id="15" name="TextBox 14"/>
          <p:cNvSpPr txBox="1"/>
          <p:nvPr/>
        </p:nvSpPr>
        <p:spPr>
          <a:xfrm>
            <a:off x="8321040" y="2103120"/>
            <a:ext cx="3200400" cy="2743200"/>
          </a:xfrm>
          <a:prstGeom prst="rect">
            <a:avLst/>
          </a:prstGeom>
          <a:noFill/>
        </p:spPr>
        <p:txBody>
          <a:bodyPr wrap="square">
            <a:spAutoFit/>
          </a:bodyPr>
          <a:lstStyle/>
          <a:p>
            <a:pPr algn="l">
              <a:defRPr sz="1200" b="0">
                <a:solidFill>
                  <a:srgbClr val="F0F2F8"/>
                </a:solidFill>
                <a:latin typeface="Calibri"/>
              </a:defRPr>
            </a:pPr>
            <a:r>
              <a:t>• Cine cumpără de fapt — GA4 arată vizitatori, nu neapărat cumpărători.</a:t>
            </a:r>
            <a:br/>
            <a:r>
              <a:t>• Ce produse cumpără — nu vezi datele la nivel de coș și recurență.</a:t>
            </a:r>
            <a:br/>
            <a:r>
              <a:t>• Dacă se abonează — nu vezi cohortele.</a:t>
            </a:r>
            <a:br/>
            <a:r>
              <a:t>• De ce cumpără — motivația reală.</a:t>
            </a:r>
            <a:br/>
            <a:br/>
            <a:r>
              <a:t>→ Pentru acestea se folosesc Datele Shopify &amp; Chestionarul!</a:t>
            </a:r>
          </a:p>
        </p:txBody>
      </p:sp>
      <p:sp>
        <p:nvSpPr>
          <p:cNvPr id="16" name="Rounded Rectangle 15"/>
          <p:cNvSpPr/>
          <p:nvPr/>
        </p:nvSpPr>
        <p:spPr>
          <a:xfrm>
            <a:off x="457200" y="5577840"/>
            <a:ext cx="11247120" cy="1005840"/>
          </a:xfrm>
          <a:prstGeom prst="roundRect">
            <a:avLst/>
          </a:prstGeom>
          <a:solidFill>
            <a:srgbClr val="15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897880"/>
            <a:ext cx="10972800" cy="731520"/>
          </a:xfrm>
          <a:prstGeom prst="rect">
            <a:avLst/>
          </a:prstGeom>
          <a:noFill/>
        </p:spPr>
        <p:txBody>
          <a:bodyPr wrap="square">
            <a:spAutoFit/>
          </a:bodyPr>
          <a:lstStyle/>
          <a:p>
            <a:pPr algn="ctr">
              <a:defRPr sz="1400" b="1">
                <a:solidFill>
                  <a:srgbClr val="6366F1"/>
                </a:solidFill>
                <a:latin typeface="Calibri"/>
              </a:defRPr>
            </a:pPr>
            <a:r>
              <a:t>RECOMANDARE: Profilul Ideal de Client = GA4 (Comportament) + Chestionar (Nevoi, Demografie reală) + Shopify (Tipare cumpărare).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3662</Words>
  <Application>Microsoft Office PowerPoint</Application>
  <PresentationFormat>Widescreen</PresentationFormat>
  <Paragraphs>885</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Victor Dane</cp:lastModifiedBy>
  <cp:revision>1</cp:revision>
  <dcterms:created xsi:type="dcterms:W3CDTF">2013-01-27T09:14:16Z</dcterms:created>
  <dcterms:modified xsi:type="dcterms:W3CDTF">2026-04-14T16:01:18Z</dcterms:modified>
  <cp:category/>
</cp:coreProperties>
</file>